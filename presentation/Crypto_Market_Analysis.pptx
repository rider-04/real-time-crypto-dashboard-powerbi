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366F1"/>
          </a:solidFill>
          <a:ln w="12700">
            <a:solidFill>
              <a:srgbClr val="6366F1"/>
            </a:solidFill>
            <a:prstDash val="solid"/>
          </a:ln>
        </p:spPr>
      </p:sp>
      <p:sp>
        <p:nvSpPr>
          <p:cNvPr id="3" name="Shape 1"/>
          <p:cNvSpPr/>
          <p:nvPr/>
        </p:nvSpPr>
        <p:spPr>
          <a:xfrm>
            <a:off x="0" y="0"/>
            <a:ext cx="54864" cy="5143500"/>
          </a:xfrm>
          <a:prstGeom prst="rect">
            <a:avLst/>
          </a:prstGeom>
          <a:solidFill>
            <a:srgbClr val="22D3EE"/>
          </a:solidFill>
          <a:ln w="12700">
            <a:solidFill>
              <a:srgbClr val="22D3EE"/>
            </a:solidFill>
            <a:prstDash val="solid"/>
          </a:ln>
        </p:spPr>
      </p:sp>
      <p:sp>
        <p:nvSpPr>
          <p:cNvPr id="4" name="Shape 2"/>
          <p:cNvSpPr/>
          <p:nvPr/>
        </p:nvSpPr>
        <p:spPr>
          <a:xfrm>
            <a:off x="6858000" y="-914400"/>
            <a:ext cx="3657600" cy="3657600"/>
          </a:xfrm>
          <a:prstGeom prst="ellipse">
            <a:avLst/>
          </a:prstGeom>
          <a:solidFill>
            <a:srgbClr val="6366F1">
              <a:alpha val="15000"/>
            </a:srgbClr>
          </a:solidFill>
          <a:ln w="12700">
            <a:solidFill>
              <a:srgbClr val="6366F1">
                <a:alpha val="15000"/>
              </a:srgbClr>
            </a:solidFill>
            <a:prstDash val="solid"/>
          </a:ln>
        </p:spPr>
      </p:sp>
      <p:sp>
        <p:nvSpPr>
          <p:cNvPr id="5" name="Shape 3"/>
          <p:cNvSpPr/>
          <p:nvPr/>
        </p:nvSpPr>
        <p:spPr>
          <a:xfrm>
            <a:off x="7315200" y="-457200"/>
            <a:ext cx="2743200" cy="2743200"/>
          </a:xfrm>
          <a:prstGeom prst="ellipse">
            <a:avLst/>
          </a:prstGeom>
          <a:solidFill>
            <a:srgbClr val="22D3EE">
              <a:alpha val="12000"/>
            </a:srgbClr>
          </a:solidFill>
          <a:ln w="12700">
            <a:solidFill>
              <a:srgbClr val="22D3EE">
                <a:alpha val="12000"/>
              </a:srgbClr>
            </a:solidFill>
            <a:prstDash val="solid"/>
          </a:ln>
        </p:spPr>
      </p:sp>
      <p:sp>
        <p:nvSpPr>
          <p:cNvPr id="6" name="Shape 4"/>
          <p:cNvSpPr/>
          <p:nvPr/>
        </p:nvSpPr>
        <p:spPr>
          <a:xfrm>
            <a:off x="-914400" y="3200400"/>
            <a:ext cx="3657600" cy="2743200"/>
          </a:xfrm>
          <a:prstGeom prst="ellipse">
            <a:avLst/>
          </a:prstGeom>
          <a:solidFill>
            <a:srgbClr val="22D3EE">
              <a:alpha val="12000"/>
            </a:srgbClr>
          </a:solidFill>
          <a:ln w="12700">
            <a:solidFill>
              <a:srgbClr val="22D3EE">
                <a:alpha val="12000"/>
              </a:srgbClr>
            </a:solidFill>
            <a:prstDash val="solid"/>
          </a:ln>
        </p:spPr>
      </p:sp>
      <p:pic>
        <p:nvPicPr>
          <p:cNvPr id="7" name="Image 0" descr="preencoded.png"/>
          <p:cNvPicPr>
            <a:picLocks noChangeAspect="1"/>
          </p:cNvPicPr>
          <p:nvPr/>
        </p:nvPicPr>
        <p:blipFill>
          <a:blip r:embed="rId1"/>
          <a:stretch>
            <a:fillRect/>
          </a:stretch>
        </p:blipFill>
        <p:spPr>
          <a:xfrm>
            <a:off x="457200" y="731520"/>
            <a:ext cx="1645920" cy="1645920"/>
          </a:xfrm>
          <a:prstGeom prst="rect">
            <a:avLst/>
          </a:prstGeom>
        </p:spPr>
      </p:pic>
      <p:sp>
        <p:nvSpPr>
          <p:cNvPr id="8" name="Text 5"/>
          <p:cNvSpPr/>
          <p:nvPr/>
        </p:nvSpPr>
        <p:spPr>
          <a:xfrm>
            <a:off x="365760" y="640080"/>
            <a:ext cx="8412480" cy="822960"/>
          </a:xfrm>
          <a:prstGeom prst="rect">
            <a:avLst/>
          </a:prstGeom>
          <a:noFill/>
        </p:spPr>
        <p:txBody>
          <a:bodyPr wrap="square" lIns="0" tIns="0" rIns="0" bIns="0" rtlCol="0" anchor="ctr"/>
          <a:lstStyle/>
          <a:p>
            <a:pPr marL="0" indent="0" algn="ctr">
              <a:buNone/>
            </a:pPr>
            <a:r>
              <a:rPr lang="en-US" sz="5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Cryptocurrency</a:t>
            </a:r>
            <a:endParaRPr lang="en-US" sz="5200" dirty="0"/>
          </a:p>
        </p:txBody>
      </p:sp>
      <p:sp>
        <p:nvSpPr>
          <p:cNvPr id="9" name="Text 6"/>
          <p:cNvSpPr/>
          <p:nvPr/>
        </p:nvSpPr>
        <p:spPr>
          <a:xfrm>
            <a:off x="365760" y="1417320"/>
            <a:ext cx="8412480" cy="685800"/>
          </a:xfrm>
          <a:prstGeom prst="rect">
            <a:avLst/>
          </a:prstGeom>
          <a:noFill/>
        </p:spPr>
        <p:txBody>
          <a:bodyPr wrap="square" lIns="0" tIns="0" rIns="0" bIns="0" rtlCol="0" anchor="ctr"/>
          <a:lstStyle/>
          <a:p>
            <a:pPr marL="0" indent="0" algn="ctr">
              <a:buNone/>
            </a:pPr>
            <a:r>
              <a:rPr lang="en-US" sz="3400" dirty="0">
                <a:solidFill>
                  <a:srgbClr val="22D3EE"/>
                </a:solidFill>
                <a:latin typeface="Calibri" panose="020F0502020204030204" pitchFamily="34" charset="0"/>
                <a:ea typeface="Calibri" panose="020F0502020204030204" pitchFamily="34" charset="-122"/>
                <a:cs typeface="Calibri" panose="020F0502020204030204" pitchFamily="34" charset="-120"/>
              </a:rPr>
              <a:t>Market Analysis Dashboard</a:t>
            </a:r>
            <a:endParaRPr lang="en-US" sz="3400" dirty="0"/>
          </a:p>
        </p:txBody>
      </p:sp>
      <p:sp>
        <p:nvSpPr>
          <p:cNvPr id="10" name="Shape 7"/>
          <p:cNvSpPr/>
          <p:nvPr/>
        </p:nvSpPr>
        <p:spPr>
          <a:xfrm>
            <a:off x="2286000" y="2176272"/>
            <a:ext cx="4572000" cy="36576"/>
          </a:xfrm>
          <a:prstGeom prst="rect">
            <a:avLst/>
          </a:prstGeom>
          <a:solidFill>
            <a:srgbClr val="6366F1">
              <a:alpha val="60000"/>
            </a:srgbClr>
          </a:solidFill>
          <a:ln w="12700">
            <a:solidFill>
              <a:srgbClr val="6366F1">
                <a:alpha val="60000"/>
              </a:srgbClr>
            </a:solidFill>
            <a:prstDash val="solid"/>
          </a:ln>
        </p:spPr>
      </p:sp>
      <p:sp>
        <p:nvSpPr>
          <p:cNvPr id="11" name="Text 8"/>
          <p:cNvSpPr/>
          <p:nvPr/>
        </p:nvSpPr>
        <p:spPr>
          <a:xfrm>
            <a:off x="457200" y="2286000"/>
            <a:ext cx="8229600" cy="457200"/>
          </a:xfrm>
          <a:prstGeom prst="rect">
            <a:avLst/>
          </a:prstGeom>
          <a:noFill/>
        </p:spPr>
        <p:txBody>
          <a:bodyPr wrap="square" rtlCol="0" anchor="ctr"/>
          <a:lstStyle/>
          <a:p>
            <a:pPr marL="0" indent="0" algn="ctr">
              <a:buNone/>
            </a:pPr>
            <a:r>
              <a:rPr lang="en-US" sz="1500" dirty="0">
                <a:solidFill>
                  <a:srgbClr val="D1D5DB"/>
                </a:solidFill>
                <a:latin typeface="Calibri" panose="020F0502020204030204" pitchFamily="34" charset="0"/>
                <a:ea typeface="Calibri" panose="020F0502020204030204" pitchFamily="34" charset="-122"/>
                <a:cs typeface="Calibri" panose="020F0502020204030204" pitchFamily="34" charset="-120"/>
              </a:rPr>
              <a:t>A Comprehensive Power BI Analysis of Top 100 Cryptocurrencies</a:t>
            </a:r>
            <a:endParaRPr lang="en-US" sz="1500" dirty="0"/>
          </a:p>
        </p:txBody>
      </p:sp>
      <p:sp>
        <p:nvSpPr>
          <p:cNvPr id="12" name="Shape 9"/>
          <p:cNvSpPr/>
          <p:nvPr/>
        </p:nvSpPr>
        <p:spPr>
          <a:xfrm>
            <a:off x="320040" y="3017520"/>
            <a:ext cx="1554480" cy="347472"/>
          </a:xfrm>
          <a:prstGeom prst="rect">
            <a:avLst/>
          </a:prstGeom>
          <a:solidFill>
            <a:srgbClr val="1F2937"/>
          </a:solidFill>
          <a:ln w="12700">
            <a:solidFill>
              <a:srgbClr val="6366F1"/>
            </a:solidFill>
            <a:prstDash val="solid"/>
          </a:ln>
          <a:effectLst>
            <a:outerShdw blurRad="50800" dist="12700" dir="8100000" algn="bl" rotWithShape="0">
              <a:srgbClr val="000000">
                <a:alpha val="30000"/>
              </a:srgbClr>
            </a:outerShdw>
          </a:effectLst>
        </p:spPr>
      </p:sp>
      <p:sp>
        <p:nvSpPr>
          <p:cNvPr id="13" name="Text 10"/>
          <p:cNvSpPr/>
          <p:nvPr/>
        </p:nvSpPr>
        <p:spPr>
          <a:xfrm>
            <a:off x="320040" y="3017520"/>
            <a:ext cx="1554480" cy="347472"/>
          </a:xfrm>
          <a:prstGeom prst="rect">
            <a:avLst/>
          </a:prstGeom>
          <a:noFill/>
        </p:spPr>
        <p:txBody>
          <a:bodyPr wrap="square" rtlCol="0" anchor="ctr"/>
          <a:lstStyle/>
          <a:p>
            <a:pPr marL="0" indent="0" algn="ctr">
              <a:buNone/>
            </a:pPr>
            <a:r>
              <a:rPr lang="en-US" sz="950" b="1" dirty="0">
                <a:solidFill>
                  <a:srgbClr val="22D3EE"/>
                </a:solidFill>
              </a:rPr>
              <a:t>Power BI</a:t>
            </a:r>
            <a:endParaRPr lang="en-US" sz="950" dirty="0"/>
          </a:p>
        </p:txBody>
      </p:sp>
      <p:sp>
        <p:nvSpPr>
          <p:cNvPr id="14" name="Shape 11"/>
          <p:cNvSpPr/>
          <p:nvPr/>
        </p:nvSpPr>
        <p:spPr>
          <a:xfrm>
            <a:off x="2011680" y="3017520"/>
            <a:ext cx="1554480" cy="347472"/>
          </a:xfrm>
          <a:prstGeom prst="rect">
            <a:avLst/>
          </a:prstGeom>
          <a:solidFill>
            <a:srgbClr val="1F2937"/>
          </a:solidFill>
          <a:ln w="12700">
            <a:solidFill>
              <a:srgbClr val="6366F1"/>
            </a:solidFill>
            <a:prstDash val="solid"/>
          </a:ln>
          <a:effectLst>
            <a:outerShdw blurRad="50800" dist="12700" dir="8100000" algn="bl" rotWithShape="0">
              <a:srgbClr val="000000">
                <a:alpha val="30000"/>
              </a:srgbClr>
            </a:outerShdw>
          </a:effectLst>
        </p:spPr>
      </p:sp>
      <p:sp>
        <p:nvSpPr>
          <p:cNvPr id="15" name="Text 12"/>
          <p:cNvSpPr/>
          <p:nvPr/>
        </p:nvSpPr>
        <p:spPr>
          <a:xfrm>
            <a:off x="2011680" y="3017520"/>
            <a:ext cx="1554480" cy="347472"/>
          </a:xfrm>
          <a:prstGeom prst="rect">
            <a:avLst/>
          </a:prstGeom>
          <a:noFill/>
        </p:spPr>
        <p:txBody>
          <a:bodyPr wrap="square" rtlCol="0" anchor="ctr"/>
          <a:lstStyle/>
          <a:p>
            <a:pPr marL="0" indent="0" algn="ctr">
              <a:buNone/>
            </a:pPr>
            <a:r>
              <a:rPr lang="en-US" sz="950" b="1" dirty="0">
                <a:solidFill>
                  <a:srgbClr val="22D3EE"/>
                </a:solidFill>
              </a:rPr>
              <a:t>DAX</a:t>
            </a:r>
            <a:endParaRPr lang="en-US" sz="950" dirty="0"/>
          </a:p>
        </p:txBody>
      </p:sp>
      <p:sp>
        <p:nvSpPr>
          <p:cNvPr id="16" name="Shape 13"/>
          <p:cNvSpPr/>
          <p:nvPr/>
        </p:nvSpPr>
        <p:spPr>
          <a:xfrm>
            <a:off x="3703320" y="3017520"/>
            <a:ext cx="1554480" cy="347472"/>
          </a:xfrm>
          <a:prstGeom prst="rect">
            <a:avLst/>
          </a:prstGeom>
          <a:solidFill>
            <a:srgbClr val="1F2937"/>
          </a:solidFill>
          <a:ln w="12700">
            <a:solidFill>
              <a:srgbClr val="6366F1"/>
            </a:solidFill>
            <a:prstDash val="solid"/>
          </a:ln>
          <a:effectLst>
            <a:outerShdw blurRad="50800" dist="12700" dir="8100000" algn="bl" rotWithShape="0">
              <a:srgbClr val="000000">
                <a:alpha val="30000"/>
              </a:srgbClr>
            </a:outerShdw>
          </a:effectLst>
        </p:spPr>
      </p:sp>
      <p:sp>
        <p:nvSpPr>
          <p:cNvPr id="17" name="Text 14"/>
          <p:cNvSpPr/>
          <p:nvPr/>
        </p:nvSpPr>
        <p:spPr>
          <a:xfrm>
            <a:off x="3703320" y="3017520"/>
            <a:ext cx="1554480" cy="347472"/>
          </a:xfrm>
          <a:prstGeom prst="rect">
            <a:avLst/>
          </a:prstGeom>
          <a:noFill/>
        </p:spPr>
        <p:txBody>
          <a:bodyPr wrap="square" rtlCol="0" anchor="ctr"/>
          <a:lstStyle/>
          <a:p>
            <a:pPr marL="0" indent="0" algn="ctr">
              <a:buNone/>
            </a:pPr>
            <a:r>
              <a:rPr lang="en-US" sz="950" b="1" dirty="0">
                <a:solidFill>
                  <a:srgbClr val="22D3EE"/>
                </a:solidFill>
              </a:rPr>
              <a:t>CoinGecko API</a:t>
            </a:r>
            <a:endParaRPr lang="en-US" sz="950" dirty="0"/>
          </a:p>
        </p:txBody>
      </p:sp>
      <p:sp>
        <p:nvSpPr>
          <p:cNvPr id="18" name="Shape 15"/>
          <p:cNvSpPr/>
          <p:nvPr/>
        </p:nvSpPr>
        <p:spPr>
          <a:xfrm>
            <a:off x="5394960" y="3017520"/>
            <a:ext cx="1554480" cy="347472"/>
          </a:xfrm>
          <a:prstGeom prst="rect">
            <a:avLst/>
          </a:prstGeom>
          <a:solidFill>
            <a:srgbClr val="1F2937"/>
          </a:solidFill>
          <a:ln w="12700">
            <a:solidFill>
              <a:srgbClr val="6366F1"/>
            </a:solidFill>
            <a:prstDash val="solid"/>
          </a:ln>
          <a:effectLst>
            <a:outerShdw blurRad="50800" dist="12700" dir="8100000" algn="bl" rotWithShape="0">
              <a:srgbClr val="000000">
                <a:alpha val="30000"/>
              </a:srgbClr>
            </a:outerShdw>
          </a:effectLst>
        </p:spPr>
      </p:sp>
      <p:sp>
        <p:nvSpPr>
          <p:cNvPr id="19" name="Text 16"/>
          <p:cNvSpPr/>
          <p:nvPr/>
        </p:nvSpPr>
        <p:spPr>
          <a:xfrm>
            <a:off x="5394960" y="3017520"/>
            <a:ext cx="1554480" cy="347472"/>
          </a:xfrm>
          <a:prstGeom prst="rect">
            <a:avLst/>
          </a:prstGeom>
          <a:noFill/>
        </p:spPr>
        <p:txBody>
          <a:bodyPr wrap="square" rtlCol="0" anchor="ctr"/>
          <a:lstStyle/>
          <a:p>
            <a:pPr marL="0" indent="0" algn="ctr">
              <a:buNone/>
            </a:pPr>
            <a:r>
              <a:rPr lang="en-US" sz="950" b="1" dirty="0">
                <a:solidFill>
                  <a:srgbClr val="22D3EE"/>
                </a:solidFill>
              </a:rPr>
              <a:t>Data Visualization</a:t>
            </a:r>
            <a:endParaRPr lang="en-US" sz="950" dirty="0"/>
          </a:p>
        </p:txBody>
      </p:sp>
      <p:sp>
        <p:nvSpPr>
          <p:cNvPr id="20" name="Shape 17"/>
          <p:cNvSpPr/>
          <p:nvPr/>
        </p:nvSpPr>
        <p:spPr>
          <a:xfrm>
            <a:off x="7086600" y="3017520"/>
            <a:ext cx="1554480" cy="347472"/>
          </a:xfrm>
          <a:prstGeom prst="rect">
            <a:avLst/>
          </a:prstGeom>
          <a:solidFill>
            <a:srgbClr val="1F2937"/>
          </a:solidFill>
          <a:ln w="12700">
            <a:solidFill>
              <a:srgbClr val="6366F1"/>
            </a:solidFill>
            <a:prstDash val="solid"/>
          </a:ln>
          <a:effectLst>
            <a:outerShdw blurRad="50800" dist="12700" dir="8100000" algn="bl" rotWithShape="0">
              <a:srgbClr val="000000">
                <a:alpha val="30000"/>
              </a:srgbClr>
            </a:outerShdw>
          </a:effectLst>
        </p:spPr>
      </p:sp>
      <p:sp>
        <p:nvSpPr>
          <p:cNvPr id="21" name="Text 18"/>
          <p:cNvSpPr/>
          <p:nvPr/>
        </p:nvSpPr>
        <p:spPr>
          <a:xfrm>
            <a:off x="7086600" y="3017520"/>
            <a:ext cx="1554480" cy="347472"/>
          </a:xfrm>
          <a:prstGeom prst="rect">
            <a:avLst/>
          </a:prstGeom>
          <a:noFill/>
        </p:spPr>
        <p:txBody>
          <a:bodyPr wrap="square" rtlCol="0" anchor="ctr"/>
          <a:lstStyle/>
          <a:p>
            <a:pPr marL="0" indent="0" algn="ctr">
              <a:buNone/>
            </a:pPr>
            <a:r>
              <a:rPr lang="en-US" sz="950" b="1" dirty="0">
                <a:solidFill>
                  <a:srgbClr val="22D3EE"/>
                </a:solidFill>
              </a:rPr>
              <a:t>Market Analytics</a:t>
            </a:r>
            <a:endParaRPr lang="en-US" sz="950" dirty="0"/>
          </a:p>
        </p:txBody>
      </p:sp>
      <p:sp>
        <p:nvSpPr>
          <p:cNvPr id="22" name="Shape 19"/>
          <p:cNvSpPr/>
          <p:nvPr/>
        </p:nvSpPr>
        <p:spPr>
          <a:xfrm>
            <a:off x="457200" y="3611880"/>
            <a:ext cx="1828800" cy="1097280"/>
          </a:xfrm>
          <a:prstGeom prst="rect">
            <a:avLst/>
          </a:prstGeom>
          <a:solidFill>
            <a:srgbClr val="111827"/>
          </a:solidFill>
          <a:ln w="12700">
            <a:solidFill>
              <a:srgbClr val="6366F1">
                <a:alpha val="40000"/>
              </a:srgbClr>
            </a:solidFill>
            <a:prstDash val="solid"/>
          </a:ln>
          <a:effectLst>
            <a:outerShdw blurRad="76200" dist="25400" dir="8100000" algn="bl" rotWithShape="0">
              <a:srgbClr val="000000">
                <a:alpha val="40000"/>
              </a:srgbClr>
            </a:outerShdw>
          </a:effectLst>
        </p:spPr>
      </p:sp>
      <p:sp>
        <p:nvSpPr>
          <p:cNvPr id="23" name="Text 20"/>
          <p:cNvSpPr/>
          <p:nvPr/>
        </p:nvSpPr>
        <p:spPr>
          <a:xfrm>
            <a:off x="457200" y="3703320"/>
            <a:ext cx="1828800" cy="502920"/>
          </a:xfrm>
          <a:prstGeom prst="rect">
            <a:avLst/>
          </a:prstGeom>
          <a:noFill/>
        </p:spPr>
        <p:txBody>
          <a:bodyPr wrap="square" rtlCol="0" anchor="ctr"/>
          <a:lstStyle/>
          <a:p>
            <a:pPr marL="0" indent="0" algn="ctr">
              <a:buNone/>
            </a:pPr>
            <a:r>
              <a:rPr lang="en-US" sz="2600" b="1" dirty="0">
                <a:solidFill>
                  <a:srgbClr val="10B981"/>
                </a:solidFill>
              </a:rPr>
              <a:t>100</a:t>
            </a:r>
            <a:endParaRPr lang="en-US" sz="2600" dirty="0"/>
          </a:p>
        </p:txBody>
      </p:sp>
      <p:sp>
        <p:nvSpPr>
          <p:cNvPr id="24" name="Text 21"/>
          <p:cNvSpPr/>
          <p:nvPr/>
        </p:nvSpPr>
        <p:spPr>
          <a:xfrm>
            <a:off x="457200" y="4206240"/>
            <a:ext cx="1828800" cy="320040"/>
          </a:xfrm>
          <a:prstGeom prst="rect">
            <a:avLst/>
          </a:prstGeom>
          <a:noFill/>
        </p:spPr>
        <p:txBody>
          <a:bodyPr wrap="square" rtlCol="0" anchor="ctr"/>
          <a:lstStyle/>
          <a:p>
            <a:pPr marL="0" indent="0" algn="ctr">
              <a:buNone/>
            </a:pPr>
            <a:r>
              <a:rPr lang="en-US" sz="1000" dirty="0">
                <a:solidFill>
                  <a:srgbClr val="6B7280"/>
                </a:solidFill>
              </a:rPr>
              <a:t>Coins Tracked</a:t>
            </a:r>
            <a:endParaRPr lang="en-US" sz="1000" dirty="0"/>
          </a:p>
        </p:txBody>
      </p:sp>
      <p:sp>
        <p:nvSpPr>
          <p:cNvPr id="25" name="Shape 22"/>
          <p:cNvSpPr/>
          <p:nvPr/>
        </p:nvSpPr>
        <p:spPr>
          <a:xfrm>
            <a:off x="2560320" y="3611880"/>
            <a:ext cx="1828800" cy="1097280"/>
          </a:xfrm>
          <a:prstGeom prst="rect">
            <a:avLst/>
          </a:prstGeom>
          <a:solidFill>
            <a:srgbClr val="111827"/>
          </a:solidFill>
          <a:ln w="12700">
            <a:solidFill>
              <a:srgbClr val="6366F1">
                <a:alpha val="40000"/>
              </a:srgbClr>
            </a:solidFill>
            <a:prstDash val="solid"/>
          </a:ln>
          <a:effectLst>
            <a:outerShdw blurRad="76200" dist="25400" dir="8100000" algn="bl" rotWithShape="0">
              <a:srgbClr val="000000">
                <a:alpha val="40000"/>
              </a:srgbClr>
            </a:outerShdw>
          </a:effectLst>
        </p:spPr>
      </p:sp>
      <p:sp>
        <p:nvSpPr>
          <p:cNvPr id="26" name="Text 23"/>
          <p:cNvSpPr/>
          <p:nvPr/>
        </p:nvSpPr>
        <p:spPr>
          <a:xfrm>
            <a:off x="2560320" y="3703320"/>
            <a:ext cx="1828800" cy="502920"/>
          </a:xfrm>
          <a:prstGeom prst="rect">
            <a:avLst/>
          </a:prstGeom>
          <a:noFill/>
        </p:spPr>
        <p:txBody>
          <a:bodyPr wrap="square" rtlCol="0" anchor="ctr"/>
          <a:lstStyle/>
          <a:p>
            <a:pPr marL="0" indent="0" algn="ctr">
              <a:buNone/>
            </a:pPr>
            <a:r>
              <a:rPr lang="en-US" sz="2600" b="1" dirty="0">
                <a:solidFill>
                  <a:srgbClr val="10B981"/>
                </a:solidFill>
              </a:rPr>
              <a:t>$2.41T</a:t>
            </a:r>
            <a:endParaRPr lang="en-US" sz="2600" dirty="0"/>
          </a:p>
        </p:txBody>
      </p:sp>
      <p:sp>
        <p:nvSpPr>
          <p:cNvPr id="27" name="Text 24"/>
          <p:cNvSpPr/>
          <p:nvPr/>
        </p:nvSpPr>
        <p:spPr>
          <a:xfrm>
            <a:off x="2560320" y="4206240"/>
            <a:ext cx="1828800" cy="320040"/>
          </a:xfrm>
          <a:prstGeom prst="rect">
            <a:avLst/>
          </a:prstGeom>
          <a:noFill/>
        </p:spPr>
        <p:txBody>
          <a:bodyPr wrap="square" rtlCol="0" anchor="ctr"/>
          <a:lstStyle/>
          <a:p>
            <a:pPr marL="0" indent="0" algn="ctr">
              <a:buNone/>
            </a:pPr>
            <a:r>
              <a:rPr lang="en-US" sz="1000" dirty="0">
                <a:solidFill>
                  <a:srgbClr val="6B7280"/>
                </a:solidFill>
              </a:rPr>
              <a:t>Market Cap</a:t>
            </a:r>
            <a:endParaRPr lang="en-US" sz="1000" dirty="0"/>
          </a:p>
        </p:txBody>
      </p:sp>
      <p:sp>
        <p:nvSpPr>
          <p:cNvPr id="28" name="Shape 25"/>
          <p:cNvSpPr/>
          <p:nvPr/>
        </p:nvSpPr>
        <p:spPr>
          <a:xfrm>
            <a:off x="4663440" y="3611880"/>
            <a:ext cx="1828800" cy="1097280"/>
          </a:xfrm>
          <a:prstGeom prst="rect">
            <a:avLst/>
          </a:prstGeom>
          <a:solidFill>
            <a:srgbClr val="111827"/>
          </a:solidFill>
          <a:ln w="12700">
            <a:solidFill>
              <a:srgbClr val="6366F1">
                <a:alpha val="40000"/>
              </a:srgbClr>
            </a:solidFill>
            <a:prstDash val="solid"/>
          </a:ln>
          <a:effectLst>
            <a:outerShdw blurRad="76200" dist="25400" dir="8100000" algn="bl" rotWithShape="0">
              <a:srgbClr val="000000">
                <a:alpha val="40000"/>
              </a:srgbClr>
            </a:outerShdw>
          </a:effectLst>
        </p:spPr>
      </p:sp>
      <p:sp>
        <p:nvSpPr>
          <p:cNvPr id="29" name="Text 26"/>
          <p:cNvSpPr/>
          <p:nvPr/>
        </p:nvSpPr>
        <p:spPr>
          <a:xfrm>
            <a:off x="4663440" y="3703320"/>
            <a:ext cx="1828800" cy="502920"/>
          </a:xfrm>
          <a:prstGeom prst="rect">
            <a:avLst/>
          </a:prstGeom>
          <a:noFill/>
        </p:spPr>
        <p:txBody>
          <a:bodyPr wrap="square" rtlCol="0" anchor="ctr"/>
          <a:lstStyle/>
          <a:p>
            <a:pPr marL="0" indent="0" algn="ctr">
              <a:buNone/>
            </a:pPr>
            <a:r>
              <a:rPr lang="en-US" sz="2600" b="1" dirty="0">
                <a:solidFill>
                  <a:srgbClr val="10B981"/>
                </a:solidFill>
              </a:rPr>
              <a:t>6</a:t>
            </a:r>
            <a:endParaRPr lang="en-US" sz="2600" dirty="0"/>
          </a:p>
        </p:txBody>
      </p:sp>
      <p:sp>
        <p:nvSpPr>
          <p:cNvPr id="30" name="Text 27"/>
          <p:cNvSpPr/>
          <p:nvPr/>
        </p:nvSpPr>
        <p:spPr>
          <a:xfrm>
            <a:off x="4663440" y="4206240"/>
            <a:ext cx="1828800" cy="320040"/>
          </a:xfrm>
          <a:prstGeom prst="rect">
            <a:avLst/>
          </a:prstGeom>
          <a:noFill/>
        </p:spPr>
        <p:txBody>
          <a:bodyPr wrap="square" rtlCol="0" anchor="ctr"/>
          <a:lstStyle/>
          <a:p>
            <a:pPr marL="0" indent="0" algn="ctr">
              <a:buNone/>
            </a:pPr>
            <a:r>
              <a:rPr lang="en-US" sz="1000" dirty="0">
                <a:solidFill>
                  <a:srgbClr val="6B7280"/>
                </a:solidFill>
              </a:rPr>
              <a:t>Dashboards</a:t>
            </a:r>
            <a:endParaRPr lang="en-US" sz="1000" dirty="0"/>
          </a:p>
        </p:txBody>
      </p:sp>
      <p:sp>
        <p:nvSpPr>
          <p:cNvPr id="31" name="Shape 28"/>
          <p:cNvSpPr/>
          <p:nvPr/>
        </p:nvSpPr>
        <p:spPr>
          <a:xfrm>
            <a:off x="6766560" y="3611880"/>
            <a:ext cx="1828800" cy="1097280"/>
          </a:xfrm>
          <a:prstGeom prst="rect">
            <a:avLst/>
          </a:prstGeom>
          <a:solidFill>
            <a:srgbClr val="111827"/>
          </a:solidFill>
          <a:ln w="12700">
            <a:solidFill>
              <a:srgbClr val="6366F1">
                <a:alpha val="40000"/>
              </a:srgbClr>
            </a:solidFill>
            <a:prstDash val="solid"/>
          </a:ln>
          <a:effectLst>
            <a:outerShdw blurRad="76200" dist="25400" dir="8100000" algn="bl" rotWithShape="0">
              <a:srgbClr val="000000">
                <a:alpha val="40000"/>
              </a:srgbClr>
            </a:outerShdw>
          </a:effectLst>
        </p:spPr>
      </p:sp>
      <p:sp>
        <p:nvSpPr>
          <p:cNvPr id="32" name="Text 29"/>
          <p:cNvSpPr/>
          <p:nvPr/>
        </p:nvSpPr>
        <p:spPr>
          <a:xfrm>
            <a:off x="6766560" y="3703320"/>
            <a:ext cx="1828800" cy="502920"/>
          </a:xfrm>
          <a:prstGeom prst="rect">
            <a:avLst/>
          </a:prstGeom>
          <a:noFill/>
        </p:spPr>
        <p:txBody>
          <a:bodyPr wrap="square" rtlCol="0" anchor="ctr"/>
          <a:lstStyle/>
          <a:p>
            <a:pPr marL="0" indent="0" algn="ctr">
              <a:buNone/>
            </a:pPr>
            <a:r>
              <a:rPr lang="en-US" sz="2600" b="1" dirty="0">
                <a:solidFill>
                  <a:srgbClr val="10B981"/>
                </a:solidFill>
              </a:rPr>
              <a:t>5+</a:t>
            </a:r>
            <a:endParaRPr lang="en-US" sz="2600" dirty="0"/>
          </a:p>
        </p:txBody>
      </p:sp>
      <p:sp>
        <p:nvSpPr>
          <p:cNvPr id="33" name="Text 30"/>
          <p:cNvSpPr/>
          <p:nvPr/>
        </p:nvSpPr>
        <p:spPr>
          <a:xfrm>
            <a:off x="6766560" y="4206240"/>
            <a:ext cx="1828800" cy="320040"/>
          </a:xfrm>
          <a:prstGeom prst="rect">
            <a:avLst/>
          </a:prstGeom>
          <a:noFill/>
        </p:spPr>
        <p:txBody>
          <a:bodyPr wrap="square" rtlCol="0" anchor="ctr"/>
          <a:lstStyle/>
          <a:p>
            <a:pPr marL="0" indent="0" algn="ctr">
              <a:buNone/>
            </a:pPr>
            <a:r>
              <a:rPr lang="en-US" sz="1000" dirty="0">
                <a:solidFill>
                  <a:srgbClr val="6B7280"/>
                </a:solidFill>
              </a:rPr>
              <a:t>Key Insights</a:t>
            </a:r>
            <a:endParaRPr lang="en-US" sz="1000" dirty="0"/>
          </a:p>
        </p:txBody>
      </p:sp>
      <p:sp>
        <p:nvSpPr>
          <p:cNvPr id="34" name="Shape 31"/>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0" y="0"/>
            <a:ext cx="54864" cy="5143500"/>
          </a:xfrm>
          <a:prstGeom prst="rect">
            <a:avLst/>
          </a:prstGeom>
          <a:solidFill>
            <a:srgbClr val="6366F1"/>
          </a:solidFill>
          <a:ln w="12700">
            <a:solidFill>
              <a:srgbClr val="6366F1"/>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22D3EE"/>
                </a:solidFill>
              </a:rPr>
              <a:t>PROJECT OBJECTIVE</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We Set Out to Achieve</a:t>
            </a:r>
            <a:endParaRPr lang="en-US" sz="2800" dirty="0"/>
          </a:p>
        </p:txBody>
      </p:sp>
      <p:sp>
        <p:nvSpPr>
          <p:cNvPr id="6" name="Shape 4"/>
          <p:cNvSpPr/>
          <p:nvPr/>
        </p:nvSpPr>
        <p:spPr>
          <a:xfrm>
            <a:off x="274320" y="1234440"/>
            <a:ext cx="4206240" cy="1554480"/>
          </a:xfrm>
          <a:prstGeom prst="rect">
            <a:avLst/>
          </a:prstGeom>
          <a:solidFill>
            <a:srgbClr val="111827"/>
          </a:solidFill>
          <a:ln w="12700">
            <a:solidFill>
              <a:srgbClr val="22D3EE">
                <a:alpha val="40000"/>
              </a:srgbClr>
            </a:solidFill>
            <a:prstDash val="solid"/>
          </a:ln>
          <a:effectLst>
            <a:outerShdw blurRad="101600" dist="25400" dir="8100000" algn="bl" rotWithShape="0">
              <a:srgbClr val="000000">
                <a:alpha val="35000"/>
              </a:srgbClr>
            </a:outerShdw>
          </a:effectLst>
        </p:spPr>
      </p:sp>
      <p:sp>
        <p:nvSpPr>
          <p:cNvPr id="7" name="Shape 5"/>
          <p:cNvSpPr/>
          <p:nvPr/>
        </p:nvSpPr>
        <p:spPr>
          <a:xfrm>
            <a:off x="274320" y="1234440"/>
            <a:ext cx="64008" cy="1554480"/>
          </a:xfrm>
          <a:prstGeom prst="rect">
            <a:avLst/>
          </a:prstGeom>
          <a:solidFill>
            <a:srgbClr val="22D3EE"/>
          </a:solidFill>
          <a:ln w="12700">
            <a:solidFill>
              <a:srgbClr val="22D3EE"/>
            </a:solidFill>
            <a:prstDash val="solid"/>
          </a:ln>
        </p:spPr>
      </p:sp>
      <p:pic>
        <p:nvPicPr>
          <p:cNvPr id="8" name="Image 0" descr="preencoded.png"/>
          <p:cNvPicPr>
            <a:picLocks noChangeAspect="1"/>
          </p:cNvPicPr>
          <p:nvPr/>
        </p:nvPicPr>
        <p:blipFill>
          <a:blip r:embed="rId1"/>
          <a:stretch>
            <a:fillRect/>
          </a:stretch>
        </p:blipFill>
        <p:spPr>
          <a:xfrm>
            <a:off x="438912" y="1399032"/>
            <a:ext cx="457200" cy="457200"/>
          </a:xfrm>
          <a:prstGeom prst="rect">
            <a:avLst/>
          </a:prstGeom>
        </p:spPr>
      </p:pic>
      <p:sp>
        <p:nvSpPr>
          <p:cNvPr id="9" name="Text 6"/>
          <p:cNvSpPr/>
          <p:nvPr/>
        </p:nvSpPr>
        <p:spPr>
          <a:xfrm>
            <a:off x="1005840" y="1371600"/>
            <a:ext cx="3337560" cy="365760"/>
          </a:xfrm>
          <a:prstGeom prst="rect">
            <a:avLst/>
          </a:prstGeom>
          <a:noFill/>
        </p:spPr>
        <p:txBody>
          <a:bodyPr wrap="square" lIns="0" tIns="0" rIns="0" bIns="0" rtlCol="0" anchor="ctr"/>
          <a:lstStyle/>
          <a:p>
            <a:pPr marL="0" indent="0">
              <a:buNone/>
            </a:pPr>
            <a:r>
              <a:rPr lang="en-US" sz="1300" b="1" dirty="0">
                <a:solidFill>
                  <a:srgbClr val="FFFFFF"/>
                </a:solidFill>
              </a:rPr>
              <a:t>Market Intelligence</a:t>
            </a:r>
            <a:endParaRPr lang="en-US" sz="1300" dirty="0"/>
          </a:p>
        </p:txBody>
      </p:sp>
      <p:sp>
        <p:nvSpPr>
          <p:cNvPr id="10" name="Text 7"/>
          <p:cNvSpPr/>
          <p:nvPr/>
        </p:nvSpPr>
        <p:spPr>
          <a:xfrm>
            <a:off x="438912" y="1856232"/>
            <a:ext cx="3840480" cy="822960"/>
          </a:xfrm>
          <a:prstGeom prst="rect">
            <a:avLst/>
          </a:prstGeom>
          <a:noFill/>
        </p:spPr>
        <p:txBody>
          <a:bodyPr wrap="square" rtlCol="0" anchor="ctr"/>
          <a:lstStyle/>
          <a:p>
            <a:pPr marL="0" indent="0">
              <a:buNone/>
            </a:pPr>
            <a:r>
              <a:rPr lang="en-US" sz="1050" dirty="0">
                <a:solidFill>
                  <a:srgbClr val="D1D5DB"/>
                </a:solidFill>
              </a:rPr>
              <a:t>Analyze real-time data from the top 100 cryptocurrencies using the CoinGecko API to extract meaningful market trends and patterns.</a:t>
            </a:r>
            <a:endParaRPr lang="en-US" sz="1050" dirty="0"/>
          </a:p>
        </p:txBody>
      </p:sp>
      <p:sp>
        <p:nvSpPr>
          <p:cNvPr id="11" name="Shape 8"/>
          <p:cNvSpPr/>
          <p:nvPr/>
        </p:nvSpPr>
        <p:spPr>
          <a:xfrm>
            <a:off x="4709160" y="1234440"/>
            <a:ext cx="4206240" cy="1554480"/>
          </a:xfrm>
          <a:prstGeom prst="rect">
            <a:avLst/>
          </a:prstGeom>
          <a:solidFill>
            <a:srgbClr val="111827"/>
          </a:solidFill>
          <a:ln w="12700">
            <a:solidFill>
              <a:srgbClr val="10B981">
                <a:alpha val="40000"/>
              </a:srgbClr>
            </a:solidFill>
            <a:prstDash val="solid"/>
          </a:ln>
          <a:effectLst>
            <a:outerShdw blurRad="101600" dist="25400" dir="8100000" algn="bl" rotWithShape="0">
              <a:srgbClr val="000000">
                <a:alpha val="35000"/>
              </a:srgbClr>
            </a:outerShdw>
          </a:effectLst>
        </p:spPr>
      </p:sp>
      <p:sp>
        <p:nvSpPr>
          <p:cNvPr id="12" name="Shape 9"/>
          <p:cNvSpPr/>
          <p:nvPr/>
        </p:nvSpPr>
        <p:spPr>
          <a:xfrm>
            <a:off x="4709160" y="1234440"/>
            <a:ext cx="64008" cy="1554480"/>
          </a:xfrm>
          <a:prstGeom prst="rect">
            <a:avLst/>
          </a:prstGeom>
          <a:solidFill>
            <a:srgbClr val="10B981"/>
          </a:solidFill>
          <a:ln w="12700">
            <a:solidFill>
              <a:srgbClr val="10B981"/>
            </a:solidFill>
            <a:prstDash val="solid"/>
          </a:ln>
        </p:spPr>
      </p:sp>
      <p:pic>
        <p:nvPicPr>
          <p:cNvPr id="13" name="Image 1" descr="preencoded.png"/>
          <p:cNvPicPr>
            <a:picLocks noChangeAspect="1"/>
          </p:cNvPicPr>
          <p:nvPr/>
        </p:nvPicPr>
        <p:blipFill>
          <a:blip r:embed="rId2"/>
          <a:stretch>
            <a:fillRect/>
          </a:stretch>
        </p:blipFill>
        <p:spPr>
          <a:xfrm>
            <a:off x="4873752" y="1399032"/>
            <a:ext cx="457200" cy="457200"/>
          </a:xfrm>
          <a:prstGeom prst="rect">
            <a:avLst/>
          </a:prstGeom>
        </p:spPr>
      </p:pic>
      <p:sp>
        <p:nvSpPr>
          <p:cNvPr id="14" name="Text 10"/>
          <p:cNvSpPr/>
          <p:nvPr/>
        </p:nvSpPr>
        <p:spPr>
          <a:xfrm>
            <a:off x="5440680" y="1371600"/>
            <a:ext cx="3337560" cy="365760"/>
          </a:xfrm>
          <a:prstGeom prst="rect">
            <a:avLst/>
          </a:prstGeom>
          <a:noFill/>
        </p:spPr>
        <p:txBody>
          <a:bodyPr wrap="square" lIns="0" tIns="0" rIns="0" bIns="0" rtlCol="0" anchor="ctr"/>
          <a:lstStyle/>
          <a:p>
            <a:pPr marL="0" indent="0">
              <a:buNone/>
            </a:pPr>
            <a:r>
              <a:rPr lang="en-US" sz="1300" b="1" dirty="0">
                <a:solidFill>
                  <a:srgbClr val="FFFFFF"/>
                </a:solidFill>
              </a:rPr>
              <a:t>Performance Tracking</a:t>
            </a:r>
            <a:endParaRPr lang="en-US" sz="1300" dirty="0"/>
          </a:p>
        </p:txBody>
      </p:sp>
      <p:sp>
        <p:nvSpPr>
          <p:cNvPr id="15" name="Text 11"/>
          <p:cNvSpPr/>
          <p:nvPr/>
        </p:nvSpPr>
        <p:spPr>
          <a:xfrm>
            <a:off x="4873752" y="1856232"/>
            <a:ext cx="3840480" cy="822960"/>
          </a:xfrm>
          <a:prstGeom prst="rect">
            <a:avLst/>
          </a:prstGeom>
          <a:noFill/>
        </p:spPr>
        <p:txBody>
          <a:bodyPr wrap="square" rtlCol="0" anchor="ctr"/>
          <a:lstStyle/>
          <a:p>
            <a:pPr marL="0" indent="0">
              <a:buNone/>
            </a:pPr>
            <a:r>
              <a:rPr lang="en-US" sz="1050" dirty="0">
                <a:solidFill>
                  <a:srgbClr val="D1D5DB"/>
                </a:solidFill>
              </a:rPr>
              <a:t>Monitor price movements, 24h/7d changes, and volatility scores to identify top gainers, losers, and most volatile assets.</a:t>
            </a:r>
            <a:endParaRPr lang="en-US" sz="1050" dirty="0"/>
          </a:p>
        </p:txBody>
      </p:sp>
      <p:sp>
        <p:nvSpPr>
          <p:cNvPr id="16" name="Shape 12"/>
          <p:cNvSpPr/>
          <p:nvPr/>
        </p:nvSpPr>
        <p:spPr>
          <a:xfrm>
            <a:off x="274320" y="2971800"/>
            <a:ext cx="4206240" cy="1554480"/>
          </a:xfrm>
          <a:prstGeom prst="rect">
            <a:avLst/>
          </a:prstGeom>
          <a:solidFill>
            <a:srgbClr val="111827"/>
          </a:solidFill>
          <a:ln w="12700">
            <a:solidFill>
              <a:srgbClr val="F59E0B">
                <a:alpha val="40000"/>
              </a:srgbClr>
            </a:solidFill>
            <a:prstDash val="solid"/>
          </a:ln>
          <a:effectLst>
            <a:outerShdw blurRad="101600" dist="25400" dir="8100000" algn="bl" rotWithShape="0">
              <a:srgbClr val="000000">
                <a:alpha val="35000"/>
              </a:srgbClr>
            </a:outerShdw>
          </a:effectLst>
        </p:spPr>
      </p:sp>
      <p:sp>
        <p:nvSpPr>
          <p:cNvPr id="17" name="Shape 13"/>
          <p:cNvSpPr/>
          <p:nvPr/>
        </p:nvSpPr>
        <p:spPr>
          <a:xfrm>
            <a:off x="274320" y="2971800"/>
            <a:ext cx="64008" cy="1554480"/>
          </a:xfrm>
          <a:prstGeom prst="rect">
            <a:avLst/>
          </a:prstGeom>
          <a:solidFill>
            <a:srgbClr val="F59E0B"/>
          </a:solidFill>
          <a:ln w="12700">
            <a:solidFill>
              <a:srgbClr val="F59E0B"/>
            </a:solidFill>
            <a:prstDash val="solid"/>
          </a:ln>
        </p:spPr>
      </p:sp>
      <p:pic>
        <p:nvPicPr>
          <p:cNvPr id="18" name="Image 2" descr="preencoded.png"/>
          <p:cNvPicPr>
            <a:picLocks noChangeAspect="1"/>
          </p:cNvPicPr>
          <p:nvPr/>
        </p:nvPicPr>
        <p:blipFill>
          <a:blip r:embed="rId3"/>
          <a:stretch>
            <a:fillRect/>
          </a:stretch>
        </p:blipFill>
        <p:spPr>
          <a:xfrm>
            <a:off x="438912" y="3136392"/>
            <a:ext cx="457200" cy="457200"/>
          </a:xfrm>
          <a:prstGeom prst="rect">
            <a:avLst/>
          </a:prstGeom>
        </p:spPr>
      </p:pic>
      <p:sp>
        <p:nvSpPr>
          <p:cNvPr id="19" name="Text 14"/>
          <p:cNvSpPr/>
          <p:nvPr/>
        </p:nvSpPr>
        <p:spPr>
          <a:xfrm>
            <a:off x="1005840" y="3108960"/>
            <a:ext cx="3337560" cy="365760"/>
          </a:xfrm>
          <a:prstGeom prst="rect">
            <a:avLst/>
          </a:prstGeom>
          <a:noFill/>
        </p:spPr>
        <p:txBody>
          <a:bodyPr wrap="square" lIns="0" tIns="0" rIns="0" bIns="0" rtlCol="0" anchor="ctr"/>
          <a:lstStyle/>
          <a:p>
            <a:pPr marL="0" indent="0">
              <a:buNone/>
            </a:pPr>
            <a:r>
              <a:rPr lang="en-US" sz="1300" b="1" dirty="0">
                <a:solidFill>
                  <a:srgbClr val="FFFFFF"/>
                </a:solidFill>
              </a:rPr>
              <a:t>Supply &amp; Tokenomics</a:t>
            </a:r>
            <a:endParaRPr lang="en-US" sz="1300" dirty="0"/>
          </a:p>
        </p:txBody>
      </p:sp>
      <p:sp>
        <p:nvSpPr>
          <p:cNvPr id="20" name="Text 15"/>
          <p:cNvSpPr/>
          <p:nvPr/>
        </p:nvSpPr>
        <p:spPr>
          <a:xfrm>
            <a:off x="438912" y="3593592"/>
            <a:ext cx="3840480" cy="822960"/>
          </a:xfrm>
          <a:prstGeom prst="rect">
            <a:avLst/>
          </a:prstGeom>
          <a:noFill/>
        </p:spPr>
        <p:txBody>
          <a:bodyPr wrap="square" rtlCol="0" anchor="ctr"/>
          <a:lstStyle/>
          <a:p>
            <a:pPr marL="0" indent="0">
              <a:buNone/>
            </a:pPr>
            <a:r>
              <a:rPr lang="en-US" sz="1050" dirty="0">
                <a:solidFill>
                  <a:srgbClr val="D1D5DB"/>
                </a:solidFill>
              </a:rPr>
              <a:t>Evaluate circulating supply, max supply, FDV, and scarcity levels to assess long-term investment viability of each coin.</a:t>
            </a:r>
            <a:endParaRPr lang="en-US" sz="1050" dirty="0"/>
          </a:p>
        </p:txBody>
      </p:sp>
      <p:sp>
        <p:nvSpPr>
          <p:cNvPr id="21" name="Shape 16"/>
          <p:cNvSpPr/>
          <p:nvPr/>
        </p:nvSpPr>
        <p:spPr>
          <a:xfrm>
            <a:off x="4709160" y="2971800"/>
            <a:ext cx="4206240" cy="1554480"/>
          </a:xfrm>
          <a:prstGeom prst="rect">
            <a:avLst/>
          </a:prstGeom>
          <a:solidFill>
            <a:srgbClr val="111827"/>
          </a:solidFill>
          <a:ln w="12700">
            <a:solidFill>
              <a:srgbClr val="6366F1">
                <a:alpha val="40000"/>
              </a:srgbClr>
            </a:solidFill>
            <a:prstDash val="solid"/>
          </a:ln>
          <a:effectLst>
            <a:outerShdw blurRad="101600" dist="25400" dir="8100000" algn="bl" rotWithShape="0">
              <a:srgbClr val="000000">
                <a:alpha val="35000"/>
              </a:srgbClr>
            </a:outerShdw>
          </a:effectLst>
        </p:spPr>
      </p:sp>
      <p:sp>
        <p:nvSpPr>
          <p:cNvPr id="22" name="Shape 17"/>
          <p:cNvSpPr/>
          <p:nvPr/>
        </p:nvSpPr>
        <p:spPr>
          <a:xfrm>
            <a:off x="4709160" y="2971800"/>
            <a:ext cx="64008" cy="1554480"/>
          </a:xfrm>
          <a:prstGeom prst="rect">
            <a:avLst/>
          </a:prstGeom>
          <a:solidFill>
            <a:srgbClr val="6366F1"/>
          </a:solidFill>
          <a:ln w="12700">
            <a:solidFill>
              <a:srgbClr val="6366F1"/>
            </a:solidFill>
            <a:prstDash val="solid"/>
          </a:ln>
        </p:spPr>
      </p:sp>
      <p:pic>
        <p:nvPicPr>
          <p:cNvPr id="23" name="Image 3" descr="preencoded.png"/>
          <p:cNvPicPr>
            <a:picLocks noChangeAspect="1"/>
          </p:cNvPicPr>
          <p:nvPr/>
        </p:nvPicPr>
        <p:blipFill>
          <a:blip r:embed="rId4"/>
          <a:stretch>
            <a:fillRect/>
          </a:stretch>
        </p:blipFill>
        <p:spPr>
          <a:xfrm>
            <a:off x="4873752" y="3136392"/>
            <a:ext cx="457200" cy="457200"/>
          </a:xfrm>
          <a:prstGeom prst="rect">
            <a:avLst/>
          </a:prstGeom>
        </p:spPr>
      </p:pic>
      <p:sp>
        <p:nvSpPr>
          <p:cNvPr id="24" name="Text 18"/>
          <p:cNvSpPr/>
          <p:nvPr/>
        </p:nvSpPr>
        <p:spPr>
          <a:xfrm>
            <a:off x="5440680" y="3108960"/>
            <a:ext cx="3337560" cy="365760"/>
          </a:xfrm>
          <a:prstGeom prst="rect">
            <a:avLst/>
          </a:prstGeom>
          <a:noFill/>
        </p:spPr>
        <p:txBody>
          <a:bodyPr wrap="square" lIns="0" tIns="0" rIns="0" bIns="0" rtlCol="0" anchor="ctr"/>
          <a:lstStyle/>
          <a:p>
            <a:pPr marL="0" indent="0">
              <a:buNone/>
            </a:pPr>
            <a:r>
              <a:rPr lang="en-US" sz="1300" b="1" dirty="0">
                <a:solidFill>
                  <a:srgbClr val="FFFFFF"/>
                </a:solidFill>
              </a:rPr>
              <a:t>Actionable Insights</a:t>
            </a:r>
            <a:endParaRPr lang="en-US" sz="1300" dirty="0"/>
          </a:p>
        </p:txBody>
      </p:sp>
      <p:sp>
        <p:nvSpPr>
          <p:cNvPr id="25" name="Text 19"/>
          <p:cNvSpPr/>
          <p:nvPr/>
        </p:nvSpPr>
        <p:spPr>
          <a:xfrm>
            <a:off x="4873752" y="3593592"/>
            <a:ext cx="3840480" cy="822960"/>
          </a:xfrm>
          <a:prstGeom prst="rect">
            <a:avLst/>
          </a:prstGeom>
          <a:noFill/>
        </p:spPr>
        <p:txBody>
          <a:bodyPr wrap="square" rtlCol="0" anchor="ctr"/>
          <a:lstStyle/>
          <a:p>
            <a:pPr marL="0" indent="0">
              <a:buNone/>
            </a:pPr>
            <a:r>
              <a:rPr lang="en-US" sz="1050" dirty="0">
                <a:solidFill>
                  <a:srgbClr val="D1D5DB"/>
                </a:solidFill>
              </a:rPr>
              <a:t>Deliver a multi-page interactive Power BI dashboard enabling data-driven decisions for traders, analysts, and researchers.</a:t>
            </a:r>
            <a:endParaRPr lang="en-US" sz="1050" dirty="0"/>
          </a:p>
        </p:txBody>
      </p:sp>
      <p:sp>
        <p:nvSpPr>
          <p:cNvPr id="26" name="Shape 20"/>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Shape 1"/>
          <p:cNvSpPr/>
          <p:nvPr/>
        </p:nvSpPr>
        <p:spPr>
          <a:xfrm>
            <a:off x="0" y="0"/>
            <a:ext cx="54864" cy="5143500"/>
          </a:xfrm>
          <a:prstGeom prst="rect">
            <a:avLst/>
          </a:prstGeom>
          <a:solidFill>
            <a:srgbClr val="EF4444"/>
          </a:solidFill>
          <a:ln w="12700">
            <a:solidFill>
              <a:srgbClr val="EF4444"/>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EF4444"/>
                </a:solidFill>
              </a:rPr>
              <a:t>PROBLEM STATEMENT</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The Challenge with Crypto Data</a:t>
            </a:r>
            <a:endParaRPr lang="en-US" sz="2800" dirty="0"/>
          </a:p>
        </p:txBody>
      </p:sp>
      <p:sp>
        <p:nvSpPr>
          <p:cNvPr id="6" name="Shape 4"/>
          <p:cNvSpPr/>
          <p:nvPr/>
        </p:nvSpPr>
        <p:spPr>
          <a:xfrm>
            <a:off x="6583680" y="731520"/>
            <a:ext cx="3200400" cy="3200400"/>
          </a:xfrm>
          <a:prstGeom prst="ellipse">
            <a:avLst/>
          </a:prstGeom>
          <a:solidFill>
            <a:srgbClr val="EF4444">
              <a:alpha val="10000"/>
            </a:srgbClr>
          </a:solidFill>
          <a:ln w="12700">
            <a:solidFill>
              <a:srgbClr val="EF4444">
                <a:alpha val="10000"/>
              </a:srgbClr>
            </a:solidFill>
            <a:prstDash val="solid"/>
          </a:ln>
        </p:spPr>
      </p:sp>
      <p:sp>
        <p:nvSpPr>
          <p:cNvPr id="7" name="Shape 5"/>
          <p:cNvSpPr/>
          <p:nvPr/>
        </p:nvSpPr>
        <p:spPr>
          <a:xfrm>
            <a:off x="274320" y="1188720"/>
            <a:ext cx="594360" cy="594360"/>
          </a:xfrm>
          <a:prstGeom prst="rect">
            <a:avLst/>
          </a:prstGeom>
          <a:solidFill>
            <a:srgbClr val="EF4444">
              <a:alpha val="80000"/>
            </a:srgbClr>
          </a:solidFill>
          <a:ln w="12700">
            <a:solidFill>
              <a:srgbClr val="EF4444"/>
            </a:solidFill>
            <a:prstDash val="solid"/>
          </a:ln>
        </p:spPr>
      </p:sp>
      <p:sp>
        <p:nvSpPr>
          <p:cNvPr id="8" name="Text 6"/>
          <p:cNvSpPr/>
          <p:nvPr/>
        </p:nvSpPr>
        <p:spPr>
          <a:xfrm>
            <a:off x="274320" y="1188720"/>
            <a:ext cx="594360" cy="594360"/>
          </a:xfrm>
          <a:prstGeom prst="rect">
            <a:avLst/>
          </a:prstGeom>
          <a:noFill/>
        </p:spPr>
        <p:txBody>
          <a:bodyPr wrap="square" rtlCol="0" anchor="ctr"/>
          <a:lstStyle/>
          <a:p>
            <a:pPr marL="0" indent="0" algn="ctr">
              <a:buNone/>
            </a:pPr>
            <a:r>
              <a:rPr lang="en-US" sz="1400" b="1" dirty="0">
                <a:solidFill>
                  <a:srgbClr val="FFFFFF"/>
                </a:solidFill>
              </a:rPr>
              <a:t>01</a:t>
            </a:r>
            <a:endParaRPr lang="en-US" sz="1400" dirty="0"/>
          </a:p>
        </p:txBody>
      </p:sp>
      <p:sp>
        <p:nvSpPr>
          <p:cNvPr id="9" name="Text 7"/>
          <p:cNvSpPr/>
          <p:nvPr/>
        </p:nvSpPr>
        <p:spPr>
          <a:xfrm>
            <a:off x="1005840" y="1188720"/>
            <a:ext cx="7772400" cy="256032"/>
          </a:xfrm>
          <a:prstGeom prst="rect">
            <a:avLst/>
          </a:prstGeom>
          <a:noFill/>
        </p:spPr>
        <p:txBody>
          <a:bodyPr wrap="square" lIns="0" tIns="0" rIns="0" bIns="0" rtlCol="0" anchor="ctr"/>
          <a:lstStyle/>
          <a:p>
            <a:pPr marL="0" indent="0">
              <a:buNone/>
            </a:pPr>
            <a:r>
              <a:rPr lang="en-US" sz="1300" b="1" dirty="0">
                <a:solidFill>
                  <a:srgbClr val="FFFFFF"/>
                </a:solidFill>
              </a:rPr>
              <a:t>Market Fragmentation</a:t>
            </a:r>
            <a:endParaRPr lang="en-US" sz="1300" dirty="0"/>
          </a:p>
        </p:txBody>
      </p:sp>
      <p:sp>
        <p:nvSpPr>
          <p:cNvPr id="10" name="Text 8"/>
          <p:cNvSpPr/>
          <p:nvPr/>
        </p:nvSpPr>
        <p:spPr>
          <a:xfrm>
            <a:off x="1005840" y="1463040"/>
            <a:ext cx="7772400" cy="320040"/>
          </a:xfrm>
          <a:prstGeom prst="rect">
            <a:avLst/>
          </a:prstGeom>
          <a:noFill/>
        </p:spPr>
        <p:txBody>
          <a:bodyPr wrap="square" lIns="0" tIns="0" rIns="0" bIns="0" rtlCol="0" anchor="ctr"/>
          <a:lstStyle/>
          <a:p>
            <a:pPr marL="0" indent="0">
              <a:buNone/>
            </a:pPr>
            <a:r>
              <a:rPr lang="en-US" sz="1050" dirty="0">
                <a:solidFill>
                  <a:srgbClr val="D1D5DB"/>
                </a:solidFill>
              </a:rPr>
              <a:t>Thousands of cryptocurrencies exist across multiple exchanges — making it extremely difficult to get a unified, structured view of the market.</a:t>
            </a:r>
            <a:endParaRPr lang="en-US" sz="1050" dirty="0"/>
          </a:p>
        </p:txBody>
      </p:sp>
      <p:sp>
        <p:nvSpPr>
          <p:cNvPr id="11" name="Shape 9"/>
          <p:cNvSpPr/>
          <p:nvPr/>
        </p:nvSpPr>
        <p:spPr>
          <a:xfrm>
            <a:off x="274320" y="2103120"/>
            <a:ext cx="594360" cy="594360"/>
          </a:xfrm>
          <a:prstGeom prst="rect">
            <a:avLst/>
          </a:prstGeom>
          <a:solidFill>
            <a:srgbClr val="EF4444">
              <a:alpha val="80000"/>
            </a:srgbClr>
          </a:solidFill>
          <a:ln w="12700">
            <a:solidFill>
              <a:srgbClr val="EF4444"/>
            </a:solidFill>
            <a:prstDash val="solid"/>
          </a:ln>
        </p:spPr>
      </p:sp>
      <p:sp>
        <p:nvSpPr>
          <p:cNvPr id="12" name="Text 10"/>
          <p:cNvSpPr/>
          <p:nvPr/>
        </p:nvSpPr>
        <p:spPr>
          <a:xfrm>
            <a:off x="274320" y="2103120"/>
            <a:ext cx="594360" cy="594360"/>
          </a:xfrm>
          <a:prstGeom prst="rect">
            <a:avLst/>
          </a:prstGeom>
          <a:noFill/>
        </p:spPr>
        <p:txBody>
          <a:bodyPr wrap="square" rtlCol="0" anchor="ctr"/>
          <a:lstStyle/>
          <a:p>
            <a:pPr marL="0" indent="0" algn="ctr">
              <a:buNone/>
            </a:pPr>
            <a:r>
              <a:rPr lang="en-US" sz="1400" b="1" dirty="0">
                <a:solidFill>
                  <a:srgbClr val="FFFFFF"/>
                </a:solidFill>
              </a:rPr>
              <a:t>02</a:t>
            </a:r>
            <a:endParaRPr lang="en-US" sz="1400" dirty="0"/>
          </a:p>
        </p:txBody>
      </p:sp>
      <p:sp>
        <p:nvSpPr>
          <p:cNvPr id="13" name="Text 11"/>
          <p:cNvSpPr/>
          <p:nvPr/>
        </p:nvSpPr>
        <p:spPr>
          <a:xfrm>
            <a:off x="1005840" y="2103120"/>
            <a:ext cx="7772400" cy="256032"/>
          </a:xfrm>
          <a:prstGeom prst="rect">
            <a:avLst/>
          </a:prstGeom>
          <a:noFill/>
        </p:spPr>
        <p:txBody>
          <a:bodyPr wrap="square" lIns="0" tIns="0" rIns="0" bIns="0" rtlCol="0" anchor="ctr"/>
          <a:lstStyle/>
          <a:p>
            <a:pPr marL="0" indent="0">
              <a:buNone/>
            </a:pPr>
            <a:r>
              <a:rPr lang="en-US" sz="1300" b="1" dirty="0">
                <a:solidFill>
                  <a:srgbClr val="FFFFFF"/>
                </a:solidFill>
              </a:rPr>
              <a:t>High Volatility &amp; Noise</a:t>
            </a:r>
            <a:endParaRPr lang="en-US" sz="1300" dirty="0"/>
          </a:p>
        </p:txBody>
      </p:sp>
      <p:sp>
        <p:nvSpPr>
          <p:cNvPr id="14" name="Text 12"/>
          <p:cNvSpPr/>
          <p:nvPr/>
        </p:nvSpPr>
        <p:spPr>
          <a:xfrm>
            <a:off x="1005840" y="2377440"/>
            <a:ext cx="7772400" cy="320040"/>
          </a:xfrm>
          <a:prstGeom prst="rect">
            <a:avLst/>
          </a:prstGeom>
          <a:noFill/>
        </p:spPr>
        <p:txBody>
          <a:bodyPr wrap="square" lIns="0" tIns="0" rIns="0" bIns="0" rtlCol="0" anchor="ctr"/>
          <a:lstStyle/>
          <a:p>
            <a:pPr marL="0" indent="0">
              <a:buNone/>
            </a:pPr>
            <a:r>
              <a:rPr lang="en-US" sz="1050" dirty="0">
                <a:solidFill>
                  <a:srgbClr val="D1D5DB"/>
                </a:solidFill>
              </a:rPr>
              <a:t>Prices fluctuate by double digits within hours. Without structured volatility scoring, distinguishing risk from opportunity is nearly impossible.</a:t>
            </a:r>
            <a:endParaRPr lang="en-US" sz="1050" dirty="0"/>
          </a:p>
        </p:txBody>
      </p:sp>
      <p:sp>
        <p:nvSpPr>
          <p:cNvPr id="15" name="Shape 13"/>
          <p:cNvSpPr/>
          <p:nvPr/>
        </p:nvSpPr>
        <p:spPr>
          <a:xfrm>
            <a:off x="274320" y="3017520"/>
            <a:ext cx="594360" cy="594360"/>
          </a:xfrm>
          <a:prstGeom prst="rect">
            <a:avLst/>
          </a:prstGeom>
          <a:solidFill>
            <a:srgbClr val="EF4444">
              <a:alpha val="80000"/>
            </a:srgbClr>
          </a:solidFill>
          <a:ln w="12700">
            <a:solidFill>
              <a:srgbClr val="EF4444"/>
            </a:solidFill>
            <a:prstDash val="solid"/>
          </a:ln>
        </p:spPr>
      </p:sp>
      <p:sp>
        <p:nvSpPr>
          <p:cNvPr id="16" name="Text 14"/>
          <p:cNvSpPr/>
          <p:nvPr/>
        </p:nvSpPr>
        <p:spPr>
          <a:xfrm>
            <a:off x="274320" y="3017520"/>
            <a:ext cx="594360" cy="594360"/>
          </a:xfrm>
          <a:prstGeom prst="rect">
            <a:avLst/>
          </a:prstGeom>
          <a:noFill/>
        </p:spPr>
        <p:txBody>
          <a:bodyPr wrap="square" rtlCol="0" anchor="ctr"/>
          <a:lstStyle/>
          <a:p>
            <a:pPr marL="0" indent="0" algn="ctr">
              <a:buNone/>
            </a:pPr>
            <a:r>
              <a:rPr lang="en-US" sz="1400" b="1" dirty="0">
                <a:solidFill>
                  <a:srgbClr val="FFFFFF"/>
                </a:solidFill>
              </a:rPr>
              <a:t>03</a:t>
            </a:r>
            <a:endParaRPr lang="en-US" sz="1400" dirty="0"/>
          </a:p>
        </p:txBody>
      </p:sp>
      <p:sp>
        <p:nvSpPr>
          <p:cNvPr id="17" name="Text 15"/>
          <p:cNvSpPr/>
          <p:nvPr/>
        </p:nvSpPr>
        <p:spPr>
          <a:xfrm>
            <a:off x="1005840" y="3017520"/>
            <a:ext cx="7772400" cy="256032"/>
          </a:xfrm>
          <a:prstGeom prst="rect">
            <a:avLst/>
          </a:prstGeom>
          <a:noFill/>
        </p:spPr>
        <p:txBody>
          <a:bodyPr wrap="square" lIns="0" tIns="0" rIns="0" bIns="0" rtlCol="0" anchor="ctr"/>
          <a:lstStyle/>
          <a:p>
            <a:pPr marL="0" indent="0">
              <a:buNone/>
            </a:pPr>
            <a:r>
              <a:rPr lang="en-US" sz="1300" b="1" dirty="0">
                <a:solidFill>
                  <a:srgbClr val="FFFFFF"/>
                </a:solidFill>
              </a:rPr>
              <a:t>Tokenomics Opacity</a:t>
            </a:r>
            <a:endParaRPr lang="en-US" sz="1300" dirty="0"/>
          </a:p>
        </p:txBody>
      </p:sp>
      <p:sp>
        <p:nvSpPr>
          <p:cNvPr id="18" name="Text 16"/>
          <p:cNvSpPr/>
          <p:nvPr/>
        </p:nvSpPr>
        <p:spPr>
          <a:xfrm>
            <a:off x="1005840" y="3291840"/>
            <a:ext cx="7772400" cy="320040"/>
          </a:xfrm>
          <a:prstGeom prst="rect">
            <a:avLst/>
          </a:prstGeom>
          <a:noFill/>
        </p:spPr>
        <p:txBody>
          <a:bodyPr wrap="square" lIns="0" tIns="0" rIns="0" bIns="0" rtlCol="0" anchor="ctr"/>
          <a:lstStyle/>
          <a:p>
            <a:pPr marL="0" indent="0">
              <a:buNone/>
            </a:pPr>
            <a:r>
              <a:rPr lang="en-US" sz="1050" dirty="0">
                <a:solidFill>
                  <a:srgbClr val="D1D5DB"/>
                </a:solidFill>
              </a:rPr>
              <a:t>Supply metrics (circulating, max, FDV) are scattered and inconsistent, leaving investors without clarity on inflation risk or scarcity value.</a:t>
            </a:r>
            <a:endParaRPr lang="en-US" sz="1050" dirty="0"/>
          </a:p>
        </p:txBody>
      </p:sp>
      <p:sp>
        <p:nvSpPr>
          <p:cNvPr id="19" name="Shape 17"/>
          <p:cNvSpPr/>
          <p:nvPr/>
        </p:nvSpPr>
        <p:spPr>
          <a:xfrm>
            <a:off x="274320" y="3931920"/>
            <a:ext cx="594360" cy="594360"/>
          </a:xfrm>
          <a:prstGeom prst="rect">
            <a:avLst/>
          </a:prstGeom>
          <a:solidFill>
            <a:srgbClr val="EF4444">
              <a:alpha val="80000"/>
            </a:srgbClr>
          </a:solidFill>
          <a:ln w="12700">
            <a:solidFill>
              <a:srgbClr val="EF4444"/>
            </a:solidFill>
            <a:prstDash val="solid"/>
          </a:ln>
        </p:spPr>
      </p:sp>
      <p:sp>
        <p:nvSpPr>
          <p:cNvPr id="20" name="Text 18"/>
          <p:cNvSpPr/>
          <p:nvPr/>
        </p:nvSpPr>
        <p:spPr>
          <a:xfrm>
            <a:off x="274320" y="3931920"/>
            <a:ext cx="594360" cy="594360"/>
          </a:xfrm>
          <a:prstGeom prst="rect">
            <a:avLst/>
          </a:prstGeom>
          <a:noFill/>
        </p:spPr>
        <p:txBody>
          <a:bodyPr wrap="square" rtlCol="0" anchor="ctr"/>
          <a:lstStyle/>
          <a:p>
            <a:pPr marL="0" indent="0" algn="ctr">
              <a:buNone/>
            </a:pPr>
            <a:r>
              <a:rPr lang="en-US" sz="1400" b="1" dirty="0">
                <a:solidFill>
                  <a:srgbClr val="FFFFFF"/>
                </a:solidFill>
              </a:rPr>
              <a:t>04</a:t>
            </a:r>
            <a:endParaRPr lang="en-US" sz="1400" dirty="0"/>
          </a:p>
        </p:txBody>
      </p:sp>
      <p:sp>
        <p:nvSpPr>
          <p:cNvPr id="21" name="Text 19"/>
          <p:cNvSpPr/>
          <p:nvPr/>
        </p:nvSpPr>
        <p:spPr>
          <a:xfrm>
            <a:off x="1005840" y="3931920"/>
            <a:ext cx="7772400" cy="256032"/>
          </a:xfrm>
          <a:prstGeom prst="rect">
            <a:avLst/>
          </a:prstGeom>
          <a:noFill/>
        </p:spPr>
        <p:txBody>
          <a:bodyPr wrap="square" lIns="0" tIns="0" rIns="0" bIns="0" rtlCol="0" anchor="ctr"/>
          <a:lstStyle/>
          <a:p>
            <a:pPr marL="0" indent="0">
              <a:buNone/>
            </a:pPr>
            <a:r>
              <a:rPr lang="en-US" sz="1300" b="1" dirty="0">
                <a:solidFill>
                  <a:srgbClr val="FFFFFF"/>
                </a:solidFill>
              </a:rPr>
              <a:t>No Unified Analytics Tool</a:t>
            </a:r>
            <a:endParaRPr lang="en-US" sz="1300" dirty="0"/>
          </a:p>
        </p:txBody>
      </p:sp>
      <p:sp>
        <p:nvSpPr>
          <p:cNvPr id="22" name="Text 20"/>
          <p:cNvSpPr/>
          <p:nvPr/>
        </p:nvSpPr>
        <p:spPr>
          <a:xfrm>
            <a:off x="1005840" y="4206240"/>
            <a:ext cx="7772400" cy="320040"/>
          </a:xfrm>
          <a:prstGeom prst="rect">
            <a:avLst/>
          </a:prstGeom>
          <a:noFill/>
        </p:spPr>
        <p:txBody>
          <a:bodyPr wrap="square" lIns="0" tIns="0" rIns="0" bIns="0" rtlCol="0" anchor="ctr"/>
          <a:lstStyle/>
          <a:p>
            <a:pPr marL="0" indent="0">
              <a:buNone/>
            </a:pPr>
            <a:r>
              <a:rPr lang="en-US" sz="1050" dirty="0">
                <a:solidFill>
                  <a:srgbClr val="D1D5DB"/>
                </a:solidFill>
              </a:rPr>
              <a:t>Raw API data alone offers no visual insight. A structured dashboard is essential to identify trends, outliers, and market concentration.</a:t>
            </a:r>
            <a:endParaRPr lang="en-US" sz="1050" dirty="0"/>
          </a:p>
        </p:txBody>
      </p:sp>
      <p:sp>
        <p:nvSpPr>
          <p:cNvPr id="23" name="Shape 21"/>
          <p:cNvSpPr/>
          <p:nvPr/>
        </p:nvSpPr>
        <p:spPr>
          <a:xfrm>
            <a:off x="0" y="5070348"/>
            <a:ext cx="9144000" cy="73152"/>
          </a:xfrm>
          <a:prstGeom prst="rect">
            <a:avLst/>
          </a:prstGeom>
          <a:solidFill>
            <a:srgbClr val="EF4444"/>
          </a:solidFill>
          <a:ln w="12700">
            <a:solidFill>
              <a:srgbClr val="EF4444"/>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sp>
      <p:sp>
        <p:nvSpPr>
          <p:cNvPr id="3" name="Shape 1"/>
          <p:cNvSpPr/>
          <p:nvPr/>
        </p:nvSpPr>
        <p:spPr>
          <a:xfrm>
            <a:off x="0" y="0"/>
            <a:ext cx="54864" cy="5143500"/>
          </a:xfrm>
          <a:prstGeom prst="rect">
            <a:avLst/>
          </a:prstGeom>
          <a:solidFill>
            <a:srgbClr val="22D3EE"/>
          </a:solidFill>
          <a:ln w="12700">
            <a:solidFill>
              <a:srgbClr val="22D3EE"/>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10B981"/>
                </a:solidFill>
              </a:rPr>
              <a:t>PROJECT OVERVIEW</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End-to-End Data Pipeline</a:t>
            </a:r>
            <a:endParaRPr lang="en-US" sz="2800" dirty="0"/>
          </a:p>
        </p:txBody>
      </p:sp>
      <p:sp>
        <p:nvSpPr>
          <p:cNvPr id="6" name="Shape 4"/>
          <p:cNvSpPr/>
          <p:nvPr/>
        </p:nvSpPr>
        <p:spPr>
          <a:xfrm>
            <a:off x="274320" y="1188720"/>
            <a:ext cx="1508760" cy="1554480"/>
          </a:xfrm>
          <a:prstGeom prst="rect">
            <a:avLst/>
          </a:prstGeom>
          <a:solidFill>
            <a:srgbClr val="1F2937"/>
          </a:solidFill>
          <a:ln w="12700">
            <a:solidFill>
              <a:srgbClr val="F59E0B">
                <a:alpha val="60000"/>
              </a:srgbClr>
            </a:solidFill>
            <a:prstDash val="solid"/>
          </a:ln>
          <a:effectLst>
            <a:outerShdw blurRad="101600" dist="25400" dir="8100000" algn="bl" rotWithShape="0">
              <a:srgbClr val="000000">
                <a:alpha val="40000"/>
              </a:srgbClr>
            </a:outerShdw>
          </a:effectLst>
        </p:spPr>
      </p:sp>
      <p:sp>
        <p:nvSpPr>
          <p:cNvPr id="7" name="Shape 5"/>
          <p:cNvSpPr/>
          <p:nvPr/>
        </p:nvSpPr>
        <p:spPr>
          <a:xfrm>
            <a:off x="274320" y="1188720"/>
            <a:ext cx="1508760" cy="73152"/>
          </a:xfrm>
          <a:prstGeom prst="rect">
            <a:avLst/>
          </a:prstGeom>
          <a:solidFill>
            <a:srgbClr val="F59E0B"/>
          </a:solidFill>
          <a:ln w="12700">
            <a:solidFill>
              <a:srgbClr val="F59E0B"/>
            </a:solidFill>
            <a:prstDash val="solid"/>
          </a:ln>
        </p:spPr>
      </p:sp>
      <p:sp>
        <p:nvSpPr>
          <p:cNvPr id="8" name="Shape 6"/>
          <p:cNvSpPr/>
          <p:nvPr/>
        </p:nvSpPr>
        <p:spPr>
          <a:xfrm>
            <a:off x="800100" y="1298448"/>
            <a:ext cx="457200" cy="457200"/>
          </a:xfrm>
          <a:prstGeom prst="ellipse">
            <a:avLst/>
          </a:prstGeom>
          <a:solidFill>
            <a:srgbClr val="F59E0B"/>
          </a:solidFill>
          <a:ln w="12700">
            <a:solidFill>
              <a:srgbClr val="F59E0B"/>
            </a:solidFill>
            <a:prstDash val="solid"/>
          </a:ln>
        </p:spPr>
      </p:sp>
      <p:sp>
        <p:nvSpPr>
          <p:cNvPr id="9" name="Text 7"/>
          <p:cNvSpPr/>
          <p:nvPr/>
        </p:nvSpPr>
        <p:spPr>
          <a:xfrm>
            <a:off x="800100" y="1298448"/>
            <a:ext cx="457200" cy="457200"/>
          </a:xfrm>
          <a:prstGeom prst="rect">
            <a:avLst/>
          </a:prstGeom>
          <a:noFill/>
        </p:spPr>
        <p:txBody>
          <a:bodyPr wrap="square" rtlCol="0" anchor="ctr"/>
          <a:lstStyle/>
          <a:p>
            <a:pPr marL="0" indent="0" algn="ctr">
              <a:buNone/>
            </a:pPr>
            <a:r>
              <a:rPr lang="en-US" sz="1400" b="1" dirty="0">
                <a:solidFill>
                  <a:srgbClr val="FFFFFF"/>
                </a:solidFill>
              </a:rPr>
              <a:t>1</a:t>
            </a:r>
            <a:endParaRPr lang="en-US" sz="1400" dirty="0"/>
          </a:p>
        </p:txBody>
      </p:sp>
      <p:sp>
        <p:nvSpPr>
          <p:cNvPr id="10" name="Text 8"/>
          <p:cNvSpPr/>
          <p:nvPr/>
        </p:nvSpPr>
        <p:spPr>
          <a:xfrm>
            <a:off x="347472" y="1874520"/>
            <a:ext cx="1371600" cy="347472"/>
          </a:xfrm>
          <a:prstGeom prst="rect">
            <a:avLst/>
          </a:prstGeom>
          <a:noFill/>
        </p:spPr>
        <p:txBody>
          <a:bodyPr wrap="square" rtlCol="0" anchor="ctr"/>
          <a:lstStyle/>
          <a:p>
            <a:pPr marL="0" indent="0" algn="ctr">
              <a:buNone/>
            </a:pPr>
            <a:r>
              <a:rPr lang="en-US" sz="1100" b="1" dirty="0">
                <a:solidFill>
                  <a:srgbClr val="FFFFFF"/>
                </a:solidFill>
              </a:rPr>
              <a:t>CoinGecko API</a:t>
            </a:r>
            <a:endParaRPr lang="en-US" sz="1100" dirty="0"/>
          </a:p>
        </p:txBody>
      </p:sp>
      <p:sp>
        <p:nvSpPr>
          <p:cNvPr id="11" name="Text 9"/>
          <p:cNvSpPr/>
          <p:nvPr/>
        </p:nvSpPr>
        <p:spPr>
          <a:xfrm>
            <a:off x="320040" y="2267712"/>
            <a:ext cx="1417320" cy="457200"/>
          </a:xfrm>
          <a:prstGeom prst="rect">
            <a:avLst/>
          </a:prstGeom>
          <a:noFill/>
        </p:spPr>
        <p:txBody>
          <a:bodyPr wrap="square" rtlCol="0" anchor="ctr"/>
          <a:lstStyle/>
          <a:p>
            <a:pPr marL="0" indent="0" algn="ctr">
              <a:buNone/>
            </a:pPr>
            <a:r>
              <a:rPr lang="en-US" sz="900" dirty="0">
                <a:solidFill>
                  <a:srgbClr val="D1D5DB"/>
                </a:solidFill>
              </a:rPr>
              <a:t>Live market data</a:t>
            </a:r>
            <a:endParaRPr lang="en-US" sz="900" dirty="0"/>
          </a:p>
          <a:p>
            <a:pPr marL="0" indent="0" algn="ctr">
              <a:buNone/>
            </a:pPr>
            <a:r>
              <a:rPr lang="en-US" sz="900" dirty="0">
                <a:solidFill>
                  <a:srgbClr val="D1D5DB"/>
                </a:solidFill>
              </a:rPr>
              <a:t>for top 100 coins</a:t>
            </a:r>
            <a:endParaRPr lang="en-US" sz="900" dirty="0"/>
          </a:p>
        </p:txBody>
      </p:sp>
      <p:sp>
        <p:nvSpPr>
          <p:cNvPr id="12" name="Shape 10"/>
          <p:cNvSpPr/>
          <p:nvPr/>
        </p:nvSpPr>
        <p:spPr>
          <a:xfrm>
            <a:off x="1783080" y="1920240"/>
            <a:ext cx="201168" cy="54864"/>
          </a:xfrm>
          <a:prstGeom prst="rect">
            <a:avLst/>
          </a:prstGeom>
          <a:solidFill>
            <a:srgbClr val="6B7280"/>
          </a:solidFill>
          <a:ln w="12700">
            <a:solidFill>
              <a:srgbClr val="6B7280"/>
            </a:solidFill>
            <a:prstDash val="solid"/>
          </a:ln>
        </p:spPr>
      </p:sp>
      <p:sp>
        <p:nvSpPr>
          <p:cNvPr id="13" name="Shape 11"/>
          <p:cNvSpPr/>
          <p:nvPr/>
        </p:nvSpPr>
        <p:spPr>
          <a:xfrm>
            <a:off x="2011680" y="1188720"/>
            <a:ext cx="1508760" cy="1554480"/>
          </a:xfrm>
          <a:prstGeom prst="rect">
            <a:avLst/>
          </a:prstGeom>
          <a:solidFill>
            <a:srgbClr val="1F2937"/>
          </a:solidFill>
          <a:ln w="12700">
            <a:solidFill>
              <a:srgbClr val="22D3EE">
                <a:alpha val="60000"/>
              </a:srgbClr>
            </a:solidFill>
            <a:prstDash val="solid"/>
          </a:ln>
          <a:effectLst>
            <a:outerShdw blurRad="101600" dist="25400" dir="8100000" algn="bl" rotWithShape="0">
              <a:srgbClr val="000000">
                <a:alpha val="40000"/>
              </a:srgbClr>
            </a:outerShdw>
          </a:effectLst>
        </p:spPr>
      </p:sp>
      <p:sp>
        <p:nvSpPr>
          <p:cNvPr id="14" name="Shape 12"/>
          <p:cNvSpPr/>
          <p:nvPr/>
        </p:nvSpPr>
        <p:spPr>
          <a:xfrm>
            <a:off x="2011680" y="1188720"/>
            <a:ext cx="1508760" cy="73152"/>
          </a:xfrm>
          <a:prstGeom prst="rect">
            <a:avLst/>
          </a:prstGeom>
          <a:solidFill>
            <a:srgbClr val="22D3EE"/>
          </a:solidFill>
          <a:ln w="12700">
            <a:solidFill>
              <a:srgbClr val="22D3EE"/>
            </a:solidFill>
            <a:prstDash val="solid"/>
          </a:ln>
        </p:spPr>
      </p:sp>
      <p:sp>
        <p:nvSpPr>
          <p:cNvPr id="15" name="Shape 13"/>
          <p:cNvSpPr/>
          <p:nvPr/>
        </p:nvSpPr>
        <p:spPr>
          <a:xfrm>
            <a:off x="2537460" y="1298448"/>
            <a:ext cx="457200" cy="457200"/>
          </a:xfrm>
          <a:prstGeom prst="ellipse">
            <a:avLst/>
          </a:prstGeom>
          <a:solidFill>
            <a:srgbClr val="22D3EE"/>
          </a:solidFill>
          <a:ln w="12700">
            <a:solidFill>
              <a:srgbClr val="22D3EE"/>
            </a:solidFill>
            <a:prstDash val="solid"/>
          </a:ln>
        </p:spPr>
      </p:sp>
      <p:sp>
        <p:nvSpPr>
          <p:cNvPr id="16" name="Text 14"/>
          <p:cNvSpPr/>
          <p:nvPr/>
        </p:nvSpPr>
        <p:spPr>
          <a:xfrm>
            <a:off x="2537460" y="1298448"/>
            <a:ext cx="457200" cy="457200"/>
          </a:xfrm>
          <a:prstGeom prst="rect">
            <a:avLst/>
          </a:prstGeom>
          <a:noFill/>
        </p:spPr>
        <p:txBody>
          <a:bodyPr wrap="square" rtlCol="0" anchor="ctr"/>
          <a:lstStyle/>
          <a:p>
            <a:pPr marL="0" indent="0" algn="ctr">
              <a:buNone/>
            </a:pPr>
            <a:r>
              <a:rPr lang="en-US" sz="1400" b="1" dirty="0">
                <a:solidFill>
                  <a:srgbClr val="FFFFFF"/>
                </a:solidFill>
              </a:rPr>
              <a:t>2</a:t>
            </a:r>
            <a:endParaRPr lang="en-US" sz="1400" dirty="0"/>
          </a:p>
        </p:txBody>
      </p:sp>
      <p:sp>
        <p:nvSpPr>
          <p:cNvPr id="17" name="Text 15"/>
          <p:cNvSpPr/>
          <p:nvPr/>
        </p:nvSpPr>
        <p:spPr>
          <a:xfrm>
            <a:off x="2084832" y="1874520"/>
            <a:ext cx="1371600" cy="347472"/>
          </a:xfrm>
          <a:prstGeom prst="rect">
            <a:avLst/>
          </a:prstGeom>
          <a:noFill/>
        </p:spPr>
        <p:txBody>
          <a:bodyPr wrap="square" rtlCol="0" anchor="ctr"/>
          <a:lstStyle/>
          <a:p>
            <a:pPr marL="0" indent="0" algn="ctr">
              <a:buNone/>
            </a:pPr>
            <a:r>
              <a:rPr lang="en-US" sz="1100" b="1" dirty="0">
                <a:solidFill>
                  <a:srgbClr val="FFFFFF"/>
                </a:solidFill>
              </a:rPr>
              <a:t>Data Ingestion</a:t>
            </a:r>
            <a:endParaRPr lang="en-US" sz="1100" dirty="0"/>
          </a:p>
        </p:txBody>
      </p:sp>
      <p:sp>
        <p:nvSpPr>
          <p:cNvPr id="18" name="Text 16"/>
          <p:cNvSpPr/>
          <p:nvPr/>
        </p:nvSpPr>
        <p:spPr>
          <a:xfrm>
            <a:off x="2057400" y="2267712"/>
            <a:ext cx="1417320" cy="457200"/>
          </a:xfrm>
          <a:prstGeom prst="rect">
            <a:avLst/>
          </a:prstGeom>
          <a:noFill/>
        </p:spPr>
        <p:txBody>
          <a:bodyPr wrap="square" rtlCol="0" anchor="ctr"/>
          <a:lstStyle/>
          <a:p>
            <a:pPr marL="0" indent="0" algn="ctr">
              <a:buNone/>
            </a:pPr>
            <a:r>
              <a:rPr lang="en-US" sz="900" dirty="0">
                <a:solidFill>
                  <a:srgbClr val="D1D5DB"/>
                </a:solidFill>
              </a:rPr>
              <a:t>Power Query</a:t>
            </a:r>
            <a:endParaRPr lang="en-US" sz="900" dirty="0"/>
          </a:p>
          <a:p>
            <a:pPr marL="0" indent="0" algn="ctr">
              <a:buNone/>
            </a:pPr>
            <a:r>
              <a:rPr lang="en-US" sz="900" dirty="0">
                <a:solidFill>
                  <a:srgbClr val="D1D5DB"/>
                </a:solidFill>
              </a:rPr>
              <a:t>ETL process</a:t>
            </a:r>
            <a:endParaRPr lang="en-US" sz="900" dirty="0"/>
          </a:p>
        </p:txBody>
      </p:sp>
      <p:sp>
        <p:nvSpPr>
          <p:cNvPr id="19" name="Shape 17"/>
          <p:cNvSpPr/>
          <p:nvPr/>
        </p:nvSpPr>
        <p:spPr>
          <a:xfrm>
            <a:off x="3520440" y="1920240"/>
            <a:ext cx="201168" cy="54864"/>
          </a:xfrm>
          <a:prstGeom prst="rect">
            <a:avLst/>
          </a:prstGeom>
          <a:solidFill>
            <a:srgbClr val="6B7280"/>
          </a:solidFill>
          <a:ln w="12700">
            <a:solidFill>
              <a:srgbClr val="6B7280"/>
            </a:solidFill>
            <a:prstDash val="solid"/>
          </a:ln>
        </p:spPr>
      </p:sp>
      <p:sp>
        <p:nvSpPr>
          <p:cNvPr id="20" name="Shape 18"/>
          <p:cNvSpPr/>
          <p:nvPr/>
        </p:nvSpPr>
        <p:spPr>
          <a:xfrm>
            <a:off x="3749040" y="1188720"/>
            <a:ext cx="1508760" cy="1554480"/>
          </a:xfrm>
          <a:prstGeom prst="rect">
            <a:avLst/>
          </a:prstGeom>
          <a:solidFill>
            <a:srgbClr val="1F2937"/>
          </a:solidFill>
          <a:ln w="12700">
            <a:solidFill>
              <a:srgbClr val="6366F1">
                <a:alpha val="60000"/>
              </a:srgbClr>
            </a:solidFill>
            <a:prstDash val="solid"/>
          </a:ln>
          <a:effectLst>
            <a:outerShdw blurRad="101600" dist="25400" dir="8100000" algn="bl" rotWithShape="0">
              <a:srgbClr val="000000">
                <a:alpha val="40000"/>
              </a:srgbClr>
            </a:outerShdw>
          </a:effectLst>
        </p:spPr>
      </p:sp>
      <p:sp>
        <p:nvSpPr>
          <p:cNvPr id="21" name="Shape 19"/>
          <p:cNvSpPr/>
          <p:nvPr/>
        </p:nvSpPr>
        <p:spPr>
          <a:xfrm>
            <a:off x="3749040" y="1188720"/>
            <a:ext cx="1508760" cy="73152"/>
          </a:xfrm>
          <a:prstGeom prst="rect">
            <a:avLst/>
          </a:prstGeom>
          <a:solidFill>
            <a:srgbClr val="6366F1"/>
          </a:solidFill>
          <a:ln w="12700">
            <a:solidFill>
              <a:srgbClr val="6366F1"/>
            </a:solidFill>
            <a:prstDash val="solid"/>
          </a:ln>
        </p:spPr>
      </p:sp>
      <p:sp>
        <p:nvSpPr>
          <p:cNvPr id="22" name="Shape 20"/>
          <p:cNvSpPr/>
          <p:nvPr/>
        </p:nvSpPr>
        <p:spPr>
          <a:xfrm>
            <a:off x="4274820" y="1298448"/>
            <a:ext cx="457200" cy="457200"/>
          </a:xfrm>
          <a:prstGeom prst="ellipse">
            <a:avLst/>
          </a:prstGeom>
          <a:solidFill>
            <a:srgbClr val="6366F1"/>
          </a:solidFill>
          <a:ln w="12700">
            <a:solidFill>
              <a:srgbClr val="6366F1"/>
            </a:solidFill>
            <a:prstDash val="solid"/>
          </a:ln>
        </p:spPr>
      </p:sp>
      <p:sp>
        <p:nvSpPr>
          <p:cNvPr id="23" name="Text 21"/>
          <p:cNvSpPr/>
          <p:nvPr/>
        </p:nvSpPr>
        <p:spPr>
          <a:xfrm>
            <a:off x="4274820" y="1298448"/>
            <a:ext cx="457200" cy="457200"/>
          </a:xfrm>
          <a:prstGeom prst="rect">
            <a:avLst/>
          </a:prstGeom>
          <a:noFill/>
        </p:spPr>
        <p:txBody>
          <a:bodyPr wrap="square" rtlCol="0" anchor="ctr"/>
          <a:lstStyle/>
          <a:p>
            <a:pPr marL="0" indent="0" algn="ctr">
              <a:buNone/>
            </a:pPr>
            <a:r>
              <a:rPr lang="en-US" sz="1400" b="1" dirty="0">
                <a:solidFill>
                  <a:srgbClr val="FFFFFF"/>
                </a:solidFill>
              </a:rPr>
              <a:t>3</a:t>
            </a:r>
            <a:endParaRPr lang="en-US" sz="1400" dirty="0"/>
          </a:p>
        </p:txBody>
      </p:sp>
      <p:sp>
        <p:nvSpPr>
          <p:cNvPr id="24" name="Text 22"/>
          <p:cNvSpPr/>
          <p:nvPr/>
        </p:nvSpPr>
        <p:spPr>
          <a:xfrm>
            <a:off x="3822192" y="1874520"/>
            <a:ext cx="1371600" cy="347472"/>
          </a:xfrm>
          <a:prstGeom prst="rect">
            <a:avLst/>
          </a:prstGeom>
          <a:noFill/>
        </p:spPr>
        <p:txBody>
          <a:bodyPr wrap="square" rtlCol="0" anchor="ctr"/>
          <a:lstStyle/>
          <a:p>
            <a:pPr marL="0" indent="0" algn="ctr">
              <a:buNone/>
            </a:pPr>
            <a:r>
              <a:rPr lang="en-US" sz="1100" b="1" dirty="0">
                <a:solidFill>
                  <a:srgbClr val="FFFFFF"/>
                </a:solidFill>
              </a:rPr>
              <a:t>Data Modeling</a:t>
            </a:r>
            <a:endParaRPr lang="en-US" sz="1100" dirty="0"/>
          </a:p>
        </p:txBody>
      </p:sp>
      <p:sp>
        <p:nvSpPr>
          <p:cNvPr id="25" name="Text 23"/>
          <p:cNvSpPr/>
          <p:nvPr/>
        </p:nvSpPr>
        <p:spPr>
          <a:xfrm>
            <a:off x="3794760" y="2267712"/>
            <a:ext cx="1417320" cy="457200"/>
          </a:xfrm>
          <a:prstGeom prst="rect">
            <a:avLst/>
          </a:prstGeom>
          <a:noFill/>
        </p:spPr>
        <p:txBody>
          <a:bodyPr wrap="square" rtlCol="0" anchor="ctr"/>
          <a:lstStyle/>
          <a:p>
            <a:pPr marL="0" indent="0" algn="ctr">
              <a:buNone/>
            </a:pPr>
            <a:r>
              <a:rPr lang="en-US" sz="900" dirty="0">
                <a:solidFill>
                  <a:srgbClr val="D1D5DB"/>
                </a:solidFill>
              </a:rPr>
              <a:t>DAX measures</a:t>
            </a:r>
            <a:endParaRPr lang="en-US" sz="900" dirty="0"/>
          </a:p>
          <a:p>
            <a:pPr marL="0" indent="0" algn="ctr">
              <a:buNone/>
            </a:pPr>
            <a:r>
              <a:rPr lang="en-US" sz="900" dirty="0">
                <a:solidFill>
                  <a:srgbClr val="D1D5DB"/>
                </a:solidFill>
              </a:rPr>
              <a:t>&amp; calculated cols</a:t>
            </a:r>
            <a:endParaRPr lang="en-US" sz="900" dirty="0"/>
          </a:p>
        </p:txBody>
      </p:sp>
      <p:sp>
        <p:nvSpPr>
          <p:cNvPr id="26" name="Shape 24"/>
          <p:cNvSpPr/>
          <p:nvPr/>
        </p:nvSpPr>
        <p:spPr>
          <a:xfrm>
            <a:off x="5257800" y="1920240"/>
            <a:ext cx="201168" cy="54864"/>
          </a:xfrm>
          <a:prstGeom prst="rect">
            <a:avLst/>
          </a:prstGeom>
          <a:solidFill>
            <a:srgbClr val="6B7280"/>
          </a:solidFill>
          <a:ln w="12700">
            <a:solidFill>
              <a:srgbClr val="6B7280"/>
            </a:solidFill>
            <a:prstDash val="solid"/>
          </a:ln>
        </p:spPr>
      </p:sp>
      <p:sp>
        <p:nvSpPr>
          <p:cNvPr id="27" name="Shape 25"/>
          <p:cNvSpPr/>
          <p:nvPr/>
        </p:nvSpPr>
        <p:spPr>
          <a:xfrm>
            <a:off x="5486400" y="1188720"/>
            <a:ext cx="1508760" cy="1554480"/>
          </a:xfrm>
          <a:prstGeom prst="rect">
            <a:avLst/>
          </a:prstGeom>
          <a:solidFill>
            <a:srgbClr val="1F2937"/>
          </a:solidFill>
          <a:ln w="12700">
            <a:solidFill>
              <a:srgbClr val="10B981">
                <a:alpha val="60000"/>
              </a:srgbClr>
            </a:solidFill>
            <a:prstDash val="solid"/>
          </a:ln>
          <a:effectLst>
            <a:outerShdw blurRad="101600" dist="25400" dir="8100000" algn="bl" rotWithShape="0">
              <a:srgbClr val="000000">
                <a:alpha val="40000"/>
              </a:srgbClr>
            </a:outerShdw>
          </a:effectLst>
        </p:spPr>
      </p:sp>
      <p:sp>
        <p:nvSpPr>
          <p:cNvPr id="28" name="Shape 26"/>
          <p:cNvSpPr/>
          <p:nvPr/>
        </p:nvSpPr>
        <p:spPr>
          <a:xfrm>
            <a:off x="5486400" y="1188720"/>
            <a:ext cx="1508760" cy="73152"/>
          </a:xfrm>
          <a:prstGeom prst="rect">
            <a:avLst/>
          </a:prstGeom>
          <a:solidFill>
            <a:srgbClr val="10B981"/>
          </a:solidFill>
          <a:ln w="12700">
            <a:solidFill>
              <a:srgbClr val="10B981"/>
            </a:solidFill>
            <a:prstDash val="solid"/>
          </a:ln>
        </p:spPr>
      </p:sp>
      <p:sp>
        <p:nvSpPr>
          <p:cNvPr id="29" name="Shape 27"/>
          <p:cNvSpPr/>
          <p:nvPr/>
        </p:nvSpPr>
        <p:spPr>
          <a:xfrm>
            <a:off x="6012180" y="1298448"/>
            <a:ext cx="457200" cy="457200"/>
          </a:xfrm>
          <a:prstGeom prst="ellipse">
            <a:avLst/>
          </a:prstGeom>
          <a:solidFill>
            <a:srgbClr val="10B981"/>
          </a:solidFill>
          <a:ln w="12700">
            <a:solidFill>
              <a:srgbClr val="10B981"/>
            </a:solidFill>
            <a:prstDash val="solid"/>
          </a:ln>
        </p:spPr>
      </p:sp>
      <p:sp>
        <p:nvSpPr>
          <p:cNvPr id="30" name="Text 28"/>
          <p:cNvSpPr/>
          <p:nvPr/>
        </p:nvSpPr>
        <p:spPr>
          <a:xfrm>
            <a:off x="6012180" y="1298448"/>
            <a:ext cx="457200" cy="457200"/>
          </a:xfrm>
          <a:prstGeom prst="rect">
            <a:avLst/>
          </a:prstGeom>
          <a:noFill/>
        </p:spPr>
        <p:txBody>
          <a:bodyPr wrap="square" rtlCol="0" anchor="ctr"/>
          <a:lstStyle/>
          <a:p>
            <a:pPr marL="0" indent="0" algn="ctr">
              <a:buNone/>
            </a:pPr>
            <a:r>
              <a:rPr lang="en-US" sz="1400" b="1" dirty="0">
                <a:solidFill>
                  <a:srgbClr val="FFFFFF"/>
                </a:solidFill>
              </a:rPr>
              <a:t>4</a:t>
            </a:r>
            <a:endParaRPr lang="en-US" sz="1400" dirty="0"/>
          </a:p>
        </p:txBody>
      </p:sp>
      <p:sp>
        <p:nvSpPr>
          <p:cNvPr id="31" name="Text 29"/>
          <p:cNvSpPr/>
          <p:nvPr/>
        </p:nvSpPr>
        <p:spPr>
          <a:xfrm>
            <a:off x="5559552" y="1874520"/>
            <a:ext cx="1371600" cy="347472"/>
          </a:xfrm>
          <a:prstGeom prst="rect">
            <a:avLst/>
          </a:prstGeom>
          <a:noFill/>
        </p:spPr>
        <p:txBody>
          <a:bodyPr wrap="square" rtlCol="0" anchor="ctr"/>
          <a:lstStyle/>
          <a:p>
            <a:pPr marL="0" indent="0" algn="ctr">
              <a:buNone/>
            </a:pPr>
            <a:r>
              <a:rPr lang="en-US" sz="1100" b="1" dirty="0">
                <a:solidFill>
                  <a:srgbClr val="FFFFFF"/>
                </a:solidFill>
              </a:rPr>
              <a:t>Visualization</a:t>
            </a:r>
            <a:endParaRPr lang="en-US" sz="1100" dirty="0"/>
          </a:p>
        </p:txBody>
      </p:sp>
      <p:sp>
        <p:nvSpPr>
          <p:cNvPr id="32" name="Text 30"/>
          <p:cNvSpPr/>
          <p:nvPr/>
        </p:nvSpPr>
        <p:spPr>
          <a:xfrm>
            <a:off x="5532120" y="2267712"/>
            <a:ext cx="1417320" cy="457200"/>
          </a:xfrm>
          <a:prstGeom prst="rect">
            <a:avLst/>
          </a:prstGeom>
          <a:noFill/>
        </p:spPr>
        <p:txBody>
          <a:bodyPr wrap="square" rtlCol="0" anchor="ctr"/>
          <a:lstStyle/>
          <a:p>
            <a:pPr marL="0" indent="0" algn="ctr">
              <a:buNone/>
            </a:pPr>
            <a:r>
              <a:rPr lang="en-US" sz="900" dirty="0">
                <a:solidFill>
                  <a:srgbClr val="D1D5DB"/>
                </a:solidFill>
              </a:rPr>
              <a:t>6 interactive</a:t>
            </a:r>
            <a:endParaRPr lang="en-US" sz="900" dirty="0"/>
          </a:p>
          <a:p>
            <a:pPr marL="0" indent="0" algn="ctr">
              <a:buNone/>
            </a:pPr>
            <a:r>
              <a:rPr lang="en-US" sz="900" dirty="0">
                <a:solidFill>
                  <a:srgbClr val="D1D5DB"/>
                </a:solidFill>
              </a:rPr>
              <a:t>Power BI pages</a:t>
            </a:r>
            <a:endParaRPr lang="en-US" sz="900" dirty="0"/>
          </a:p>
        </p:txBody>
      </p:sp>
      <p:sp>
        <p:nvSpPr>
          <p:cNvPr id="33" name="Shape 31"/>
          <p:cNvSpPr/>
          <p:nvPr/>
        </p:nvSpPr>
        <p:spPr>
          <a:xfrm>
            <a:off x="6995160" y="1920240"/>
            <a:ext cx="201168" cy="54864"/>
          </a:xfrm>
          <a:prstGeom prst="rect">
            <a:avLst/>
          </a:prstGeom>
          <a:solidFill>
            <a:srgbClr val="6B7280"/>
          </a:solidFill>
          <a:ln w="12700">
            <a:solidFill>
              <a:srgbClr val="6B7280"/>
            </a:solidFill>
            <a:prstDash val="solid"/>
          </a:ln>
        </p:spPr>
      </p:sp>
      <p:sp>
        <p:nvSpPr>
          <p:cNvPr id="34" name="Shape 32"/>
          <p:cNvSpPr/>
          <p:nvPr/>
        </p:nvSpPr>
        <p:spPr>
          <a:xfrm>
            <a:off x="7223760" y="1188720"/>
            <a:ext cx="1508760" cy="1554480"/>
          </a:xfrm>
          <a:prstGeom prst="rect">
            <a:avLst/>
          </a:prstGeom>
          <a:solidFill>
            <a:srgbClr val="1F2937"/>
          </a:solidFill>
          <a:ln w="12700">
            <a:solidFill>
              <a:srgbClr val="EF4444">
                <a:alpha val="60000"/>
              </a:srgbClr>
            </a:solidFill>
            <a:prstDash val="solid"/>
          </a:ln>
          <a:effectLst>
            <a:outerShdw blurRad="101600" dist="25400" dir="8100000" algn="bl" rotWithShape="0">
              <a:srgbClr val="000000">
                <a:alpha val="40000"/>
              </a:srgbClr>
            </a:outerShdw>
          </a:effectLst>
        </p:spPr>
      </p:sp>
      <p:sp>
        <p:nvSpPr>
          <p:cNvPr id="35" name="Shape 33"/>
          <p:cNvSpPr/>
          <p:nvPr/>
        </p:nvSpPr>
        <p:spPr>
          <a:xfrm>
            <a:off x="7223760" y="1188720"/>
            <a:ext cx="1508760" cy="73152"/>
          </a:xfrm>
          <a:prstGeom prst="rect">
            <a:avLst/>
          </a:prstGeom>
          <a:solidFill>
            <a:srgbClr val="EF4444"/>
          </a:solidFill>
          <a:ln w="12700">
            <a:solidFill>
              <a:srgbClr val="EF4444"/>
            </a:solidFill>
            <a:prstDash val="solid"/>
          </a:ln>
        </p:spPr>
      </p:sp>
      <p:sp>
        <p:nvSpPr>
          <p:cNvPr id="36" name="Shape 34"/>
          <p:cNvSpPr/>
          <p:nvPr/>
        </p:nvSpPr>
        <p:spPr>
          <a:xfrm>
            <a:off x="7749540" y="1298448"/>
            <a:ext cx="457200" cy="457200"/>
          </a:xfrm>
          <a:prstGeom prst="ellipse">
            <a:avLst/>
          </a:prstGeom>
          <a:solidFill>
            <a:srgbClr val="EF4444"/>
          </a:solidFill>
          <a:ln w="12700">
            <a:solidFill>
              <a:srgbClr val="EF4444"/>
            </a:solidFill>
            <a:prstDash val="solid"/>
          </a:ln>
        </p:spPr>
      </p:sp>
      <p:sp>
        <p:nvSpPr>
          <p:cNvPr id="37" name="Text 35"/>
          <p:cNvSpPr/>
          <p:nvPr/>
        </p:nvSpPr>
        <p:spPr>
          <a:xfrm>
            <a:off x="7749540" y="1298448"/>
            <a:ext cx="457200" cy="457200"/>
          </a:xfrm>
          <a:prstGeom prst="rect">
            <a:avLst/>
          </a:prstGeom>
          <a:noFill/>
        </p:spPr>
        <p:txBody>
          <a:bodyPr wrap="square" rtlCol="0" anchor="ctr"/>
          <a:lstStyle/>
          <a:p>
            <a:pPr marL="0" indent="0" algn="ctr">
              <a:buNone/>
            </a:pPr>
            <a:r>
              <a:rPr lang="en-US" sz="1400" b="1" dirty="0">
                <a:solidFill>
                  <a:srgbClr val="FFFFFF"/>
                </a:solidFill>
              </a:rPr>
              <a:t>5</a:t>
            </a:r>
            <a:endParaRPr lang="en-US" sz="1400" dirty="0"/>
          </a:p>
        </p:txBody>
      </p:sp>
      <p:sp>
        <p:nvSpPr>
          <p:cNvPr id="38" name="Text 36"/>
          <p:cNvSpPr/>
          <p:nvPr/>
        </p:nvSpPr>
        <p:spPr>
          <a:xfrm>
            <a:off x="7296912" y="1874520"/>
            <a:ext cx="1371600" cy="347472"/>
          </a:xfrm>
          <a:prstGeom prst="rect">
            <a:avLst/>
          </a:prstGeom>
          <a:noFill/>
        </p:spPr>
        <p:txBody>
          <a:bodyPr wrap="square" rtlCol="0" anchor="ctr"/>
          <a:lstStyle/>
          <a:p>
            <a:pPr marL="0" indent="0" algn="ctr">
              <a:buNone/>
            </a:pPr>
            <a:r>
              <a:rPr lang="en-US" sz="1100" b="1" dirty="0">
                <a:solidFill>
                  <a:srgbClr val="FFFFFF"/>
                </a:solidFill>
              </a:rPr>
              <a:t>Insights</a:t>
            </a:r>
            <a:endParaRPr lang="en-US" sz="1100" dirty="0"/>
          </a:p>
        </p:txBody>
      </p:sp>
      <p:sp>
        <p:nvSpPr>
          <p:cNvPr id="39" name="Text 37"/>
          <p:cNvSpPr/>
          <p:nvPr/>
        </p:nvSpPr>
        <p:spPr>
          <a:xfrm>
            <a:off x="7269480" y="2267712"/>
            <a:ext cx="1417320" cy="457200"/>
          </a:xfrm>
          <a:prstGeom prst="rect">
            <a:avLst/>
          </a:prstGeom>
          <a:noFill/>
        </p:spPr>
        <p:txBody>
          <a:bodyPr wrap="square" rtlCol="0" anchor="ctr"/>
          <a:lstStyle/>
          <a:p>
            <a:pPr marL="0" indent="0" algn="ctr">
              <a:buNone/>
            </a:pPr>
            <a:r>
              <a:rPr lang="en-US" sz="900" dirty="0">
                <a:solidFill>
                  <a:srgbClr val="D1D5DB"/>
                </a:solidFill>
              </a:rPr>
              <a:t>Key findings &amp;</a:t>
            </a:r>
            <a:endParaRPr lang="en-US" sz="900" dirty="0"/>
          </a:p>
          <a:p>
            <a:pPr marL="0" indent="0" algn="ctr">
              <a:buNone/>
            </a:pPr>
            <a:r>
              <a:rPr lang="en-US" sz="900" dirty="0">
                <a:solidFill>
                  <a:srgbClr val="D1D5DB"/>
                </a:solidFill>
              </a:rPr>
              <a:t>recommendations</a:t>
            </a:r>
            <a:endParaRPr lang="en-US" sz="900" dirty="0"/>
          </a:p>
        </p:txBody>
      </p:sp>
      <p:sp>
        <p:nvSpPr>
          <p:cNvPr id="40" name="Shape 38"/>
          <p:cNvSpPr/>
          <p:nvPr/>
        </p:nvSpPr>
        <p:spPr>
          <a:xfrm>
            <a:off x="274320" y="2926080"/>
            <a:ext cx="8595360" cy="1783080"/>
          </a:xfrm>
          <a:prstGeom prst="rect">
            <a:avLst/>
          </a:prstGeom>
          <a:solidFill>
            <a:srgbClr val="111827"/>
          </a:solidFill>
          <a:ln w="12700">
            <a:solidFill>
              <a:srgbClr val="22D3EE">
                <a:alpha val="30000"/>
              </a:srgbClr>
            </a:solidFill>
            <a:prstDash val="solid"/>
          </a:ln>
        </p:spPr>
      </p:sp>
      <p:sp>
        <p:nvSpPr>
          <p:cNvPr id="41" name="Text 39"/>
          <p:cNvSpPr/>
          <p:nvPr/>
        </p:nvSpPr>
        <p:spPr>
          <a:xfrm>
            <a:off x="502920" y="3017520"/>
            <a:ext cx="8138160" cy="1554480"/>
          </a:xfrm>
          <a:prstGeom prst="rect">
            <a:avLst/>
          </a:prstGeom>
          <a:noFill/>
        </p:spPr>
        <p:txBody>
          <a:bodyPr wrap="square" rtlCol="0" anchor="ctr"/>
          <a:lstStyle/>
          <a:p>
            <a:pPr marL="0" indent="0">
              <a:buNone/>
            </a:pPr>
            <a:r>
              <a:rPr lang="en-US" sz="1150" dirty="0">
                <a:solidFill>
                  <a:srgbClr val="D1D5DB"/>
                </a:solidFill>
              </a:rPr>
              <a:t>This project leverages the CoinGecko public API to fetch structured data on the top 100 cryptocurrencies by market capitalization. </a:t>
            </a:r>
            <a:r>
              <a:rPr lang="en-US" sz="1150" b="1" dirty="0">
                <a:solidFill>
                  <a:srgbClr val="22D3EE"/>
                </a:solidFill>
              </a:rPr>
              <a:t>Power Query</a:t>
            </a:r>
            <a:r>
              <a:rPr lang="en-US" sz="1150" dirty="0">
                <a:solidFill>
                  <a:srgbClr val="D1D5DB"/>
                </a:solidFill>
              </a:rPr>
              <a:t> was used for data transformation and cleaning, while </a:t>
            </a:r>
            <a:r>
              <a:rPr lang="en-US" sz="1150" b="1" dirty="0">
                <a:solidFill>
                  <a:srgbClr val="10B981"/>
                </a:solidFill>
              </a:rPr>
              <a:t>DAX (Data Analysis Expressions)</a:t>
            </a:r>
            <a:r>
              <a:rPr lang="en-US" sz="1150" dirty="0">
                <a:solidFill>
                  <a:srgbClr val="D1D5DB"/>
                </a:solidFill>
              </a:rPr>
              <a:t> powered the creation of calculated metrics such as volatility score, market dominance, performance category, and scarcity level. The final output is a 6-page interactive Power BI report providing 360° market visibility.</a:t>
            </a:r>
            <a:endParaRPr lang="en-US" sz="1150" dirty="0"/>
          </a:p>
        </p:txBody>
      </p:sp>
      <p:sp>
        <p:nvSpPr>
          <p:cNvPr id="42" name="Shape 40"/>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Shape 1"/>
          <p:cNvSpPr/>
          <p:nvPr/>
        </p:nvSpPr>
        <p:spPr>
          <a:xfrm>
            <a:off x="0" y="0"/>
            <a:ext cx="54864" cy="5143500"/>
          </a:xfrm>
          <a:prstGeom prst="rect">
            <a:avLst/>
          </a:prstGeom>
          <a:solidFill>
            <a:srgbClr val="F59E0B"/>
          </a:solidFill>
          <a:ln w="12700">
            <a:solidFill>
              <a:srgbClr val="F59E0B"/>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F59E0B"/>
                </a:solidFill>
              </a:rPr>
              <a:t>DATASET OVERVIEW</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Data Source: CoinGecko API</a:t>
            </a:r>
            <a:endParaRPr lang="en-US" sz="2800" dirty="0"/>
          </a:p>
        </p:txBody>
      </p:sp>
      <p:sp>
        <p:nvSpPr>
          <p:cNvPr id="6" name="Shape 4"/>
          <p:cNvSpPr/>
          <p:nvPr/>
        </p:nvSpPr>
        <p:spPr>
          <a:xfrm>
            <a:off x="274320" y="1188720"/>
            <a:ext cx="3474720" cy="3566160"/>
          </a:xfrm>
          <a:prstGeom prst="rect">
            <a:avLst/>
          </a:prstGeom>
          <a:solidFill>
            <a:srgbClr val="111827"/>
          </a:solidFill>
          <a:ln w="12700">
            <a:solidFill>
              <a:srgbClr val="F59E0B">
                <a:alpha val="40000"/>
              </a:srgbClr>
            </a:solidFill>
            <a:prstDash val="solid"/>
          </a:ln>
        </p:spPr>
      </p:sp>
      <p:sp>
        <p:nvSpPr>
          <p:cNvPr id="7" name="Shape 5"/>
          <p:cNvSpPr/>
          <p:nvPr/>
        </p:nvSpPr>
        <p:spPr>
          <a:xfrm>
            <a:off x="274320" y="1188720"/>
            <a:ext cx="3474720" cy="73152"/>
          </a:xfrm>
          <a:prstGeom prst="rect">
            <a:avLst/>
          </a:prstGeom>
          <a:solidFill>
            <a:srgbClr val="F59E0B"/>
          </a:solidFill>
          <a:ln w="12700">
            <a:solidFill>
              <a:srgbClr val="F59E0B"/>
            </a:solidFill>
            <a:prstDash val="solid"/>
          </a:ln>
        </p:spPr>
      </p:sp>
      <p:pic>
        <p:nvPicPr>
          <p:cNvPr id="8" name="Image 0" descr="preencoded.png"/>
          <p:cNvPicPr>
            <a:picLocks noChangeAspect="1"/>
          </p:cNvPicPr>
          <p:nvPr/>
        </p:nvPicPr>
        <p:blipFill>
          <a:blip r:embed="rId1"/>
          <a:stretch>
            <a:fillRect/>
          </a:stretch>
        </p:blipFill>
        <p:spPr>
          <a:xfrm>
            <a:off x="1783080" y="1325880"/>
            <a:ext cx="457200" cy="457200"/>
          </a:xfrm>
          <a:prstGeom prst="rect">
            <a:avLst/>
          </a:prstGeom>
        </p:spPr>
      </p:pic>
      <p:sp>
        <p:nvSpPr>
          <p:cNvPr id="9" name="Text 6"/>
          <p:cNvSpPr/>
          <p:nvPr/>
        </p:nvSpPr>
        <p:spPr>
          <a:xfrm>
            <a:off x="365760" y="1874520"/>
            <a:ext cx="3291840" cy="347472"/>
          </a:xfrm>
          <a:prstGeom prst="rect">
            <a:avLst/>
          </a:prstGeom>
          <a:noFill/>
        </p:spPr>
        <p:txBody>
          <a:bodyPr wrap="square" rtlCol="0" anchor="ctr"/>
          <a:lstStyle/>
          <a:p>
            <a:pPr marL="0" indent="0" algn="ctr">
              <a:buNone/>
            </a:pPr>
            <a:r>
              <a:rPr lang="en-US" sz="1300" b="1" dirty="0">
                <a:solidFill>
                  <a:srgbClr val="FFFFFF"/>
                </a:solidFill>
              </a:rPr>
              <a:t>Source Details</a:t>
            </a:r>
            <a:endParaRPr lang="en-US" sz="1300" dirty="0"/>
          </a:p>
        </p:txBody>
      </p:sp>
      <p:sp>
        <p:nvSpPr>
          <p:cNvPr id="10" name="Text 7"/>
          <p:cNvSpPr/>
          <p:nvPr/>
        </p:nvSpPr>
        <p:spPr>
          <a:xfrm>
            <a:off x="411480" y="2304288"/>
            <a:ext cx="914400" cy="274320"/>
          </a:xfrm>
          <a:prstGeom prst="rect">
            <a:avLst/>
          </a:prstGeom>
          <a:noFill/>
        </p:spPr>
        <p:txBody>
          <a:bodyPr wrap="square" lIns="0" tIns="0" rIns="0" bIns="0" rtlCol="0" anchor="ctr"/>
          <a:lstStyle/>
          <a:p>
            <a:pPr marL="0" indent="0">
              <a:buNone/>
            </a:pPr>
            <a:r>
              <a:rPr lang="en-US" sz="1000" b="1" dirty="0">
                <a:solidFill>
                  <a:srgbClr val="F59E0B"/>
                </a:solidFill>
              </a:rPr>
              <a:t>API:</a:t>
            </a:r>
            <a:endParaRPr lang="en-US" sz="1000" dirty="0"/>
          </a:p>
        </p:txBody>
      </p:sp>
      <p:sp>
        <p:nvSpPr>
          <p:cNvPr id="11" name="Text 8"/>
          <p:cNvSpPr/>
          <p:nvPr/>
        </p:nvSpPr>
        <p:spPr>
          <a:xfrm>
            <a:off x="1371600" y="2304288"/>
            <a:ext cx="2194560" cy="274320"/>
          </a:xfrm>
          <a:prstGeom prst="rect">
            <a:avLst/>
          </a:prstGeom>
          <a:noFill/>
        </p:spPr>
        <p:txBody>
          <a:bodyPr wrap="square" lIns="0" tIns="0" rIns="0" bIns="0" rtlCol="0" anchor="ctr"/>
          <a:lstStyle/>
          <a:p>
            <a:pPr marL="0" indent="0">
              <a:buNone/>
            </a:pPr>
            <a:r>
              <a:rPr lang="en-US" sz="1000" dirty="0">
                <a:solidFill>
                  <a:srgbClr val="D1D5DB"/>
                </a:solidFill>
              </a:rPr>
              <a:t>CoinGecko /coins/markets</a:t>
            </a:r>
            <a:endParaRPr lang="en-US" sz="1000" dirty="0"/>
          </a:p>
        </p:txBody>
      </p:sp>
      <p:sp>
        <p:nvSpPr>
          <p:cNvPr id="12" name="Text 9"/>
          <p:cNvSpPr/>
          <p:nvPr/>
        </p:nvSpPr>
        <p:spPr>
          <a:xfrm>
            <a:off x="411480" y="2651760"/>
            <a:ext cx="914400" cy="274320"/>
          </a:xfrm>
          <a:prstGeom prst="rect">
            <a:avLst/>
          </a:prstGeom>
          <a:noFill/>
        </p:spPr>
        <p:txBody>
          <a:bodyPr wrap="square" lIns="0" tIns="0" rIns="0" bIns="0" rtlCol="0" anchor="ctr"/>
          <a:lstStyle/>
          <a:p>
            <a:pPr marL="0" indent="0">
              <a:buNone/>
            </a:pPr>
            <a:r>
              <a:rPr lang="en-US" sz="1000" b="1" dirty="0">
                <a:solidFill>
                  <a:srgbClr val="F59E0B"/>
                </a:solidFill>
              </a:rPr>
              <a:t>Records:</a:t>
            </a:r>
            <a:endParaRPr lang="en-US" sz="1000" dirty="0"/>
          </a:p>
        </p:txBody>
      </p:sp>
      <p:sp>
        <p:nvSpPr>
          <p:cNvPr id="13" name="Text 10"/>
          <p:cNvSpPr/>
          <p:nvPr/>
        </p:nvSpPr>
        <p:spPr>
          <a:xfrm>
            <a:off x="1371600" y="2651760"/>
            <a:ext cx="2194560" cy="274320"/>
          </a:xfrm>
          <a:prstGeom prst="rect">
            <a:avLst/>
          </a:prstGeom>
          <a:noFill/>
        </p:spPr>
        <p:txBody>
          <a:bodyPr wrap="square" lIns="0" tIns="0" rIns="0" bIns="0" rtlCol="0" anchor="ctr"/>
          <a:lstStyle/>
          <a:p>
            <a:pPr marL="0" indent="0">
              <a:buNone/>
            </a:pPr>
            <a:r>
              <a:rPr lang="en-US" sz="1000" dirty="0">
                <a:solidFill>
                  <a:srgbClr val="D1D5DB"/>
                </a:solidFill>
              </a:rPr>
              <a:t>Top 100 Coins by Mkt Cap</a:t>
            </a:r>
            <a:endParaRPr lang="en-US" sz="1000" dirty="0"/>
          </a:p>
        </p:txBody>
      </p:sp>
      <p:sp>
        <p:nvSpPr>
          <p:cNvPr id="14" name="Text 11"/>
          <p:cNvSpPr/>
          <p:nvPr/>
        </p:nvSpPr>
        <p:spPr>
          <a:xfrm>
            <a:off x="411480" y="2999232"/>
            <a:ext cx="914400" cy="274320"/>
          </a:xfrm>
          <a:prstGeom prst="rect">
            <a:avLst/>
          </a:prstGeom>
          <a:noFill/>
        </p:spPr>
        <p:txBody>
          <a:bodyPr wrap="square" lIns="0" tIns="0" rIns="0" bIns="0" rtlCol="0" anchor="ctr"/>
          <a:lstStyle/>
          <a:p>
            <a:pPr marL="0" indent="0">
              <a:buNone/>
            </a:pPr>
            <a:r>
              <a:rPr lang="en-US" sz="1000" b="1" dirty="0">
                <a:solidFill>
                  <a:srgbClr val="F59E0B"/>
                </a:solidFill>
              </a:rPr>
              <a:t>Update:</a:t>
            </a:r>
            <a:endParaRPr lang="en-US" sz="1000" dirty="0"/>
          </a:p>
        </p:txBody>
      </p:sp>
      <p:sp>
        <p:nvSpPr>
          <p:cNvPr id="15" name="Text 12"/>
          <p:cNvSpPr/>
          <p:nvPr/>
        </p:nvSpPr>
        <p:spPr>
          <a:xfrm>
            <a:off x="1371600" y="2999232"/>
            <a:ext cx="2194560" cy="274320"/>
          </a:xfrm>
          <a:prstGeom prst="rect">
            <a:avLst/>
          </a:prstGeom>
          <a:noFill/>
        </p:spPr>
        <p:txBody>
          <a:bodyPr wrap="square" lIns="0" tIns="0" rIns="0" bIns="0" rtlCol="0" anchor="ctr"/>
          <a:lstStyle/>
          <a:p>
            <a:pPr marL="0" indent="0">
              <a:buNone/>
            </a:pPr>
            <a:r>
              <a:rPr lang="en-US" sz="1000" dirty="0">
                <a:solidFill>
                  <a:srgbClr val="D1D5DB"/>
                </a:solidFill>
              </a:rPr>
              <a:t>Real-time (on refresh)</a:t>
            </a:r>
            <a:endParaRPr lang="en-US" sz="1000" dirty="0"/>
          </a:p>
        </p:txBody>
      </p:sp>
      <p:sp>
        <p:nvSpPr>
          <p:cNvPr id="16" name="Text 13"/>
          <p:cNvSpPr/>
          <p:nvPr/>
        </p:nvSpPr>
        <p:spPr>
          <a:xfrm>
            <a:off x="411480" y="3346704"/>
            <a:ext cx="914400" cy="274320"/>
          </a:xfrm>
          <a:prstGeom prst="rect">
            <a:avLst/>
          </a:prstGeom>
          <a:noFill/>
        </p:spPr>
        <p:txBody>
          <a:bodyPr wrap="square" lIns="0" tIns="0" rIns="0" bIns="0" rtlCol="0" anchor="ctr"/>
          <a:lstStyle/>
          <a:p>
            <a:pPr marL="0" indent="0">
              <a:buNone/>
            </a:pPr>
            <a:r>
              <a:rPr lang="en-US" sz="1000" b="1" dirty="0">
                <a:solidFill>
                  <a:srgbClr val="F59E0B"/>
                </a:solidFill>
              </a:rPr>
              <a:t>Format:</a:t>
            </a:r>
            <a:endParaRPr lang="en-US" sz="1000" dirty="0"/>
          </a:p>
        </p:txBody>
      </p:sp>
      <p:sp>
        <p:nvSpPr>
          <p:cNvPr id="17" name="Text 14"/>
          <p:cNvSpPr/>
          <p:nvPr/>
        </p:nvSpPr>
        <p:spPr>
          <a:xfrm>
            <a:off x="1371600" y="3346704"/>
            <a:ext cx="2194560" cy="274320"/>
          </a:xfrm>
          <a:prstGeom prst="rect">
            <a:avLst/>
          </a:prstGeom>
          <a:noFill/>
        </p:spPr>
        <p:txBody>
          <a:bodyPr wrap="square" lIns="0" tIns="0" rIns="0" bIns="0" rtlCol="0" anchor="ctr"/>
          <a:lstStyle/>
          <a:p>
            <a:pPr marL="0" indent="0">
              <a:buNone/>
            </a:pPr>
            <a:r>
              <a:rPr lang="en-US" sz="1000" dirty="0">
                <a:solidFill>
                  <a:srgbClr val="D1D5DB"/>
                </a:solidFill>
              </a:rPr>
              <a:t>JSON → Power Query</a:t>
            </a:r>
            <a:endParaRPr lang="en-US" sz="1000" dirty="0"/>
          </a:p>
        </p:txBody>
      </p:sp>
      <p:sp>
        <p:nvSpPr>
          <p:cNvPr id="18" name="Text 15"/>
          <p:cNvSpPr/>
          <p:nvPr/>
        </p:nvSpPr>
        <p:spPr>
          <a:xfrm>
            <a:off x="411480" y="3694176"/>
            <a:ext cx="914400" cy="274320"/>
          </a:xfrm>
          <a:prstGeom prst="rect">
            <a:avLst/>
          </a:prstGeom>
          <a:noFill/>
        </p:spPr>
        <p:txBody>
          <a:bodyPr wrap="square" lIns="0" tIns="0" rIns="0" bIns="0" rtlCol="0" anchor="ctr"/>
          <a:lstStyle/>
          <a:p>
            <a:pPr marL="0" indent="0">
              <a:buNone/>
            </a:pPr>
            <a:r>
              <a:rPr lang="en-US" sz="1000" b="1" dirty="0">
                <a:solidFill>
                  <a:srgbClr val="F59E0B"/>
                </a:solidFill>
              </a:rPr>
              <a:t>Rows:</a:t>
            </a:r>
            <a:endParaRPr lang="en-US" sz="1000" dirty="0"/>
          </a:p>
        </p:txBody>
      </p:sp>
      <p:sp>
        <p:nvSpPr>
          <p:cNvPr id="19" name="Text 16"/>
          <p:cNvSpPr/>
          <p:nvPr/>
        </p:nvSpPr>
        <p:spPr>
          <a:xfrm>
            <a:off x="1371600" y="3694176"/>
            <a:ext cx="2194560" cy="274320"/>
          </a:xfrm>
          <a:prstGeom prst="rect">
            <a:avLst/>
          </a:prstGeom>
          <a:noFill/>
        </p:spPr>
        <p:txBody>
          <a:bodyPr wrap="square" lIns="0" tIns="0" rIns="0" bIns="0" rtlCol="0" anchor="ctr"/>
          <a:lstStyle/>
          <a:p>
            <a:pPr marL="0" indent="0">
              <a:buNone/>
            </a:pPr>
            <a:r>
              <a:rPr lang="en-US" sz="1000" dirty="0">
                <a:solidFill>
                  <a:srgbClr val="D1D5DB"/>
                </a:solidFill>
              </a:rPr>
              <a:t>~100 per refresh</a:t>
            </a:r>
            <a:endParaRPr lang="en-US" sz="1000" dirty="0"/>
          </a:p>
        </p:txBody>
      </p:sp>
      <p:sp>
        <p:nvSpPr>
          <p:cNvPr id="20" name="Text 17"/>
          <p:cNvSpPr/>
          <p:nvPr/>
        </p:nvSpPr>
        <p:spPr>
          <a:xfrm>
            <a:off x="411480" y="4041648"/>
            <a:ext cx="914400" cy="274320"/>
          </a:xfrm>
          <a:prstGeom prst="rect">
            <a:avLst/>
          </a:prstGeom>
          <a:noFill/>
        </p:spPr>
        <p:txBody>
          <a:bodyPr wrap="square" lIns="0" tIns="0" rIns="0" bIns="0" rtlCol="0" anchor="ctr"/>
          <a:lstStyle/>
          <a:p>
            <a:pPr marL="0" indent="0">
              <a:buNone/>
            </a:pPr>
            <a:r>
              <a:rPr lang="en-US" sz="1000" b="1" dirty="0">
                <a:solidFill>
                  <a:srgbClr val="F59E0B"/>
                </a:solidFill>
              </a:rPr>
              <a:t>Cols:</a:t>
            </a:r>
            <a:endParaRPr lang="en-US" sz="1000" dirty="0"/>
          </a:p>
        </p:txBody>
      </p:sp>
      <p:sp>
        <p:nvSpPr>
          <p:cNvPr id="21" name="Text 18"/>
          <p:cNvSpPr/>
          <p:nvPr/>
        </p:nvSpPr>
        <p:spPr>
          <a:xfrm>
            <a:off x="1371600" y="4041648"/>
            <a:ext cx="2194560" cy="274320"/>
          </a:xfrm>
          <a:prstGeom prst="rect">
            <a:avLst/>
          </a:prstGeom>
          <a:noFill/>
        </p:spPr>
        <p:txBody>
          <a:bodyPr wrap="square" lIns="0" tIns="0" rIns="0" bIns="0" rtlCol="0" anchor="ctr"/>
          <a:lstStyle/>
          <a:p>
            <a:pPr marL="0" indent="0">
              <a:buNone/>
            </a:pPr>
            <a:r>
              <a:rPr lang="en-US" sz="1000" dirty="0">
                <a:solidFill>
                  <a:srgbClr val="D1D5DB"/>
                </a:solidFill>
              </a:rPr>
              <a:t>20+ raw data fields</a:t>
            </a:r>
            <a:endParaRPr lang="en-US" sz="1000" dirty="0"/>
          </a:p>
        </p:txBody>
      </p:sp>
      <p:sp>
        <p:nvSpPr>
          <p:cNvPr id="22" name="Shape 19"/>
          <p:cNvSpPr/>
          <p:nvPr/>
        </p:nvSpPr>
        <p:spPr>
          <a:xfrm>
            <a:off x="4023360" y="1188720"/>
            <a:ext cx="4846320" cy="3566160"/>
          </a:xfrm>
          <a:prstGeom prst="rect">
            <a:avLst/>
          </a:prstGeom>
          <a:solidFill>
            <a:srgbClr val="111827"/>
          </a:solidFill>
          <a:ln w="12700">
            <a:solidFill>
              <a:srgbClr val="22D3EE">
                <a:alpha val="40000"/>
              </a:srgbClr>
            </a:solidFill>
            <a:prstDash val="solid"/>
          </a:ln>
        </p:spPr>
      </p:sp>
      <p:sp>
        <p:nvSpPr>
          <p:cNvPr id="23" name="Shape 20"/>
          <p:cNvSpPr/>
          <p:nvPr/>
        </p:nvSpPr>
        <p:spPr>
          <a:xfrm>
            <a:off x="4023360" y="1188720"/>
            <a:ext cx="4846320" cy="73152"/>
          </a:xfrm>
          <a:prstGeom prst="rect">
            <a:avLst/>
          </a:prstGeom>
          <a:solidFill>
            <a:srgbClr val="22D3EE"/>
          </a:solidFill>
          <a:ln w="12700">
            <a:solidFill>
              <a:srgbClr val="22D3EE"/>
            </a:solidFill>
            <a:prstDash val="solid"/>
          </a:ln>
        </p:spPr>
      </p:sp>
      <p:sp>
        <p:nvSpPr>
          <p:cNvPr id="24" name="Text 21"/>
          <p:cNvSpPr/>
          <p:nvPr/>
        </p:nvSpPr>
        <p:spPr>
          <a:xfrm>
            <a:off x="4114800" y="1325880"/>
            <a:ext cx="4663440" cy="347472"/>
          </a:xfrm>
          <a:prstGeom prst="rect">
            <a:avLst/>
          </a:prstGeom>
          <a:noFill/>
        </p:spPr>
        <p:txBody>
          <a:bodyPr wrap="square" rtlCol="0" anchor="ctr"/>
          <a:lstStyle/>
          <a:p>
            <a:pPr marL="0" indent="0" algn="ctr">
              <a:buNone/>
            </a:pPr>
            <a:r>
              <a:rPr lang="en-US" sz="1300" b="1" dirty="0">
                <a:solidFill>
                  <a:srgbClr val="FFFFFF"/>
                </a:solidFill>
              </a:rPr>
              <a:t>Key Columns</a:t>
            </a:r>
            <a:endParaRPr lang="en-US" sz="1300" dirty="0"/>
          </a:p>
        </p:txBody>
      </p:sp>
      <p:sp>
        <p:nvSpPr>
          <p:cNvPr id="25" name="Shape 22"/>
          <p:cNvSpPr/>
          <p:nvPr/>
        </p:nvSpPr>
        <p:spPr>
          <a:xfrm>
            <a:off x="4114800" y="1737360"/>
            <a:ext cx="73152" cy="274320"/>
          </a:xfrm>
          <a:prstGeom prst="rect">
            <a:avLst/>
          </a:prstGeom>
          <a:solidFill>
            <a:srgbClr val="22D3EE"/>
          </a:solidFill>
          <a:ln w="12700">
            <a:solidFill>
              <a:srgbClr val="22D3EE"/>
            </a:solidFill>
            <a:prstDash val="solid"/>
          </a:ln>
        </p:spPr>
      </p:sp>
      <p:sp>
        <p:nvSpPr>
          <p:cNvPr id="26" name="Text 23"/>
          <p:cNvSpPr/>
          <p:nvPr/>
        </p:nvSpPr>
        <p:spPr>
          <a:xfrm>
            <a:off x="4297680" y="1737360"/>
            <a:ext cx="2743200" cy="274320"/>
          </a:xfrm>
          <a:prstGeom prst="rect">
            <a:avLst/>
          </a:prstGeom>
          <a:noFill/>
        </p:spPr>
        <p:txBody>
          <a:bodyPr wrap="square" lIns="0" tIns="0" rIns="0" bIns="0" rtlCol="0" anchor="ctr"/>
          <a:lstStyle/>
          <a:p>
            <a:pPr marL="0" indent="0">
              <a:buNone/>
            </a:pPr>
            <a:r>
              <a:rPr lang="en-US" sz="1000" b="1" dirty="0">
                <a:solidFill>
                  <a:srgbClr val="FFFFFF"/>
                </a:solidFill>
              </a:rPr>
              <a:t>id / name / symbol</a:t>
            </a:r>
            <a:endParaRPr lang="en-US" sz="1000" dirty="0"/>
          </a:p>
        </p:txBody>
      </p:sp>
      <p:sp>
        <p:nvSpPr>
          <p:cNvPr id="27" name="Text 24"/>
          <p:cNvSpPr/>
          <p:nvPr/>
        </p:nvSpPr>
        <p:spPr>
          <a:xfrm>
            <a:off x="7086600" y="1737360"/>
            <a:ext cx="1645920" cy="274320"/>
          </a:xfrm>
          <a:prstGeom prst="rect">
            <a:avLst/>
          </a:prstGeom>
          <a:noFill/>
        </p:spPr>
        <p:txBody>
          <a:bodyPr wrap="square" lIns="0" tIns="0" rIns="0" bIns="0" rtlCol="0" anchor="ctr"/>
          <a:lstStyle/>
          <a:p>
            <a:pPr marL="0" indent="0">
              <a:buNone/>
            </a:pPr>
            <a:r>
              <a:rPr lang="en-US" sz="950" dirty="0">
                <a:solidFill>
                  <a:srgbClr val="22D3EE"/>
                </a:solidFill>
              </a:rPr>
              <a:t>Identification</a:t>
            </a:r>
            <a:endParaRPr lang="en-US" sz="950" dirty="0"/>
          </a:p>
        </p:txBody>
      </p:sp>
      <p:sp>
        <p:nvSpPr>
          <p:cNvPr id="28" name="Shape 25"/>
          <p:cNvSpPr/>
          <p:nvPr/>
        </p:nvSpPr>
        <p:spPr>
          <a:xfrm>
            <a:off x="4114800" y="2121408"/>
            <a:ext cx="73152" cy="274320"/>
          </a:xfrm>
          <a:prstGeom prst="rect">
            <a:avLst/>
          </a:prstGeom>
          <a:solidFill>
            <a:srgbClr val="10B981"/>
          </a:solidFill>
          <a:ln w="12700">
            <a:solidFill>
              <a:srgbClr val="10B981"/>
            </a:solidFill>
            <a:prstDash val="solid"/>
          </a:ln>
        </p:spPr>
      </p:sp>
      <p:sp>
        <p:nvSpPr>
          <p:cNvPr id="29" name="Text 26"/>
          <p:cNvSpPr/>
          <p:nvPr/>
        </p:nvSpPr>
        <p:spPr>
          <a:xfrm>
            <a:off x="4297680" y="2121408"/>
            <a:ext cx="2743200" cy="274320"/>
          </a:xfrm>
          <a:prstGeom prst="rect">
            <a:avLst/>
          </a:prstGeom>
          <a:noFill/>
        </p:spPr>
        <p:txBody>
          <a:bodyPr wrap="square" lIns="0" tIns="0" rIns="0" bIns="0" rtlCol="0" anchor="ctr"/>
          <a:lstStyle/>
          <a:p>
            <a:pPr marL="0" indent="0">
              <a:buNone/>
            </a:pPr>
            <a:r>
              <a:rPr lang="en-US" sz="1000" b="1" dirty="0">
                <a:solidFill>
                  <a:srgbClr val="FFFFFF"/>
                </a:solidFill>
              </a:rPr>
              <a:t>current_price</a:t>
            </a:r>
            <a:endParaRPr lang="en-US" sz="1000" dirty="0"/>
          </a:p>
        </p:txBody>
      </p:sp>
      <p:sp>
        <p:nvSpPr>
          <p:cNvPr id="30" name="Text 27"/>
          <p:cNvSpPr/>
          <p:nvPr/>
        </p:nvSpPr>
        <p:spPr>
          <a:xfrm>
            <a:off x="7086600" y="2121408"/>
            <a:ext cx="1645920" cy="274320"/>
          </a:xfrm>
          <a:prstGeom prst="rect">
            <a:avLst/>
          </a:prstGeom>
          <a:noFill/>
        </p:spPr>
        <p:txBody>
          <a:bodyPr wrap="square" lIns="0" tIns="0" rIns="0" bIns="0" rtlCol="0" anchor="ctr"/>
          <a:lstStyle/>
          <a:p>
            <a:pPr marL="0" indent="0">
              <a:buNone/>
            </a:pPr>
            <a:r>
              <a:rPr lang="en-US" sz="950" dirty="0">
                <a:solidFill>
                  <a:srgbClr val="10B981"/>
                </a:solidFill>
              </a:rPr>
              <a:t>Pricing</a:t>
            </a:r>
            <a:endParaRPr lang="en-US" sz="950" dirty="0"/>
          </a:p>
        </p:txBody>
      </p:sp>
      <p:sp>
        <p:nvSpPr>
          <p:cNvPr id="31" name="Shape 28"/>
          <p:cNvSpPr/>
          <p:nvPr/>
        </p:nvSpPr>
        <p:spPr>
          <a:xfrm>
            <a:off x="4114800" y="2505456"/>
            <a:ext cx="73152" cy="274320"/>
          </a:xfrm>
          <a:prstGeom prst="rect">
            <a:avLst/>
          </a:prstGeom>
          <a:solidFill>
            <a:srgbClr val="F59E0B"/>
          </a:solidFill>
          <a:ln w="12700">
            <a:solidFill>
              <a:srgbClr val="F59E0B"/>
            </a:solidFill>
            <a:prstDash val="solid"/>
          </a:ln>
        </p:spPr>
      </p:sp>
      <p:sp>
        <p:nvSpPr>
          <p:cNvPr id="32" name="Text 29"/>
          <p:cNvSpPr/>
          <p:nvPr/>
        </p:nvSpPr>
        <p:spPr>
          <a:xfrm>
            <a:off x="4297680" y="2505456"/>
            <a:ext cx="2743200" cy="274320"/>
          </a:xfrm>
          <a:prstGeom prst="rect">
            <a:avLst/>
          </a:prstGeom>
          <a:noFill/>
        </p:spPr>
        <p:txBody>
          <a:bodyPr wrap="square" lIns="0" tIns="0" rIns="0" bIns="0" rtlCol="0" anchor="ctr"/>
          <a:lstStyle/>
          <a:p>
            <a:pPr marL="0" indent="0">
              <a:buNone/>
            </a:pPr>
            <a:r>
              <a:rPr lang="en-US" sz="1000" b="1" dirty="0">
                <a:solidFill>
                  <a:srgbClr val="FFFFFF"/>
                </a:solidFill>
              </a:rPr>
              <a:t>market_cap / market_cap_rank</a:t>
            </a:r>
            <a:endParaRPr lang="en-US" sz="1000" dirty="0"/>
          </a:p>
        </p:txBody>
      </p:sp>
      <p:sp>
        <p:nvSpPr>
          <p:cNvPr id="33" name="Text 30"/>
          <p:cNvSpPr/>
          <p:nvPr/>
        </p:nvSpPr>
        <p:spPr>
          <a:xfrm>
            <a:off x="7086600" y="2505456"/>
            <a:ext cx="1645920" cy="274320"/>
          </a:xfrm>
          <a:prstGeom prst="rect">
            <a:avLst/>
          </a:prstGeom>
          <a:noFill/>
        </p:spPr>
        <p:txBody>
          <a:bodyPr wrap="square" lIns="0" tIns="0" rIns="0" bIns="0" rtlCol="0" anchor="ctr"/>
          <a:lstStyle/>
          <a:p>
            <a:pPr marL="0" indent="0">
              <a:buNone/>
            </a:pPr>
            <a:r>
              <a:rPr lang="en-US" sz="950" dirty="0">
                <a:solidFill>
                  <a:srgbClr val="F59E0B"/>
                </a:solidFill>
              </a:rPr>
              <a:t>Market Data</a:t>
            </a:r>
            <a:endParaRPr lang="en-US" sz="950" dirty="0"/>
          </a:p>
        </p:txBody>
      </p:sp>
      <p:sp>
        <p:nvSpPr>
          <p:cNvPr id="34" name="Shape 31"/>
          <p:cNvSpPr/>
          <p:nvPr/>
        </p:nvSpPr>
        <p:spPr>
          <a:xfrm>
            <a:off x="4114800" y="2889504"/>
            <a:ext cx="73152" cy="274320"/>
          </a:xfrm>
          <a:prstGeom prst="rect">
            <a:avLst/>
          </a:prstGeom>
          <a:solidFill>
            <a:srgbClr val="6366F1"/>
          </a:solidFill>
          <a:ln w="12700">
            <a:solidFill>
              <a:srgbClr val="6366F1"/>
            </a:solidFill>
            <a:prstDash val="solid"/>
          </a:ln>
        </p:spPr>
      </p:sp>
      <p:sp>
        <p:nvSpPr>
          <p:cNvPr id="35" name="Text 32"/>
          <p:cNvSpPr/>
          <p:nvPr/>
        </p:nvSpPr>
        <p:spPr>
          <a:xfrm>
            <a:off x="4297680" y="2889504"/>
            <a:ext cx="2743200" cy="274320"/>
          </a:xfrm>
          <a:prstGeom prst="rect">
            <a:avLst/>
          </a:prstGeom>
          <a:noFill/>
        </p:spPr>
        <p:txBody>
          <a:bodyPr wrap="square" lIns="0" tIns="0" rIns="0" bIns="0" rtlCol="0" anchor="ctr"/>
          <a:lstStyle/>
          <a:p>
            <a:pPr marL="0" indent="0">
              <a:buNone/>
            </a:pPr>
            <a:r>
              <a:rPr lang="en-US" sz="1000" b="1" dirty="0">
                <a:solidFill>
                  <a:srgbClr val="FFFFFF"/>
                </a:solidFill>
              </a:rPr>
              <a:t>total_volume</a:t>
            </a:r>
            <a:endParaRPr lang="en-US" sz="1000" dirty="0"/>
          </a:p>
        </p:txBody>
      </p:sp>
      <p:sp>
        <p:nvSpPr>
          <p:cNvPr id="36" name="Text 33"/>
          <p:cNvSpPr/>
          <p:nvPr/>
        </p:nvSpPr>
        <p:spPr>
          <a:xfrm>
            <a:off x="7086600" y="2889504"/>
            <a:ext cx="1645920" cy="274320"/>
          </a:xfrm>
          <a:prstGeom prst="rect">
            <a:avLst/>
          </a:prstGeom>
          <a:noFill/>
        </p:spPr>
        <p:txBody>
          <a:bodyPr wrap="square" lIns="0" tIns="0" rIns="0" bIns="0" rtlCol="0" anchor="ctr"/>
          <a:lstStyle/>
          <a:p>
            <a:pPr marL="0" indent="0">
              <a:buNone/>
            </a:pPr>
            <a:r>
              <a:rPr lang="en-US" sz="950" dirty="0">
                <a:solidFill>
                  <a:srgbClr val="6366F1"/>
                </a:solidFill>
              </a:rPr>
              <a:t>Trading Activity</a:t>
            </a:r>
            <a:endParaRPr lang="en-US" sz="950" dirty="0"/>
          </a:p>
        </p:txBody>
      </p:sp>
      <p:sp>
        <p:nvSpPr>
          <p:cNvPr id="37" name="Shape 34"/>
          <p:cNvSpPr/>
          <p:nvPr/>
        </p:nvSpPr>
        <p:spPr>
          <a:xfrm>
            <a:off x="4114800" y="3273552"/>
            <a:ext cx="73152" cy="274320"/>
          </a:xfrm>
          <a:prstGeom prst="rect">
            <a:avLst/>
          </a:prstGeom>
          <a:solidFill>
            <a:srgbClr val="EF4444"/>
          </a:solidFill>
          <a:ln w="12700">
            <a:solidFill>
              <a:srgbClr val="EF4444"/>
            </a:solidFill>
            <a:prstDash val="solid"/>
          </a:ln>
        </p:spPr>
      </p:sp>
      <p:sp>
        <p:nvSpPr>
          <p:cNvPr id="38" name="Text 35"/>
          <p:cNvSpPr/>
          <p:nvPr/>
        </p:nvSpPr>
        <p:spPr>
          <a:xfrm>
            <a:off x="4297680" y="3273552"/>
            <a:ext cx="2743200" cy="274320"/>
          </a:xfrm>
          <a:prstGeom prst="rect">
            <a:avLst/>
          </a:prstGeom>
          <a:noFill/>
        </p:spPr>
        <p:txBody>
          <a:bodyPr wrap="square" lIns="0" tIns="0" rIns="0" bIns="0" rtlCol="0" anchor="ctr"/>
          <a:lstStyle/>
          <a:p>
            <a:pPr marL="0" indent="0">
              <a:buNone/>
            </a:pPr>
            <a:r>
              <a:rPr lang="en-US" sz="1000" b="1" dirty="0">
                <a:solidFill>
                  <a:srgbClr val="FFFFFF"/>
                </a:solidFill>
              </a:rPr>
              <a:t>price_change_percentage_24h / 7d</a:t>
            </a:r>
            <a:endParaRPr lang="en-US" sz="1000" dirty="0"/>
          </a:p>
        </p:txBody>
      </p:sp>
      <p:sp>
        <p:nvSpPr>
          <p:cNvPr id="39" name="Text 36"/>
          <p:cNvSpPr/>
          <p:nvPr/>
        </p:nvSpPr>
        <p:spPr>
          <a:xfrm>
            <a:off x="7086600" y="3273552"/>
            <a:ext cx="1645920" cy="274320"/>
          </a:xfrm>
          <a:prstGeom prst="rect">
            <a:avLst/>
          </a:prstGeom>
          <a:noFill/>
        </p:spPr>
        <p:txBody>
          <a:bodyPr wrap="square" lIns="0" tIns="0" rIns="0" bIns="0" rtlCol="0" anchor="ctr"/>
          <a:lstStyle/>
          <a:p>
            <a:pPr marL="0" indent="0">
              <a:buNone/>
            </a:pPr>
            <a:r>
              <a:rPr lang="en-US" sz="950" dirty="0">
                <a:solidFill>
                  <a:srgbClr val="EF4444"/>
                </a:solidFill>
              </a:rPr>
              <a:t>Performance</a:t>
            </a:r>
            <a:endParaRPr lang="en-US" sz="950" dirty="0"/>
          </a:p>
        </p:txBody>
      </p:sp>
      <p:sp>
        <p:nvSpPr>
          <p:cNvPr id="40" name="Shape 37"/>
          <p:cNvSpPr/>
          <p:nvPr/>
        </p:nvSpPr>
        <p:spPr>
          <a:xfrm>
            <a:off x="4114800" y="3657600"/>
            <a:ext cx="73152" cy="274320"/>
          </a:xfrm>
          <a:prstGeom prst="rect">
            <a:avLst/>
          </a:prstGeom>
          <a:solidFill>
            <a:srgbClr val="10B981"/>
          </a:solidFill>
          <a:ln w="12700">
            <a:solidFill>
              <a:srgbClr val="10B981"/>
            </a:solidFill>
            <a:prstDash val="solid"/>
          </a:ln>
        </p:spPr>
      </p:sp>
      <p:sp>
        <p:nvSpPr>
          <p:cNvPr id="41" name="Text 38"/>
          <p:cNvSpPr/>
          <p:nvPr/>
        </p:nvSpPr>
        <p:spPr>
          <a:xfrm>
            <a:off x="4297680" y="3657600"/>
            <a:ext cx="2743200" cy="274320"/>
          </a:xfrm>
          <a:prstGeom prst="rect">
            <a:avLst/>
          </a:prstGeom>
          <a:noFill/>
        </p:spPr>
        <p:txBody>
          <a:bodyPr wrap="square" lIns="0" tIns="0" rIns="0" bIns="0" rtlCol="0" anchor="ctr"/>
          <a:lstStyle/>
          <a:p>
            <a:pPr marL="0" indent="0">
              <a:buNone/>
            </a:pPr>
            <a:r>
              <a:rPr lang="en-US" sz="1000" b="1" dirty="0">
                <a:solidFill>
                  <a:srgbClr val="FFFFFF"/>
                </a:solidFill>
              </a:rPr>
              <a:t>circulating_supply / max_supply</a:t>
            </a:r>
            <a:endParaRPr lang="en-US" sz="1000" dirty="0"/>
          </a:p>
        </p:txBody>
      </p:sp>
      <p:sp>
        <p:nvSpPr>
          <p:cNvPr id="42" name="Text 39"/>
          <p:cNvSpPr/>
          <p:nvPr/>
        </p:nvSpPr>
        <p:spPr>
          <a:xfrm>
            <a:off x="7086600" y="3657600"/>
            <a:ext cx="1645920" cy="274320"/>
          </a:xfrm>
          <a:prstGeom prst="rect">
            <a:avLst/>
          </a:prstGeom>
          <a:noFill/>
        </p:spPr>
        <p:txBody>
          <a:bodyPr wrap="square" lIns="0" tIns="0" rIns="0" bIns="0" rtlCol="0" anchor="ctr"/>
          <a:lstStyle/>
          <a:p>
            <a:pPr marL="0" indent="0">
              <a:buNone/>
            </a:pPr>
            <a:r>
              <a:rPr lang="en-US" sz="950" dirty="0">
                <a:solidFill>
                  <a:srgbClr val="10B981"/>
                </a:solidFill>
              </a:rPr>
              <a:t>Tokenomics</a:t>
            </a:r>
            <a:endParaRPr lang="en-US" sz="950" dirty="0"/>
          </a:p>
        </p:txBody>
      </p:sp>
      <p:sp>
        <p:nvSpPr>
          <p:cNvPr id="43" name="Shape 40"/>
          <p:cNvSpPr/>
          <p:nvPr/>
        </p:nvSpPr>
        <p:spPr>
          <a:xfrm>
            <a:off x="4114800" y="4041648"/>
            <a:ext cx="73152" cy="274320"/>
          </a:xfrm>
          <a:prstGeom prst="rect">
            <a:avLst/>
          </a:prstGeom>
          <a:solidFill>
            <a:srgbClr val="F59E0B"/>
          </a:solidFill>
          <a:ln w="12700">
            <a:solidFill>
              <a:srgbClr val="F59E0B"/>
            </a:solidFill>
            <a:prstDash val="solid"/>
          </a:ln>
        </p:spPr>
      </p:sp>
      <p:sp>
        <p:nvSpPr>
          <p:cNvPr id="44" name="Text 41"/>
          <p:cNvSpPr/>
          <p:nvPr/>
        </p:nvSpPr>
        <p:spPr>
          <a:xfrm>
            <a:off x="4297680" y="4041648"/>
            <a:ext cx="2743200" cy="274320"/>
          </a:xfrm>
          <a:prstGeom prst="rect">
            <a:avLst/>
          </a:prstGeom>
          <a:noFill/>
        </p:spPr>
        <p:txBody>
          <a:bodyPr wrap="square" lIns="0" tIns="0" rIns="0" bIns="0" rtlCol="0" anchor="ctr"/>
          <a:lstStyle/>
          <a:p>
            <a:pPr marL="0" indent="0">
              <a:buNone/>
            </a:pPr>
            <a:r>
              <a:rPr lang="en-US" sz="1000" b="1" dirty="0">
                <a:solidFill>
                  <a:srgbClr val="FFFFFF"/>
                </a:solidFill>
              </a:rPr>
              <a:t>fully_diluted_valuation (FDV)</a:t>
            </a:r>
            <a:endParaRPr lang="en-US" sz="1000" dirty="0"/>
          </a:p>
        </p:txBody>
      </p:sp>
      <p:sp>
        <p:nvSpPr>
          <p:cNvPr id="45" name="Text 42"/>
          <p:cNvSpPr/>
          <p:nvPr/>
        </p:nvSpPr>
        <p:spPr>
          <a:xfrm>
            <a:off x="7086600" y="4041648"/>
            <a:ext cx="1645920" cy="274320"/>
          </a:xfrm>
          <a:prstGeom prst="rect">
            <a:avLst/>
          </a:prstGeom>
          <a:noFill/>
        </p:spPr>
        <p:txBody>
          <a:bodyPr wrap="square" lIns="0" tIns="0" rIns="0" bIns="0" rtlCol="0" anchor="ctr"/>
          <a:lstStyle/>
          <a:p>
            <a:pPr marL="0" indent="0">
              <a:buNone/>
            </a:pPr>
            <a:r>
              <a:rPr lang="en-US" sz="950" dirty="0">
                <a:solidFill>
                  <a:srgbClr val="F59E0B"/>
                </a:solidFill>
              </a:rPr>
              <a:t>Valuation</a:t>
            </a:r>
            <a:endParaRPr lang="en-US" sz="950" dirty="0"/>
          </a:p>
        </p:txBody>
      </p:sp>
      <p:sp>
        <p:nvSpPr>
          <p:cNvPr id="46" name="Shape 43"/>
          <p:cNvSpPr/>
          <p:nvPr/>
        </p:nvSpPr>
        <p:spPr>
          <a:xfrm>
            <a:off x="4114800" y="4425696"/>
            <a:ext cx="73152" cy="274320"/>
          </a:xfrm>
          <a:prstGeom prst="rect">
            <a:avLst/>
          </a:prstGeom>
          <a:solidFill>
            <a:srgbClr val="6366F1"/>
          </a:solidFill>
          <a:ln w="12700">
            <a:solidFill>
              <a:srgbClr val="6366F1"/>
            </a:solidFill>
            <a:prstDash val="solid"/>
          </a:ln>
        </p:spPr>
      </p:sp>
      <p:sp>
        <p:nvSpPr>
          <p:cNvPr id="47" name="Text 44"/>
          <p:cNvSpPr/>
          <p:nvPr/>
        </p:nvSpPr>
        <p:spPr>
          <a:xfrm>
            <a:off x="4297680" y="4425696"/>
            <a:ext cx="2743200" cy="274320"/>
          </a:xfrm>
          <a:prstGeom prst="rect">
            <a:avLst/>
          </a:prstGeom>
          <a:noFill/>
        </p:spPr>
        <p:txBody>
          <a:bodyPr wrap="square" lIns="0" tIns="0" rIns="0" bIns="0" rtlCol="0" anchor="ctr"/>
          <a:lstStyle/>
          <a:p>
            <a:pPr marL="0" indent="0">
              <a:buNone/>
            </a:pPr>
            <a:r>
              <a:rPr lang="en-US" sz="1000" b="1" dirty="0">
                <a:solidFill>
                  <a:srgbClr val="FFFFFF"/>
                </a:solidFill>
              </a:rPr>
              <a:t>ath / atl (all-time high/low)</a:t>
            </a:r>
            <a:endParaRPr lang="en-US" sz="1000" dirty="0"/>
          </a:p>
        </p:txBody>
      </p:sp>
      <p:sp>
        <p:nvSpPr>
          <p:cNvPr id="48" name="Text 45"/>
          <p:cNvSpPr/>
          <p:nvPr/>
        </p:nvSpPr>
        <p:spPr>
          <a:xfrm>
            <a:off x="7086600" y="4425696"/>
            <a:ext cx="1645920" cy="274320"/>
          </a:xfrm>
          <a:prstGeom prst="rect">
            <a:avLst/>
          </a:prstGeom>
          <a:noFill/>
        </p:spPr>
        <p:txBody>
          <a:bodyPr wrap="square" lIns="0" tIns="0" rIns="0" bIns="0" rtlCol="0" anchor="ctr"/>
          <a:lstStyle/>
          <a:p>
            <a:pPr marL="0" indent="0">
              <a:buNone/>
            </a:pPr>
            <a:r>
              <a:rPr lang="en-US" sz="950" dirty="0">
                <a:solidFill>
                  <a:srgbClr val="6366F1"/>
                </a:solidFill>
              </a:rPr>
              <a:t>Historical</a:t>
            </a:r>
            <a:endParaRPr lang="en-US" sz="950" dirty="0"/>
          </a:p>
        </p:txBody>
      </p:sp>
      <p:sp>
        <p:nvSpPr>
          <p:cNvPr id="49" name="Shape 46"/>
          <p:cNvSpPr/>
          <p:nvPr/>
        </p:nvSpPr>
        <p:spPr>
          <a:xfrm>
            <a:off x="0" y="5070348"/>
            <a:ext cx="9144000" cy="73152"/>
          </a:xfrm>
          <a:prstGeom prst="rect">
            <a:avLst/>
          </a:prstGeom>
          <a:solidFill>
            <a:srgbClr val="F59E0B"/>
          </a:solidFill>
          <a:ln w="12700">
            <a:solidFill>
              <a:srgbClr val="F59E0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366F1"/>
          </a:solidFill>
          <a:ln w="12700">
            <a:solidFill>
              <a:srgbClr val="6366F1"/>
            </a:solidFill>
            <a:prstDash val="solid"/>
          </a:ln>
        </p:spPr>
      </p:sp>
      <p:sp>
        <p:nvSpPr>
          <p:cNvPr id="3" name="Shape 1"/>
          <p:cNvSpPr/>
          <p:nvPr/>
        </p:nvSpPr>
        <p:spPr>
          <a:xfrm>
            <a:off x="0" y="0"/>
            <a:ext cx="54864" cy="5143500"/>
          </a:xfrm>
          <a:prstGeom prst="rect">
            <a:avLst/>
          </a:prstGeom>
          <a:solidFill>
            <a:srgbClr val="10B981"/>
          </a:solidFill>
          <a:ln w="12700">
            <a:solidFill>
              <a:srgbClr val="10B981"/>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300" dirty="0">
                <a:solidFill>
                  <a:srgbClr val="6366F1"/>
                </a:solidFill>
              </a:rPr>
              <a:t>DATA PREPARATION &amp; MODELING</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600" b="1" dirty="0">
                <a:solidFill>
                  <a:srgbClr val="FFFFFF"/>
                </a:solidFill>
              </a:rPr>
              <a:t>Cleaning, Transforming &amp; Calculating</a:t>
            </a:r>
            <a:endParaRPr lang="en-US" sz="2600" dirty="0"/>
          </a:p>
        </p:txBody>
      </p:sp>
      <p:sp>
        <p:nvSpPr>
          <p:cNvPr id="6" name="Shape 4"/>
          <p:cNvSpPr/>
          <p:nvPr/>
        </p:nvSpPr>
        <p:spPr>
          <a:xfrm>
            <a:off x="274320" y="1188720"/>
            <a:ext cx="4114800" cy="3611880"/>
          </a:xfrm>
          <a:prstGeom prst="rect">
            <a:avLst/>
          </a:prstGeom>
          <a:solidFill>
            <a:srgbClr val="111827"/>
          </a:solidFill>
          <a:ln w="12700">
            <a:solidFill>
              <a:srgbClr val="22D3EE">
                <a:alpha val="40000"/>
              </a:srgbClr>
            </a:solidFill>
            <a:prstDash val="solid"/>
          </a:ln>
        </p:spPr>
      </p:sp>
      <p:sp>
        <p:nvSpPr>
          <p:cNvPr id="7" name="Shape 5"/>
          <p:cNvSpPr/>
          <p:nvPr/>
        </p:nvSpPr>
        <p:spPr>
          <a:xfrm>
            <a:off x="274320" y="1478280"/>
            <a:ext cx="4114800" cy="76200"/>
          </a:xfrm>
          <a:prstGeom prst="rect">
            <a:avLst/>
          </a:prstGeom>
          <a:solidFill>
            <a:srgbClr val="22D3EE">
              <a:alpha val="80000"/>
            </a:srgbClr>
          </a:solidFill>
          <a:ln w="12700">
            <a:solidFill>
              <a:srgbClr val="22D3EE"/>
            </a:solidFill>
            <a:prstDash val="solid"/>
          </a:ln>
        </p:spPr>
      </p:sp>
      <p:sp>
        <p:nvSpPr>
          <p:cNvPr id="8" name="Text 6"/>
          <p:cNvSpPr/>
          <p:nvPr/>
        </p:nvSpPr>
        <p:spPr>
          <a:xfrm>
            <a:off x="365760" y="1216152"/>
            <a:ext cx="3931920" cy="320040"/>
          </a:xfrm>
          <a:prstGeom prst="rect">
            <a:avLst/>
          </a:prstGeom>
          <a:noFill/>
        </p:spPr>
        <p:txBody>
          <a:bodyPr wrap="square" rtlCol="0" anchor="ctr"/>
          <a:lstStyle/>
          <a:p>
            <a:pPr marL="0" indent="0">
              <a:buNone/>
            </a:pPr>
            <a:r>
              <a:rPr lang="en-US" sz="1200" b="1" dirty="0">
                <a:solidFill>
                  <a:srgbClr val="22D3EE"/>
                </a:solidFill>
              </a:rPr>
              <a:t>⚙  Power Query — Data Cleaning</a:t>
            </a:r>
            <a:endParaRPr lang="en-US" sz="1200" dirty="0"/>
          </a:p>
        </p:txBody>
      </p:sp>
      <p:sp>
        <p:nvSpPr>
          <p:cNvPr id="9" name="Shape 7"/>
          <p:cNvSpPr/>
          <p:nvPr/>
        </p:nvSpPr>
        <p:spPr>
          <a:xfrm>
            <a:off x="365760" y="1709928"/>
            <a:ext cx="274320" cy="274320"/>
          </a:xfrm>
          <a:prstGeom prst="rect">
            <a:avLst/>
          </a:prstGeom>
          <a:solidFill>
            <a:srgbClr val="22D3EE">
              <a:alpha val="60000"/>
            </a:srgbClr>
          </a:solidFill>
          <a:ln w="12700">
            <a:solidFill>
              <a:srgbClr val="22D3EE"/>
            </a:solidFill>
            <a:prstDash val="solid"/>
          </a:ln>
        </p:spPr>
      </p:sp>
      <p:sp>
        <p:nvSpPr>
          <p:cNvPr id="10" name="Text 8"/>
          <p:cNvSpPr/>
          <p:nvPr/>
        </p:nvSpPr>
        <p:spPr>
          <a:xfrm>
            <a:off x="365760" y="1709928"/>
            <a:ext cx="274320" cy="274320"/>
          </a:xfrm>
          <a:prstGeom prst="rect">
            <a:avLst/>
          </a:prstGeom>
          <a:noFill/>
        </p:spPr>
        <p:txBody>
          <a:bodyPr wrap="square" rtlCol="0" anchor="ctr"/>
          <a:lstStyle/>
          <a:p>
            <a:pPr marL="0" indent="0" algn="ctr">
              <a:buNone/>
            </a:pPr>
            <a:r>
              <a:rPr lang="en-US" sz="900" b="1" dirty="0">
                <a:solidFill>
                  <a:srgbClr val="FFFFFF"/>
                </a:solidFill>
              </a:rPr>
              <a:t>1</a:t>
            </a:r>
            <a:endParaRPr lang="en-US" sz="900" dirty="0"/>
          </a:p>
        </p:txBody>
      </p:sp>
      <p:sp>
        <p:nvSpPr>
          <p:cNvPr id="11" name="Text 9"/>
          <p:cNvSpPr/>
          <p:nvPr/>
        </p:nvSpPr>
        <p:spPr>
          <a:xfrm>
            <a:off x="749808" y="1664208"/>
            <a:ext cx="3474720" cy="384048"/>
          </a:xfrm>
          <a:prstGeom prst="rect">
            <a:avLst/>
          </a:prstGeom>
          <a:noFill/>
        </p:spPr>
        <p:txBody>
          <a:bodyPr wrap="square" rtlCol="0" anchor="ctr"/>
          <a:lstStyle/>
          <a:p>
            <a:pPr marL="0" indent="0">
              <a:buNone/>
            </a:pPr>
            <a:r>
              <a:rPr lang="en-US" sz="1000" dirty="0">
                <a:solidFill>
                  <a:srgbClr val="D1D5DB"/>
                </a:solidFill>
              </a:rPr>
              <a:t>Removed null/blank values in max_supply &amp; FDV columns</a:t>
            </a:r>
            <a:endParaRPr lang="en-US" sz="1000" dirty="0"/>
          </a:p>
        </p:txBody>
      </p:sp>
      <p:sp>
        <p:nvSpPr>
          <p:cNvPr id="12" name="Shape 10"/>
          <p:cNvSpPr/>
          <p:nvPr/>
        </p:nvSpPr>
        <p:spPr>
          <a:xfrm>
            <a:off x="365760" y="2148840"/>
            <a:ext cx="274320" cy="274320"/>
          </a:xfrm>
          <a:prstGeom prst="rect">
            <a:avLst/>
          </a:prstGeom>
          <a:solidFill>
            <a:srgbClr val="22D3EE">
              <a:alpha val="60000"/>
            </a:srgbClr>
          </a:solidFill>
          <a:ln w="12700">
            <a:solidFill>
              <a:srgbClr val="22D3EE"/>
            </a:solidFill>
            <a:prstDash val="solid"/>
          </a:ln>
        </p:spPr>
      </p:sp>
      <p:sp>
        <p:nvSpPr>
          <p:cNvPr id="13" name="Text 11"/>
          <p:cNvSpPr/>
          <p:nvPr/>
        </p:nvSpPr>
        <p:spPr>
          <a:xfrm>
            <a:off x="365760" y="2148840"/>
            <a:ext cx="274320" cy="274320"/>
          </a:xfrm>
          <a:prstGeom prst="rect">
            <a:avLst/>
          </a:prstGeom>
          <a:noFill/>
        </p:spPr>
        <p:txBody>
          <a:bodyPr wrap="square" rtlCol="0" anchor="ctr"/>
          <a:lstStyle/>
          <a:p>
            <a:pPr marL="0" indent="0" algn="ctr">
              <a:buNone/>
            </a:pPr>
            <a:r>
              <a:rPr lang="en-US" sz="900" b="1" dirty="0">
                <a:solidFill>
                  <a:srgbClr val="FFFFFF"/>
                </a:solidFill>
              </a:rPr>
              <a:t>2</a:t>
            </a:r>
            <a:endParaRPr lang="en-US" sz="900" dirty="0"/>
          </a:p>
        </p:txBody>
      </p:sp>
      <p:sp>
        <p:nvSpPr>
          <p:cNvPr id="14" name="Text 12"/>
          <p:cNvSpPr/>
          <p:nvPr/>
        </p:nvSpPr>
        <p:spPr>
          <a:xfrm>
            <a:off x="749808" y="2103120"/>
            <a:ext cx="3474720" cy="384048"/>
          </a:xfrm>
          <a:prstGeom prst="rect">
            <a:avLst/>
          </a:prstGeom>
          <a:noFill/>
        </p:spPr>
        <p:txBody>
          <a:bodyPr wrap="square" rtlCol="0" anchor="ctr"/>
          <a:lstStyle/>
          <a:p>
            <a:pPr marL="0" indent="0">
              <a:buNone/>
            </a:pPr>
            <a:r>
              <a:rPr lang="en-US" sz="1000" dirty="0">
                <a:solidFill>
                  <a:srgbClr val="D1D5DB"/>
                </a:solidFill>
              </a:rPr>
              <a:t>Converted scientific notation prices to decimal format</a:t>
            </a:r>
            <a:endParaRPr lang="en-US" sz="1000" dirty="0"/>
          </a:p>
        </p:txBody>
      </p:sp>
      <p:sp>
        <p:nvSpPr>
          <p:cNvPr id="15" name="Shape 13"/>
          <p:cNvSpPr/>
          <p:nvPr/>
        </p:nvSpPr>
        <p:spPr>
          <a:xfrm>
            <a:off x="365760" y="2587752"/>
            <a:ext cx="274320" cy="274320"/>
          </a:xfrm>
          <a:prstGeom prst="rect">
            <a:avLst/>
          </a:prstGeom>
          <a:solidFill>
            <a:srgbClr val="22D3EE">
              <a:alpha val="60000"/>
            </a:srgbClr>
          </a:solidFill>
          <a:ln w="12700">
            <a:solidFill>
              <a:srgbClr val="22D3EE"/>
            </a:solidFill>
            <a:prstDash val="solid"/>
          </a:ln>
        </p:spPr>
      </p:sp>
      <p:sp>
        <p:nvSpPr>
          <p:cNvPr id="16" name="Text 14"/>
          <p:cNvSpPr/>
          <p:nvPr/>
        </p:nvSpPr>
        <p:spPr>
          <a:xfrm>
            <a:off x="365760" y="2587752"/>
            <a:ext cx="274320" cy="274320"/>
          </a:xfrm>
          <a:prstGeom prst="rect">
            <a:avLst/>
          </a:prstGeom>
          <a:noFill/>
        </p:spPr>
        <p:txBody>
          <a:bodyPr wrap="square" rtlCol="0" anchor="ctr"/>
          <a:lstStyle/>
          <a:p>
            <a:pPr marL="0" indent="0" algn="ctr">
              <a:buNone/>
            </a:pPr>
            <a:r>
              <a:rPr lang="en-US" sz="900" b="1" dirty="0">
                <a:solidFill>
                  <a:srgbClr val="FFFFFF"/>
                </a:solidFill>
              </a:rPr>
              <a:t>3</a:t>
            </a:r>
            <a:endParaRPr lang="en-US" sz="900" dirty="0"/>
          </a:p>
        </p:txBody>
      </p:sp>
      <p:sp>
        <p:nvSpPr>
          <p:cNvPr id="17" name="Text 15"/>
          <p:cNvSpPr/>
          <p:nvPr/>
        </p:nvSpPr>
        <p:spPr>
          <a:xfrm>
            <a:off x="749808" y="2542032"/>
            <a:ext cx="3474720" cy="384048"/>
          </a:xfrm>
          <a:prstGeom prst="rect">
            <a:avLst/>
          </a:prstGeom>
          <a:noFill/>
        </p:spPr>
        <p:txBody>
          <a:bodyPr wrap="square" rtlCol="0" anchor="ctr"/>
          <a:lstStyle/>
          <a:p>
            <a:pPr marL="0" indent="0">
              <a:buNone/>
            </a:pPr>
            <a:r>
              <a:rPr lang="en-US" sz="1000" dirty="0">
                <a:solidFill>
                  <a:srgbClr val="D1D5DB"/>
                </a:solidFill>
              </a:rPr>
              <a:t>Standardized column data types (text, decimal, whole)</a:t>
            </a:r>
            <a:endParaRPr lang="en-US" sz="1000" dirty="0"/>
          </a:p>
        </p:txBody>
      </p:sp>
      <p:sp>
        <p:nvSpPr>
          <p:cNvPr id="18" name="Shape 16"/>
          <p:cNvSpPr/>
          <p:nvPr/>
        </p:nvSpPr>
        <p:spPr>
          <a:xfrm>
            <a:off x="365760" y="3026664"/>
            <a:ext cx="274320" cy="274320"/>
          </a:xfrm>
          <a:prstGeom prst="rect">
            <a:avLst/>
          </a:prstGeom>
          <a:solidFill>
            <a:srgbClr val="22D3EE">
              <a:alpha val="60000"/>
            </a:srgbClr>
          </a:solidFill>
          <a:ln w="12700">
            <a:solidFill>
              <a:srgbClr val="22D3EE"/>
            </a:solidFill>
            <a:prstDash val="solid"/>
          </a:ln>
        </p:spPr>
      </p:sp>
      <p:sp>
        <p:nvSpPr>
          <p:cNvPr id="19" name="Text 17"/>
          <p:cNvSpPr/>
          <p:nvPr/>
        </p:nvSpPr>
        <p:spPr>
          <a:xfrm>
            <a:off x="365760" y="3026664"/>
            <a:ext cx="274320" cy="274320"/>
          </a:xfrm>
          <a:prstGeom prst="rect">
            <a:avLst/>
          </a:prstGeom>
          <a:noFill/>
        </p:spPr>
        <p:txBody>
          <a:bodyPr wrap="square" rtlCol="0" anchor="ctr"/>
          <a:lstStyle/>
          <a:p>
            <a:pPr marL="0" indent="0" algn="ctr">
              <a:buNone/>
            </a:pPr>
            <a:r>
              <a:rPr lang="en-US" sz="900" b="1" dirty="0">
                <a:solidFill>
                  <a:srgbClr val="FFFFFF"/>
                </a:solidFill>
              </a:rPr>
              <a:t>4</a:t>
            </a:r>
            <a:endParaRPr lang="en-US" sz="900" dirty="0"/>
          </a:p>
        </p:txBody>
      </p:sp>
      <p:sp>
        <p:nvSpPr>
          <p:cNvPr id="20" name="Text 18"/>
          <p:cNvSpPr/>
          <p:nvPr/>
        </p:nvSpPr>
        <p:spPr>
          <a:xfrm>
            <a:off x="749808" y="2980944"/>
            <a:ext cx="3474720" cy="384048"/>
          </a:xfrm>
          <a:prstGeom prst="rect">
            <a:avLst/>
          </a:prstGeom>
          <a:noFill/>
        </p:spPr>
        <p:txBody>
          <a:bodyPr wrap="square" rtlCol="0" anchor="ctr"/>
          <a:lstStyle/>
          <a:p>
            <a:pPr marL="0" indent="0">
              <a:buNone/>
            </a:pPr>
            <a:r>
              <a:rPr lang="en-US" sz="1000" dirty="0">
                <a:solidFill>
                  <a:srgbClr val="D1D5DB"/>
                </a:solidFill>
              </a:rPr>
              <a:t>Replaced null max_supply with 0 for infinite-supply coins</a:t>
            </a:r>
            <a:endParaRPr lang="en-US" sz="1000" dirty="0"/>
          </a:p>
        </p:txBody>
      </p:sp>
      <p:sp>
        <p:nvSpPr>
          <p:cNvPr id="21" name="Shape 19"/>
          <p:cNvSpPr/>
          <p:nvPr/>
        </p:nvSpPr>
        <p:spPr>
          <a:xfrm>
            <a:off x="365760" y="3465576"/>
            <a:ext cx="274320" cy="274320"/>
          </a:xfrm>
          <a:prstGeom prst="rect">
            <a:avLst/>
          </a:prstGeom>
          <a:solidFill>
            <a:srgbClr val="22D3EE">
              <a:alpha val="60000"/>
            </a:srgbClr>
          </a:solidFill>
          <a:ln w="12700">
            <a:solidFill>
              <a:srgbClr val="22D3EE"/>
            </a:solidFill>
            <a:prstDash val="solid"/>
          </a:ln>
        </p:spPr>
      </p:sp>
      <p:sp>
        <p:nvSpPr>
          <p:cNvPr id="22" name="Text 20"/>
          <p:cNvSpPr/>
          <p:nvPr/>
        </p:nvSpPr>
        <p:spPr>
          <a:xfrm>
            <a:off x="365760" y="3465576"/>
            <a:ext cx="274320" cy="274320"/>
          </a:xfrm>
          <a:prstGeom prst="rect">
            <a:avLst/>
          </a:prstGeom>
          <a:noFill/>
        </p:spPr>
        <p:txBody>
          <a:bodyPr wrap="square" rtlCol="0" anchor="ctr"/>
          <a:lstStyle/>
          <a:p>
            <a:pPr marL="0" indent="0" algn="ctr">
              <a:buNone/>
            </a:pPr>
            <a:r>
              <a:rPr lang="en-US" sz="900" b="1" dirty="0">
                <a:solidFill>
                  <a:srgbClr val="FFFFFF"/>
                </a:solidFill>
              </a:rPr>
              <a:t>5</a:t>
            </a:r>
            <a:endParaRPr lang="en-US" sz="900" dirty="0"/>
          </a:p>
        </p:txBody>
      </p:sp>
      <p:sp>
        <p:nvSpPr>
          <p:cNvPr id="23" name="Text 21"/>
          <p:cNvSpPr/>
          <p:nvPr/>
        </p:nvSpPr>
        <p:spPr>
          <a:xfrm>
            <a:off x="749808" y="3419856"/>
            <a:ext cx="3474720" cy="384048"/>
          </a:xfrm>
          <a:prstGeom prst="rect">
            <a:avLst/>
          </a:prstGeom>
          <a:noFill/>
        </p:spPr>
        <p:txBody>
          <a:bodyPr wrap="square" rtlCol="0" anchor="ctr"/>
          <a:lstStyle/>
          <a:p>
            <a:pPr marL="0" indent="0">
              <a:buNone/>
            </a:pPr>
            <a:r>
              <a:rPr lang="en-US" sz="1000" dirty="0">
                <a:solidFill>
                  <a:srgbClr val="D1D5DB"/>
                </a:solidFill>
              </a:rPr>
              <a:t>Filtered out coins with zero market cap or missing rank</a:t>
            </a:r>
            <a:endParaRPr lang="en-US" sz="1000" dirty="0"/>
          </a:p>
        </p:txBody>
      </p:sp>
      <p:sp>
        <p:nvSpPr>
          <p:cNvPr id="24" name="Shape 22"/>
          <p:cNvSpPr/>
          <p:nvPr/>
        </p:nvSpPr>
        <p:spPr>
          <a:xfrm>
            <a:off x="365760" y="3904488"/>
            <a:ext cx="274320" cy="274320"/>
          </a:xfrm>
          <a:prstGeom prst="rect">
            <a:avLst/>
          </a:prstGeom>
          <a:solidFill>
            <a:srgbClr val="22D3EE">
              <a:alpha val="60000"/>
            </a:srgbClr>
          </a:solidFill>
          <a:ln w="12700">
            <a:solidFill>
              <a:srgbClr val="22D3EE"/>
            </a:solidFill>
            <a:prstDash val="solid"/>
          </a:ln>
        </p:spPr>
      </p:sp>
      <p:sp>
        <p:nvSpPr>
          <p:cNvPr id="25" name="Text 23"/>
          <p:cNvSpPr/>
          <p:nvPr/>
        </p:nvSpPr>
        <p:spPr>
          <a:xfrm>
            <a:off x="365760" y="3904488"/>
            <a:ext cx="274320" cy="274320"/>
          </a:xfrm>
          <a:prstGeom prst="rect">
            <a:avLst/>
          </a:prstGeom>
          <a:noFill/>
        </p:spPr>
        <p:txBody>
          <a:bodyPr wrap="square" rtlCol="0" anchor="ctr"/>
          <a:lstStyle/>
          <a:p>
            <a:pPr marL="0" indent="0" algn="ctr">
              <a:buNone/>
            </a:pPr>
            <a:r>
              <a:rPr lang="en-US" sz="900" b="1" dirty="0">
                <a:solidFill>
                  <a:srgbClr val="FFFFFF"/>
                </a:solidFill>
              </a:rPr>
              <a:t>6</a:t>
            </a:r>
            <a:endParaRPr lang="en-US" sz="900" dirty="0"/>
          </a:p>
        </p:txBody>
      </p:sp>
      <p:sp>
        <p:nvSpPr>
          <p:cNvPr id="26" name="Text 24"/>
          <p:cNvSpPr/>
          <p:nvPr/>
        </p:nvSpPr>
        <p:spPr>
          <a:xfrm>
            <a:off x="749808" y="3858768"/>
            <a:ext cx="3474720" cy="384048"/>
          </a:xfrm>
          <a:prstGeom prst="rect">
            <a:avLst/>
          </a:prstGeom>
          <a:noFill/>
        </p:spPr>
        <p:txBody>
          <a:bodyPr wrap="square" rtlCol="0" anchor="ctr"/>
          <a:lstStyle/>
          <a:p>
            <a:pPr marL="0" indent="0">
              <a:buNone/>
            </a:pPr>
            <a:r>
              <a:rPr lang="en-US" sz="1000" dirty="0">
                <a:solidFill>
                  <a:srgbClr val="D1D5DB"/>
                </a:solidFill>
              </a:rPr>
              <a:t>Renamed columns for readability and consistency</a:t>
            </a:r>
            <a:endParaRPr lang="en-US" sz="1000" dirty="0"/>
          </a:p>
        </p:txBody>
      </p:sp>
      <p:sp>
        <p:nvSpPr>
          <p:cNvPr id="27" name="Shape 25"/>
          <p:cNvSpPr/>
          <p:nvPr/>
        </p:nvSpPr>
        <p:spPr>
          <a:xfrm>
            <a:off x="365760" y="4343400"/>
            <a:ext cx="274320" cy="274320"/>
          </a:xfrm>
          <a:prstGeom prst="rect">
            <a:avLst/>
          </a:prstGeom>
          <a:solidFill>
            <a:srgbClr val="22D3EE">
              <a:alpha val="60000"/>
            </a:srgbClr>
          </a:solidFill>
          <a:ln w="12700">
            <a:solidFill>
              <a:srgbClr val="22D3EE"/>
            </a:solidFill>
            <a:prstDash val="solid"/>
          </a:ln>
        </p:spPr>
      </p:sp>
      <p:sp>
        <p:nvSpPr>
          <p:cNvPr id="28" name="Text 26"/>
          <p:cNvSpPr/>
          <p:nvPr/>
        </p:nvSpPr>
        <p:spPr>
          <a:xfrm>
            <a:off x="365760" y="4343400"/>
            <a:ext cx="274320" cy="274320"/>
          </a:xfrm>
          <a:prstGeom prst="rect">
            <a:avLst/>
          </a:prstGeom>
          <a:noFill/>
        </p:spPr>
        <p:txBody>
          <a:bodyPr wrap="square" rtlCol="0" anchor="ctr"/>
          <a:lstStyle/>
          <a:p>
            <a:pPr marL="0" indent="0" algn="ctr">
              <a:buNone/>
            </a:pPr>
            <a:r>
              <a:rPr lang="en-US" sz="900" b="1" dirty="0">
                <a:solidFill>
                  <a:srgbClr val="FFFFFF"/>
                </a:solidFill>
              </a:rPr>
              <a:t>7</a:t>
            </a:r>
            <a:endParaRPr lang="en-US" sz="900" dirty="0"/>
          </a:p>
        </p:txBody>
      </p:sp>
      <p:sp>
        <p:nvSpPr>
          <p:cNvPr id="29" name="Text 27"/>
          <p:cNvSpPr/>
          <p:nvPr/>
        </p:nvSpPr>
        <p:spPr>
          <a:xfrm>
            <a:off x="749808" y="4297680"/>
            <a:ext cx="3474720" cy="384048"/>
          </a:xfrm>
          <a:prstGeom prst="rect">
            <a:avLst/>
          </a:prstGeom>
          <a:noFill/>
        </p:spPr>
        <p:txBody>
          <a:bodyPr wrap="square" rtlCol="0" anchor="ctr"/>
          <a:lstStyle/>
          <a:p>
            <a:pPr marL="0" indent="0">
              <a:buNone/>
            </a:pPr>
            <a:r>
              <a:rPr lang="en-US" sz="1000" dirty="0">
                <a:solidFill>
                  <a:srgbClr val="D1D5DB"/>
                </a:solidFill>
              </a:rPr>
              <a:t>Added calculated column: Circulating Ratio %</a:t>
            </a:r>
            <a:endParaRPr lang="en-US" sz="1000" dirty="0"/>
          </a:p>
        </p:txBody>
      </p:sp>
      <p:sp>
        <p:nvSpPr>
          <p:cNvPr id="30" name="Shape 28"/>
          <p:cNvSpPr/>
          <p:nvPr/>
        </p:nvSpPr>
        <p:spPr>
          <a:xfrm>
            <a:off x="4663440" y="1188720"/>
            <a:ext cx="4206240" cy="3611880"/>
          </a:xfrm>
          <a:prstGeom prst="rect">
            <a:avLst/>
          </a:prstGeom>
          <a:solidFill>
            <a:srgbClr val="111827"/>
          </a:solidFill>
          <a:ln w="12700">
            <a:solidFill>
              <a:srgbClr val="6366F1">
                <a:alpha val="40000"/>
              </a:srgbClr>
            </a:solidFill>
            <a:prstDash val="solid"/>
          </a:ln>
        </p:spPr>
      </p:sp>
      <p:sp>
        <p:nvSpPr>
          <p:cNvPr id="31" name="Shape 29"/>
          <p:cNvSpPr/>
          <p:nvPr/>
        </p:nvSpPr>
        <p:spPr>
          <a:xfrm flipV="1">
            <a:off x="4663440" y="1496060"/>
            <a:ext cx="4206240" cy="76200"/>
          </a:xfrm>
          <a:prstGeom prst="rect">
            <a:avLst/>
          </a:prstGeom>
          <a:solidFill>
            <a:srgbClr val="6366F1">
              <a:alpha val="80000"/>
            </a:srgbClr>
          </a:solidFill>
          <a:ln w="12700">
            <a:solidFill>
              <a:srgbClr val="6366F1"/>
            </a:solidFill>
            <a:prstDash val="solid"/>
          </a:ln>
        </p:spPr>
      </p:sp>
      <p:sp>
        <p:nvSpPr>
          <p:cNvPr id="32" name="Text 30"/>
          <p:cNvSpPr/>
          <p:nvPr/>
        </p:nvSpPr>
        <p:spPr>
          <a:xfrm>
            <a:off x="4754880" y="1216152"/>
            <a:ext cx="4023360" cy="320040"/>
          </a:xfrm>
          <a:prstGeom prst="rect">
            <a:avLst/>
          </a:prstGeom>
          <a:noFill/>
        </p:spPr>
        <p:txBody>
          <a:bodyPr wrap="square" rtlCol="0" anchor="ctr"/>
          <a:lstStyle/>
          <a:p>
            <a:pPr marL="0" indent="0">
              <a:buNone/>
            </a:pPr>
            <a:r>
              <a:rPr lang="en-US" sz="1200" b="1" dirty="0">
                <a:solidFill>
                  <a:srgbClr val="6366F1"/>
                </a:solidFill>
              </a:rPr>
              <a:t>📊  DAX — Measures &amp; Columns</a:t>
            </a:r>
            <a:endParaRPr lang="en-US" sz="1200" dirty="0"/>
          </a:p>
        </p:txBody>
      </p:sp>
      <p:sp>
        <p:nvSpPr>
          <p:cNvPr id="33" name="Shape 31"/>
          <p:cNvSpPr/>
          <p:nvPr/>
        </p:nvSpPr>
        <p:spPr>
          <a:xfrm>
            <a:off x="4754880" y="1664208"/>
            <a:ext cx="4023360" cy="365760"/>
          </a:xfrm>
          <a:prstGeom prst="rect">
            <a:avLst/>
          </a:prstGeom>
          <a:solidFill>
            <a:srgbClr val="1F2937"/>
          </a:solidFill>
          <a:ln w="12700">
            <a:solidFill>
              <a:srgbClr val="1F2937"/>
            </a:solidFill>
            <a:prstDash val="solid"/>
          </a:ln>
        </p:spPr>
      </p:sp>
      <p:sp>
        <p:nvSpPr>
          <p:cNvPr id="34" name="Shape 32"/>
          <p:cNvSpPr/>
          <p:nvPr/>
        </p:nvSpPr>
        <p:spPr>
          <a:xfrm>
            <a:off x="4754880" y="1664208"/>
            <a:ext cx="54864" cy="365760"/>
          </a:xfrm>
          <a:prstGeom prst="rect">
            <a:avLst/>
          </a:prstGeom>
          <a:solidFill>
            <a:srgbClr val="6366F1"/>
          </a:solidFill>
          <a:ln w="12700">
            <a:solidFill>
              <a:srgbClr val="6366F1"/>
            </a:solidFill>
            <a:prstDash val="solid"/>
          </a:ln>
        </p:spPr>
      </p:sp>
      <p:sp>
        <p:nvSpPr>
          <p:cNvPr id="35" name="Text 33"/>
          <p:cNvSpPr/>
          <p:nvPr/>
        </p:nvSpPr>
        <p:spPr>
          <a:xfrm>
            <a:off x="4892040" y="1682496"/>
            <a:ext cx="1828800" cy="182880"/>
          </a:xfrm>
          <a:prstGeom prst="rect">
            <a:avLst/>
          </a:prstGeom>
          <a:noFill/>
        </p:spPr>
        <p:txBody>
          <a:bodyPr wrap="square" lIns="0" tIns="0" rIns="0" bIns="0" rtlCol="0" anchor="ctr"/>
          <a:lstStyle/>
          <a:p>
            <a:pPr marL="0" indent="0">
              <a:buNone/>
            </a:pPr>
            <a:r>
              <a:rPr lang="en-US" sz="1000" b="1" dirty="0">
                <a:solidFill>
                  <a:srgbClr val="FFFFFF"/>
                </a:solidFill>
              </a:rPr>
              <a:t>Volatility Score</a:t>
            </a:r>
            <a:endParaRPr lang="en-US" sz="1000" dirty="0"/>
          </a:p>
        </p:txBody>
      </p:sp>
      <p:sp>
        <p:nvSpPr>
          <p:cNvPr id="36" name="Text 34"/>
          <p:cNvSpPr/>
          <p:nvPr/>
        </p:nvSpPr>
        <p:spPr>
          <a:xfrm>
            <a:off x="4892040" y="1847088"/>
            <a:ext cx="3840480" cy="164592"/>
          </a:xfrm>
          <a:prstGeom prst="rect">
            <a:avLst/>
          </a:prstGeom>
          <a:noFill/>
        </p:spPr>
        <p:txBody>
          <a:bodyPr wrap="square" lIns="0" tIns="0" rIns="0" bIns="0" rtlCol="0" anchor="ctr"/>
          <a:lstStyle/>
          <a:p>
            <a:pPr marL="0" indent="0">
              <a:buNone/>
            </a:pPr>
            <a:r>
              <a:rPr lang="en-US" sz="900" dirty="0">
                <a:solidFill>
                  <a:srgbClr val="6B7280"/>
                </a:solidFill>
              </a:rPr>
              <a:t>ABS(24h%) + ABS(7d%)</a:t>
            </a:r>
            <a:endParaRPr lang="en-US" sz="900" dirty="0"/>
          </a:p>
        </p:txBody>
      </p:sp>
      <p:sp>
        <p:nvSpPr>
          <p:cNvPr id="37" name="Shape 35"/>
          <p:cNvSpPr/>
          <p:nvPr/>
        </p:nvSpPr>
        <p:spPr>
          <a:xfrm>
            <a:off x="4754880" y="2103120"/>
            <a:ext cx="4023360" cy="365760"/>
          </a:xfrm>
          <a:prstGeom prst="rect">
            <a:avLst/>
          </a:prstGeom>
          <a:solidFill>
            <a:srgbClr val="1F2937"/>
          </a:solidFill>
          <a:ln w="12700">
            <a:solidFill>
              <a:srgbClr val="1F2937"/>
            </a:solidFill>
            <a:prstDash val="solid"/>
          </a:ln>
        </p:spPr>
      </p:sp>
      <p:sp>
        <p:nvSpPr>
          <p:cNvPr id="38" name="Shape 36"/>
          <p:cNvSpPr/>
          <p:nvPr/>
        </p:nvSpPr>
        <p:spPr>
          <a:xfrm>
            <a:off x="4754880" y="2103120"/>
            <a:ext cx="54864" cy="365760"/>
          </a:xfrm>
          <a:prstGeom prst="rect">
            <a:avLst/>
          </a:prstGeom>
          <a:solidFill>
            <a:srgbClr val="6366F1"/>
          </a:solidFill>
          <a:ln w="12700">
            <a:solidFill>
              <a:srgbClr val="6366F1"/>
            </a:solidFill>
            <a:prstDash val="solid"/>
          </a:ln>
        </p:spPr>
      </p:sp>
      <p:sp>
        <p:nvSpPr>
          <p:cNvPr id="39" name="Text 37"/>
          <p:cNvSpPr/>
          <p:nvPr/>
        </p:nvSpPr>
        <p:spPr>
          <a:xfrm>
            <a:off x="4892040" y="2121408"/>
            <a:ext cx="1828800" cy="182880"/>
          </a:xfrm>
          <a:prstGeom prst="rect">
            <a:avLst/>
          </a:prstGeom>
          <a:noFill/>
        </p:spPr>
        <p:txBody>
          <a:bodyPr wrap="square" lIns="0" tIns="0" rIns="0" bIns="0" rtlCol="0" anchor="ctr"/>
          <a:lstStyle/>
          <a:p>
            <a:pPr marL="0" indent="0">
              <a:buNone/>
            </a:pPr>
            <a:r>
              <a:rPr lang="en-US" sz="1000" b="1" dirty="0">
                <a:solidFill>
                  <a:srgbClr val="FFFFFF"/>
                </a:solidFill>
              </a:rPr>
              <a:t>Volatility Index</a:t>
            </a:r>
            <a:endParaRPr lang="en-US" sz="1000" dirty="0"/>
          </a:p>
        </p:txBody>
      </p:sp>
      <p:sp>
        <p:nvSpPr>
          <p:cNvPr id="40" name="Text 38"/>
          <p:cNvSpPr/>
          <p:nvPr/>
        </p:nvSpPr>
        <p:spPr>
          <a:xfrm>
            <a:off x="4892040" y="2286000"/>
            <a:ext cx="3840480" cy="164592"/>
          </a:xfrm>
          <a:prstGeom prst="rect">
            <a:avLst/>
          </a:prstGeom>
          <a:noFill/>
        </p:spPr>
        <p:txBody>
          <a:bodyPr wrap="square" lIns="0" tIns="0" rIns="0" bIns="0" rtlCol="0" anchor="ctr"/>
          <a:lstStyle/>
          <a:p>
            <a:pPr marL="0" indent="0">
              <a:buNone/>
            </a:pPr>
            <a:r>
              <a:rPr lang="en-US" sz="900" dirty="0">
                <a:solidFill>
                  <a:srgbClr val="6B7280"/>
                </a:solidFill>
              </a:rPr>
              <a:t>Price STD / AVG Price</a:t>
            </a:r>
            <a:endParaRPr lang="en-US" sz="900" dirty="0"/>
          </a:p>
        </p:txBody>
      </p:sp>
      <p:sp>
        <p:nvSpPr>
          <p:cNvPr id="41" name="Shape 39"/>
          <p:cNvSpPr/>
          <p:nvPr/>
        </p:nvSpPr>
        <p:spPr>
          <a:xfrm>
            <a:off x="4754880" y="2542032"/>
            <a:ext cx="4023360" cy="365760"/>
          </a:xfrm>
          <a:prstGeom prst="rect">
            <a:avLst/>
          </a:prstGeom>
          <a:solidFill>
            <a:srgbClr val="1F2937"/>
          </a:solidFill>
          <a:ln w="12700">
            <a:solidFill>
              <a:srgbClr val="1F2937"/>
            </a:solidFill>
            <a:prstDash val="solid"/>
          </a:ln>
        </p:spPr>
      </p:sp>
      <p:sp>
        <p:nvSpPr>
          <p:cNvPr id="42" name="Shape 40"/>
          <p:cNvSpPr/>
          <p:nvPr/>
        </p:nvSpPr>
        <p:spPr>
          <a:xfrm>
            <a:off x="4754880" y="2542032"/>
            <a:ext cx="54864" cy="365760"/>
          </a:xfrm>
          <a:prstGeom prst="rect">
            <a:avLst/>
          </a:prstGeom>
          <a:solidFill>
            <a:srgbClr val="6366F1"/>
          </a:solidFill>
          <a:ln w="12700">
            <a:solidFill>
              <a:srgbClr val="6366F1"/>
            </a:solidFill>
            <a:prstDash val="solid"/>
          </a:ln>
        </p:spPr>
      </p:sp>
      <p:sp>
        <p:nvSpPr>
          <p:cNvPr id="43" name="Text 41"/>
          <p:cNvSpPr/>
          <p:nvPr/>
        </p:nvSpPr>
        <p:spPr>
          <a:xfrm>
            <a:off x="4892040" y="2560320"/>
            <a:ext cx="1828800" cy="182880"/>
          </a:xfrm>
          <a:prstGeom prst="rect">
            <a:avLst/>
          </a:prstGeom>
          <a:noFill/>
        </p:spPr>
        <p:txBody>
          <a:bodyPr wrap="square" lIns="0" tIns="0" rIns="0" bIns="0" rtlCol="0" anchor="ctr"/>
          <a:lstStyle/>
          <a:p>
            <a:pPr marL="0" indent="0">
              <a:buNone/>
            </a:pPr>
            <a:r>
              <a:rPr lang="en-US" sz="1000" b="1" dirty="0">
                <a:solidFill>
                  <a:srgbClr val="FFFFFF"/>
                </a:solidFill>
              </a:rPr>
              <a:t>Market Dominance</a:t>
            </a:r>
            <a:endParaRPr lang="en-US" sz="1000" dirty="0"/>
          </a:p>
        </p:txBody>
      </p:sp>
      <p:sp>
        <p:nvSpPr>
          <p:cNvPr id="44" name="Text 42"/>
          <p:cNvSpPr/>
          <p:nvPr/>
        </p:nvSpPr>
        <p:spPr>
          <a:xfrm>
            <a:off x="4892040" y="2724912"/>
            <a:ext cx="3840480" cy="164592"/>
          </a:xfrm>
          <a:prstGeom prst="rect">
            <a:avLst/>
          </a:prstGeom>
          <a:noFill/>
        </p:spPr>
        <p:txBody>
          <a:bodyPr wrap="square" lIns="0" tIns="0" rIns="0" bIns="0" rtlCol="0" anchor="ctr"/>
          <a:lstStyle/>
          <a:p>
            <a:pPr marL="0" indent="0">
              <a:buNone/>
            </a:pPr>
            <a:r>
              <a:rPr lang="en-US" sz="900" dirty="0">
                <a:solidFill>
                  <a:srgbClr val="6B7280"/>
                </a:solidFill>
              </a:rPr>
              <a:t>Market Cap / Total Mkt Cap</a:t>
            </a:r>
            <a:endParaRPr lang="en-US" sz="900" dirty="0"/>
          </a:p>
        </p:txBody>
      </p:sp>
      <p:sp>
        <p:nvSpPr>
          <p:cNvPr id="45" name="Shape 43"/>
          <p:cNvSpPr/>
          <p:nvPr/>
        </p:nvSpPr>
        <p:spPr>
          <a:xfrm>
            <a:off x="4754880" y="2980944"/>
            <a:ext cx="4023360" cy="365760"/>
          </a:xfrm>
          <a:prstGeom prst="rect">
            <a:avLst/>
          </a:prstGeom>
          <a:solidFill>
            <a:srgbClr val="1F2937"/>
          </a:solidFill>
          <a:ln w="12700">
            <a:solidFill>
              <a:srgbClr val="1F2937"/>
            </a:solidFill>
            <a:prstDash val="solid"/>
          </a:ln>
        </p:spPr>
      </p:sp>
      <p:sp>
        <p:nvSpPr>
          <p:cNvPr id="46" name="Shape 44"/>
          <p:cNvSpPr/>
          <p:nvPr/>
        </p:nvSpPr>
        <p:spPr>
          <a:xfrm>
            <a:off x="4754880" y="2980944"/>
            <a:ext cx="54864" cy="365760"/>
          </a:xfrm>
          <a:prstGeom prst="rect">
            <a:avLst/>
          </a:prstGeom>
          <a:solidFill>
            <a:srgbClr val="6366F1"/>
          </a:solidFill>
          <a:ln w="12700">
            <a:solidFill>
              <a:srgbClr val="6366F1"/>
            </a:solidFill>
            <a:prstDash val="solid"/>
          </a:ln>
        </p:spPr>
      </p:sp>
      <p:sp>
        <p:nvSpPr>
          <p:cNvPr id="47" name="Text 45"/>
          <p:cNvSpPr/>
          <p:nvPr/>
        </p:nvSpPr>
        <p:spPr>
          <a:xfrm>
            <a:off x="4892040" y="2999232"/>
            <a:ext cx="1828800" cy="182880"/>
          </a:xfrm>
          <a:prstGeom prst="rect">
            <a:avLst/>
          </a:prstGeom>
          <a:noFill/>
        </p:spPr>
        <p:txBody>
          <a:bodyPr wrap="square" lIns="0" tIns="0" rIns="0" bIns="0" rtlCol="0" anchor="ctr"/>
          <a:lstStyle/>
          <a:p>
            <a:pPr marL="0" indent="0">
              <a:buNone/>
            </a:pPr>
            <a:r>
              <a:rPr lang="en-US" sz="1000" b="1" dirty="0">
                <a:solidFill>
                  <a:srgbClr val="FFFFFF"/>
                </a:solidFill>
              </a:rPr>
              <a:t>Scarcity Level</a:t>
            </a:r>
            <a:endParaRPr lang="en-US" sz="1000" dirty="0"/>
          </a:p>
        </p:txBody>
      </p:sp>
      <p:sp>
        <p:nvSpPr>
          <p:cNvPr id="48" name="Text 46"/>
          <p:cNvSpPr/>
          <p:nvPr/>
        </p:nvSpPr>
        <p:spPr>
          <a:xfrm>
            <a:off x="4892040" y="3163824"/>
            <a:ext cx="3840480" cy="164592"/>
          </a:xfrm>
          <a:prstGeom prst="rect">
            <a:avLst/>
          </a:prstGeom>
          <a:noFill/>
        </p:spPr>
        <p:txBody>
          <a:bodyPr wrap="square" lIns="0" tIns="0" rIns="0" bIns="0" rtlCol="0" anchor="ctr"/>
          <a:lstStyle/>
          <a:p>
            <a:pPr marL="0" indent="0">
              <a:buNone/>
            </a:pPr>
            <a:r>
              <a:rPr lang="en-US" sz="900" dirty="0">
                <a:solidFill>
                  <a:srgbClr val="6B7280"/>
                </a:solidFill>
              </a:rPr>
              <a:t>IF Circulating &gt; 90% → High</a:t>
            </a:r>
            <a:endParaRPr lang="en-US" sz="900" dirty="0"/>
          </a:p>
        </p:txBody>
      </p:sp>
      <p:sp>
        <p:nvSpPr>
          <p:cNvPr id="49" name="Shape 47"/>
          <p:cNvSpPr/>
          <p:nvPr/>
        </p:nvSpPr>
        <p:spPr>
          <a:xfrm>
            <a:off x="4754880" y="3419856"/>
            <a:ext cx="4023360" cy="365760"/>
          </a:xfrm>
          <a:prstGeom prst="rect">
            <a:avLst/>
          </a:prstGeom>
          <a:solidFill>
            <a:srgbClr val="1F2937"/>
          </a:solidFill>
          <a:ln w="12700">
            <a:solidFill>
              <a:srgbClr val="1F2937"/>
            </a:solidFill>
            <a:prstDash val="solid"/>
          </a:ln>
        </p:spPr>
      </p:sp>
      <p:sp>
        <p:nvSpPr>
          <p:cNvPr id="50" name="Shape 48"/>
          <p:cNvSpPr/>
          <p:nvPr/>
        </p:nvSpPr>
        <p:spPr>
          <a:xfrm>
            <a:off x="4754880" y="3419856"/>
            <a:ext cx="54864" cy="365760"/>
          </a:xfrm>
          <a:prstGeom prst="rect">
            <a:avLst/>
          </a:prstGeom>
          <a:solidFill>
            <a:srgbClr val="6366F1"/>
          </a:solidFill>
          <a:ln w="12700">
            <a:solidFill>
              <a:srgbClr val="6366F1"/>
            </a:solidFill>
            <a:prstDash val="solid"/>
          </a:ln>
        </p:spPr>
      </p:sp>
      <p:sp>
        <p:nvSpPr>
          <p:cNvPr id="51" name="Text 49"/>
          <p:cNvSpPr/>
          <p:nvPr/>
        </p:nvSpPr>
        <p:spPr>
          <a:xfrm>
            <a:off x="4892040" y="3438144"/>
            <a:ext cx="1828800" cy="182880"/>
          </a:xfrm>
          <a:prstGeom prst="rect">
            <a:avLst/>
          </a:prstGeom>
          <a:noFill/>
        </p:spPr>
        <p:txBody>
          <a:bodyPr wrap="square" lIns="0" tIns="0" rIns="0" bIns="0" rtlCol="0" anchor="ctr"/>
          <a:lstStyle/>
          <a:p>
            <a:pPr marL="0" indent="0">
              <a:buNone/>
            </a:pPr>
            <a:r>
              <a:rPr lang="en-US" sz="1000" b="1" dirty="0">
                <a:solidFill>
                  <a:srgbClr val="FFFFFF"/>
                </a:solidFill>
              </a:rPr>
              <a:t>Performance Category</a:t>
            </a:r>
            <a:endParaRPr lang="en-US" sz="1000" dirty="0"/>
          </a:p>
        </p:txBody>
      </p:sp>
      <p:sp>
        <p:nvSpPr>
          <p:cNvPr id="52" name="Text 50"/>
          <p:cNvSpPr/>
          <p:nvPr/>
        </p:nvSpPr>
        <p:spPr>
          <a:xfrm>
            <a:off x="4892040" y="3602736"/>
            <a:ext cx="3840480" cy="164592"/>
          </a:xfrm>
          <a:prstGeom prst="rect">
            <a:avLst/>
          </a:prstGeom>
          <a:noFill/>
        </p:spPr>
        <p:txBody>
          <a:bodyPr wrap="square" lIns="0" tIns="0" rIns="0" bIns="0" rtlCol="0" anchor="ctr"/>
          <a:lstStyle/>
          <a:p>
            <a:pPr marL="0" indent="0">
              <a:buNone/>
            </a:pPr>
            <a:r>
              <a:rPr lang="en-US" sz="900" dirty="0">
                <a:solidFill>
                  <a:srgbClr val="6B7280"/>
                </a:solidFill>
              </a:rPr>
              <a:t>Based on 24h &amp; 7d % change</a:t>
            </a:r>
            <a:endParaRPr lang="en-US" sz="900" dirty="0"/>
          </a:p>
        </p:txBody>
      </p:sp>
      <p:sp>
        <p:nvSpPr>
          <p:cNvPr id="53" name="Shape 51"/>
          <p:cNvSpPr/>
          <p:nvPr/>
        </p:nvSpPr>
        <p:spPr>
          <a:xfrm>
            <a:off x="4754880" y="3858768"/>
            <a:ext cx="4023360" cy="365760"/>
          </a:xfrm>
          <a:prstGeom prst="rect">
            <a:avLst/>
          </a:prstGeom>
          <a:solidFill>
            <a:srgbClr val="1F2937"/>
          </a:solidFill>
          <a:ln w="12700">
            <a:solidFill>
              <a:srgbClr val="1F2937"/>
            </a:solidFill>
            <a:prstDash val="solid"/>
          </a:ln>
        </p:spPr>
      </p:sp>
      <p:sp>
        <p:nvSpPr>
          <p:cNvPr id="54" name="Shape 52"/>
          <p:cNvSpPr/>
          <p:nvPr/>
        </p:nvSpPr>
        <p:spPr>
          <a:xfrm>
            <a:off x="4754880" y="3858768"/>
            <a:ext cx="54864" cy="365760"/>
          </a:xfrm>
          <a:prstGeom prst="rect">
            <a:avLst/>
          </a:prstGeom>
          <a:solidFill>
            <a:srgbClr val="6366F1"/>
          </a:solidFill>
          <a:ln w="12700">
            <a:solidFill>
              <a:srgbClr val="6366F1"/>
            </a:solidFill>
            <a:prstDash val="solid"/>
          </a:ln>
        </p:spPr>
      </p:sp>
      <p:sp>
        <p:nvSpPr>
          <p:cNvPr id="55" name="Text 53"/>
          <p:cNvSpPr/>
          <p:nvPr/>
        </p:nvSpPr>
        <p:spPr>
          <a:xfrm>
            <a:off x="4892040" y="3877056"/>
            <a:ext cx="1828800" cy="182880"/>
          </a:xfrm>
          <a:prstGeom prst="rect">
            <a:avLst/>
          </a:prstGeom>
          <a:noFill/>
        </p:spPr>
        <p:txBody>
          <a:bodyPr wrap="square" lIns="0" tIns="0" rIns="0" bIns="0" rtlCol="0" anchor="ctr"/>
          <a:lstStyle/>
          <a:p>
            <a:pPr marL="0" indent="0">
              <a:buNone/>
            </a:pPr>
            <a:r>
              <a:rPr lang="en-US" sz="1000" b="1" dirty="0">
                <a:solidFill>
                  <a:srgbClr val="FFFFFF"/>
                </a:solidFill>
              </a:rPr>
              <a:t>Rank Category</a:t>
            </a:r>
            <a:endParaRPr lang="en-US" sz="1000" dirty="0"/>
          </a:p>
        </p:txBody>
      </p:sp>
      <p:sp>
        <p:nvSpPr>
          <p:cNvPr id="56" name="Text 54"/>
          <p:cNvSpPr/>
          <p:nvPr/>
        </p:nvSpPr>
        <p:spPr>
          <a:xfrm>
            <a:off x="4892040" y="4041648"/>
            <a:ext cx="3840480" cy="164592"/>
          </a:xfrm>
          <a:prstGeom prst="rect">
            <a:avLst/>
          </a:prstGeom>
          <a:noFill/>
        </p:spPr>
        <p:txBody>
          <a:bodyPr wrap="square" lIns="0" tIns="0" rIns="0" bIns="0" rtlCol="0" anchor="ctr"/>
          <a:lstStyle/>
          <a:p>
            <a:pPr marL="0" indent="0">
              <a:buNone/>
            </a:pPr>
            <a:r>
              <a:rPr lang="en-US" sz="900" dirty="0">
                <a:solidFill>
                  <a:srgbClr val="6B7280"/>
                </a:solidFill>
              </a:rPr>
              <a:t>Top 10 / 11–50 / 51–100</a:t>
            </a:r>
            <a:endParaRPr lang="en-US" sz="900" dirty="0"/>
          </a:p>
        </p:txBody>
      </p:sp>
      <p:sp>
        <p:nvSpPr>
          <p:cNvPr id="57" name="Shape 55"/>
          <p:cNvSpPr/>
          <p:nvPr/>
        </p:nvSpPr>
        <p:spPr>
          <a:xfrm>
            <a:off x="4754880" y="4297680"/>
            <a:ext cx="4023360" cy="365760"/>
          </a:xfrm>
          <a:prstGeom prst="rect">
            <a:avLst/>
          </a:prstGeom>
          <a:solidFill>
            <a:srgbClr val="1F2937"/>
          </a:solidFill>
          <a:ln w="12700">
            <a:solidFill>
              <a:srgbClr val="1F2937"/>
            </a:solidFill>
            <a:prstDash val="solid"/>
          </a:ln>
        </p:spPr>
      </p:sp>
      <p:sp>
        <p:nvSpPr>
          <p:cNvPr id="58" name="Shape 56"/>
          <p:cNvSpPr/>
          <p:nvPr/>
        </p:nvSpPr>
        <p:spPr>
          <a:xfrm>
            <a:off x="4754880" y="4297680"/>
            <a:ext cx="54864" cy="365760"/>
          </a:xfrm>
          <a:prstGeom prst="rect">
            <a:avLst/>
          </a:prstGeom>
          <a:solidFill>
            <a:srgbClr val="6366F1"/>
          </a:solidFill>
          <a:ln w="12700">
            <a:solidFill>
              <a:srgbClr val="6366F1"/>
            </a:solidFill>
            <a:prstDash val="solid"/>
          </a:ln>
        </p:spPr>
      </p:sp>
      <p:sp>
        <p:nvSpPr>
          <p:cNvPr id="59" name="Text 57"/>
          <p:cNvSpPr/>
          <p:nvPr/>
        </p:nvSpPr>
        <p:spPr>
          <a:xfrm>
            <a:off x="4892040" y="4315968"/>
            <a:ext cx="1828800" cy="182880"/>
          </a:xfrm>
          <a:prstGeom prst="rect">
            <a:avLst/>
          </a:prstGeom>
          <a:noFill/>
        </p:spPr>
        <p:txBody>
          <a:bodyPr wrap="square" lIns="0" tIns="0" rIns="0" bIns="0" rtlCol="0" anchor="ctr"/>
          <a:lstStyle/>
          <a:p>
            <a:pPr marL="0" indent="0">
              <a:buNone/>
            </a:pPr>
            <a:r>
              <a:rPr lang="en-US" sz="1000" b="1" dirty="0">
                <a:solidFill>
                  <a:srgbClr val="FFFFFF"/>
                </a:solidFill>
              </a:rPr>
              <a:t>MC vs FDV Ratio</a:t>
            </a:r>
            <a:endParaRPr lang="en-US" sz="1000" dirty="0"/>
          </a:p>
        </p:txBody>
      </p:sp>
      <p:sp>
        <p:nvSpPr>
          <p:cNvPr id="60" name="Text 58"/>
          <p:cNvSpPr/>
          <p:nvPr/>
        </p:nvSpPr>
        <p:spPr>
          <a:xfrm>
            <a:off x="4892040" y="4480560"/>
            <a:ext cx="3840480" cy="164592"/>
          </a:xfrm>
          <a:prstGeom prst="rect">
            <a:avLst/>
          </a:prstGeom>
          <a:noFill/>
        </p:spPr>
        <p:txBody>
          <a:bodyPr wrap="square" lIns="0" tIns="0" rIns="0" bIns="0" rtlCol="0" anchor="ctr"/>
          <a:lstStyle/>
          <a:p>
            <a:pPr marL="0" indent="0">
              <a:buNone/>
            </a:pPr>
            <a:r>
              <a:rPr lang="en-US" sz="900" dirty="0">
                <a:solidFill>
                  <a:srgbClr val="6B7280"/>
                </a:solidFill>
              </a:rPr>
              <a:t>Market Cap / FDV</a:t>
            </a:r>
            <a:endParaRPr lang="en-US" sz="900" dirty="0"/>
          </a:p>
        </p:txBody>
      </p:sp>
      <p:sp>
        <p:nvSpPr>
          <p:cNvPr id="61" name="Shape 59"/>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0" y="0"/>
            <a:ext cx="54864" cy="5143500"/>
          </a:xfrm>
          <a:prstGeom prst="rect">
            <a:avLst/>
          </a:prstGeom>
          <a:solidFill>
            <a:srgbClr val="10B981"/>
          </a:solidFill>
          <a:ln w="12700">
            <a:solidFill>
              <a:srgbClr val="10B981"/>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22D3EE"/>
                </a:solidFill>
              </a:rPr>
              <a:t>DASHBOARD OVERVIEW</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6 Interactive Power BI Pages</a:t>
            </a:r>
            <a:endParaRPr lang="en-US" sz="2800" dirty="0"/>
          </a:p>
        </p:txBody>
      </p:sp>
      <p:sp>
        <p:nvSpPr>
          <p:cNvPr id="6" name="Shape 4"/>
          <p:cNvSpPr/>
          <p:nvPr/>
        </p:nvSpPr>
        <p:spPr>
          <a:xfrm>
            <a:off x="274320" y="1234440"/>
            <a:ext cx="2697480" cy="1554480"/>
          </a:xfrm>
          <a:prstGeom prst="rect">
            <a:avLst/>
          </a:prstGeom>
          <a:solidFill>
            <a:srgbClr val="111827"/>
          </a:solidFill>
          <a:ln w="12700">
            <a:solidFill>
              <a:srgbClr val="22D3EE">
                <a:alpha val="45000"/>
              </a:srgbClr>
            </a:solidFill>
            <a:prstDash val="solid"/>
          </a:ln>
          <a:effectLst>
            <a:outerShdw blurRad="101600" dist="25400" dir="8100000" algn="bl" rotWithShape="0">
              <a:srgbClr val="000000">
                <a:alpha val="40000"/>
              </a:srgbClr>
            </a:outerShdw>
          </a:effectLst>
        </p:spPr>
      </p:sp>
      <p:sp>
        <p:nvSpPr>
          <p:cNvPr id="7" name="Shape 5"/>
          <p:cNvSpPr/>
          <p:nvPr/>
        </p:nvSpPr>
        <p:spPr>
          <a:xfrm>
            <a:off x="274320" y="1234440"/>
            <a:ext cx="2697480" cy="54864"/>
          </a:xfrm>
          <a:prstGeom prst="rect">
            <a:avLst/>
          </a:prstGeom>
          <a:solidFill>
            <a:srgbClr val="22D3EE"/>
          </a:solidFill>
          <a:ln w="12700">
            <a:solidFill>
              <a:srgbClr val="22D3EE"/>
            </a:solidFill>
            <a:prstDash val="solid"/>
          </a:ln>
        </p:spPr>
      </p:sp>
      <p:sp>
        <p:nvSpPr>
          <p:cNvPr id="8" name="Shape 6"/>
          <p:cNvSpPr/>
          <p:nvPr/>
        </p:nvSpPr>
        <p:spPr>
          <a:xfrm>
            <a:off x="411480" y="1371600"/>
            <a:ext cx="457200" cy="457200"/>
          </a:xfrm>
          <a:prstGeom prst="ellipse">
            <a:avLst/>
          </a:prstGeom>
          <a:solidFill>
            <a:srgbClr val="22D3EE">
              <a:alpha val="80000"/>
            </a:srgbClr>
          </a:solidFill>
          <a:ln w="12700">
            <a:solidFill>
              <a:srgbClr val="22D3EE"/>
            </a:solidFill>
            <a:prstDash val="solid"/>
          </a:ln>
        </p:spPr>
      </p:sp>
      <p:sp>
        <p:nvSpPr>
          <p:cNvPr id="9" name="Text 7"/>
          <p:cNvSpPr/>
          <p:nvPr/>
        </p:nvSpPr>
        <p:spPr>
          <a:xfrm>
            <a:off x="411480" y="1371600"/>
            <a:ext cx="457200" cy="457200"/>
          </a:xfrm>
          <a:prstGeom prst="rect">
            <a:avLst/>
          </a:prstGeom>
          <a:noFill/>
        </p:spPr>
        <p:txBody>
          <a:bodyPr wrap="square" rtlCol="0" anchor="ctr"/>
          <a:lstStyle/>
          <a:p>
            <a:pPr marL="0" indent="0" algn="ctr">
              <a:buNone/>
            </a:pPr>
            <a:r>
              <a:rPr lang="en-US" sz="1100" b="1" dirty="0">
                <a:solidFill>
                  <a:srgbClr val="FFFFFF"/>
                </a:solidFill>
              </a:rPr>
              <a:t>01</a:t>
            </a:r>
            <a:endParaRPr lang="en-US" sz="1100" dirty="0"/>
          </a:p>
        </p:txBody>
      </p:sp>
      <p:sp>
        <p:nvSpPr>
          <p:cNvPr id="10" name="Text 8"/>
          <p:cNvSpPr/>
          <p:nvPr/>
        </p:nvSpPr>
        <p:spPr>
          <a:xfrm>
            <a:off x="960120" y="1399032"/>
            <a:ext cx="1920240" cy="347472"/>
          </a:xfrm>
          <a:prstGeom prst="rect">
            <a:avLst/>
          </a:prstGeom>
          <a:noFill/>
        </p:spPr>
        <p:txBody>
          <a:bodyPr wrap="square" lIns="0" tIns="0" rIns="0" bIns="0" rtlCol="0" anchor="ctr"/>
          <a:lstStyle/>
          <a:p>
            <a:pPr marL="0" indent="0">
              <a:buNone/>
            </a:pPr>
            <a:r>
              <a:rPr lang="en-US" sz="1200" b="1" dirty="0">
                <a:solidFill>
                  <a:srgbClr val="FFFFFF"/>
                </a:solidFill>
              </a:rPr>
              <a:t>Market Overview</a:t>
            </a:r>
            <a:endParaRPr lang="en-US" sz="1200" dirty="0"/>
          </a:p>
        </p:txBody>
      </p:sp>
      <p:sp>
        <p:nvSpPr>
          <p:cNvPr id="11" name="Text 9"/>
          <p:cNvSpPr/>
          <p:nvPr/>
        </p:nvSpPr>
        <p:spPr>
          <a:xfrm>
            <a:off x="384048" y="1874520"/>
            <a:ext cx="2487168" cy="822960"/>
          </a:xfrm>
          <a:prstGeom prst="rect">
            <a:avLst/>
          </a:prstGeom>
          <a:noFill/>
        </p:spPr>
        <p:txBody>
          <a:bodyPr wrap="square" rtlCol="0" anchor="ctr"/>
          <a:lstStyle/>
          <a:p>
            <a:pPr marL="0" indent="0">
              <a:buNone/>
            </a:pPr>
            <a:r>
              <a:rPr lang="en-US" sz="950" dirty="0">
                <a:solidFill>
                  <a:srgbClr val="D1D5DB"/>
                </a:solidFill>
              </a:rPr>
              <a:t>Total market cap, coin count, volume, average price, top-10 rankings, and top gainers at a glance.</a:t>
            </a:r>
            <a:endParaRPr lang="en-US" sz="950" dirty="0"/>
          </a:p>
        </p:txBody>
      </p:sp>
      <p:sp>
        <p:nvSpPr>
          <p:cNvPr id="12" name="Shape 10"/>
          <p:cNvSpPr/>
          <p:nvPr/>
        </p:nvSpPr>
        <p:spPr>
          <a:xfrm>
            <a:off x="3154680" y="1234440"/>
            <a:ext cx="2697480" cy="1554480"/>
          </a:xfrm>
          <a:prstGeom prst="rect">
            <a:avLst/>
          </a:prstGeom>
          <a:solidFill>
            <a:srgbClr val="111827"/>
          </a:solidFill>
          <a:ln w="12700">
            <a:solidFill>
              <a:srgbClr val="10B981">
                <a:alpha val="45000"/>
              </a:srgbClr>
            </a:solidFill>
            <a:prstDash val="solid"/>
          </a:ln>
          <a:effectLst>
            <a:outerShdw blurRad="101600" dist="25400" dir="8100000" algn="bl" rotWithShape="0">
              <a:srgbClr val="000000">
                <a:alpha val="40000"/>
              </a:srgbClr>
            </a:outerShdw>
          </a:effectLst>
        </p:spPr>
      </p:sp>
      <p:sp>
        <p:nvSpPr>
          <p:cNvPr id="13" name="Shape 11"/>
          <p:cNvSpPr/>
          <p:nvPr/>
        </p:nvSpPr>
        <p:spPr>
          <a:xfrm>
            <a:off x="3154680" y="1234440"/>
            <a:ext cx="2697480" cy="54864"/>
          </a:xfrm>
          <a:prstGeom prst="rect">
            <a:avLst/>
          </a:prstGeom>
          <a:solidFill>
            <a:srgbClr val="10B981"/>
          </a:solidFill>
          <a:ln w="12700">
            <a:solidFill>
              <a:srgbClr val="10B981"/>
            </a:solidFill>
            <a:prstDash val="solid"/>
          </a:ln>
        </p:spPr>
      </p:sp>
      <p:sp>
        <p:nvSpPr>
          <p:cNvPr id="14" name="Shape 12"/>
          <p:cNvSpPr/>
          <p:nvPr/>
        </p:nvSpPr>
        <p:spPr>
          <a:xfrm>
            <a:off x="3291840" y="1371600"/>
            <a:ext cx="457200" cy="457200"/>
          </a:xfrm>
          <a:prstGeom prst="ellipse">
            <a:avLst/>
          </a:prstGeom>
          <a:solidFill>
            <a:srgbClr val="10B981">
              <a:alpha val="80000"/>
            </a:srgbClr>
          </a:solidFill>
          <a:ln w="12700">
            <a:solidFill>
              <a:srgbClr val="10B981"/>
            </a:solidFill>
            <a:prstDash val="solid"/>
          </a:ln>
        </p:spPr>
      </p:sp>
      <p:sp>
        <p:nvSpPr>
          <p:cNvPr id="15" name="Text 13"/>
          <p:cNvSpPr/>
          <p:nvPr/>
        </p:nvSpPr>
        <p:spPr>
          <a:xfrm>
            <a:off x="3291840" y="1371600"/>
            <a:ext cx="457200" cy="457200"/>
          </a:xfrm>
          <a:prstGeom prst="rect">
            <a:avLst/>
          </a:prstGeom>
          <a:noFill/>
        </p:spPr>
        <p:txBody>
          <a:bodyPr wrap="square" rtlCol="0" anchor="ctr"/>
          <a:lstStyle/>
          <a:p>
            <a:pPr marL="0" indent="0" algn="ctr">
              <a:buNone/>
            </a:pPr>
            <a:r>
              <a:rPr lang="en-US" sz="1100" b="1" dirty="0">
                <a:solidFill>
                  <a:srgbClr val="FFFFFF"/>
                </a:solidFill>
              </a:rPr>
              <a:t>02</a:t>
            </a:r>
            <a:endParaRPr lang="en-US" sz="1100" dirty="0"/>
          </a:p>
        </p:txBody>
      </p:sp>
      <p:sp>
        <p:nvSpPr>
          <p:cNvPr id="16" name="Text 14"/>
          <p:cNvSpPr/>
          <p:nvPr/>
        </p:nvSpPr>
        <p:spPr>
          <a:xfrm>
            <a:off x="3840480" y="1399032"/>
            <a:ext cx="1920240" cy="347472"/>
          </a:xfrm>
          <a:prstGeom prst="rect">
            <a:avLst/>
          </a:prstGeom>
          <a:noFill/>
        </p:spPr>
        <p:txBody>
          <a:bodyPr wrap="square" lIns="0" tIns="0" rIns="0" bIns="0" rtlCol="0" anchor="ctr"/>
          <a:lstStyle/>
          <a:p>
            <a:pPr marL="0" indent="0">
              <a:buNone/>
            </a:pPr>
            <a:r>
              <a:rPr lang="en-US" sz="1200" b="1" dirty="0">
                <a:solidFill>
                  <a:srgbClr val="FFFFFF"/>
                </a:solidFill>
              </a:rPr>
              <a:t>Market Performance</a:t>
            </a:r>
            <a:endParaRPr lang="en-US" sz="1200" dirty="0"/>
          </a:p>
        </p:txBody>
      </p:sp>
      <p:sp>
        <p:nvSpPr>
          <p:cNvPr id="17" name="Text 15"/>
          <p:cNvSpPr/>
          <p:nvPr/>
        </p:nvSpPr>
        <p:spPr>
          <a:xfrm>
            <a:off x="3264408" y="1874520"/>
            <a:ext cx="2487168" cy="822960"/>
          </a:xfrm>
          <a:prstGeom prst="rect">
            <a:avLst/>
          </a:prstGeom>
          <a:noFill/>
        </p:spPr>
        <p:txBody>
          <a:bodyPr wrap="square" rtlCol="0" anchor="ctr"/>
          <a:lstStyle/>
          <a:p>
            <a:pPr marL="0" indent="0">
              <a:buNone/>
            </a:pPr>
            <a:r>
              <a:rPr lang="en-US" sz="950" dirty="0">
                <a:solidFill>
                  <a:srgbClr val="D1D5DB"/>
                </a:solidFill>
              </a:rPr>
              <a:t>Highest/lowest prices, max 24h gain/loss, volatility rankings, price &amp; performance distribution.</a:t>
            </a:r>
            <a:endParaRPr lang="en-US" sz="950" dirty="0"/>
          </a:p>
        </p:txBody>
      </p:sp>
      <p:sp>
        <p:nvSpPr>
          <p:cNvPr id="18" name="Shape 16"/>
          <p:cNvSpPr/>
          <p:nvPr/>
        </p:nvSpPr>
        <p:spPr>
          <a:xfrm>
            <a:off x="6035040" y="1234440"/>
            <a:ext cx="2697480" cy="1554480"/>
          </a:xfrm>
          <a:prstGeom prst="rect">
            <a:avLst/>
          </a:prstGeom>
          <a:solidFill>
            <a:srgbClr val="111827"/>
          </a:solidFill>
          <a:ln w="12700">
            <a:solidFill>
              <a:srgbClr val="6366F1">
                <a:alpha val="45000"/>
              </a:srgbClr>
            </a:solidFill>
            <a:prstDash val="solid"/>
          </a:ln>
          <a:effectLst>
            <a:outerShdw blurRad="101600" dist="25400" dir="8100000" algn="bl" rotWithShape="0">
              <a:srgbClr val="000000">
                <a:alpha val="40000"/>
              </a:srgbClr>
            </a:outerShdw>
          </a:effectLst>
        </p:spPr>
      </p:sp>
      <p:sp>
        <p:nvSpPr>
          <p:cNvPr id="19" name="Shape 17"/>
          <p:cNvSpPr/>
          <p:nvPr/>
        </p:nvSpPr>
        <p:spPr>
          <a:xfrm>
            <a:off x="6035040" y="1234440"/>
            <a:ext cx="2697480" cy="54864"/>
          </a:xfrm>
          <a:prstGeom prst="rect">
            <a:avLst/>
          </a:prstGeom>
          <a:solidFill>
            <a:srgbClr val="6366F1"/>
          </a:solidFill>
          <a:ln w="12700">
            <a:solidFill>
              <a:srgbClr val="6366F1"/>
            </a:solidFill>
            <a:prstDash val="solid"/>
          </a:ln>
        </p:spPr>
      </p:sp>
      <p:sp>
        <p:nvSpPr>
          <p:cNvPr id="20" name="Shape 18"/>
          <p:cNvSpPr/>
          <p:nvPr/>
        </p:nvSpPr>
        <p:spPr>
          <a:xfrm>
            <a:off x="6172200" y="1371600"/>
            <a:ext cx="457200" cy="457200"/>
          </a:xfrm>
          <a:prstGeom prst="ellipse">
            <a:avLst/>
          </a:prstGeom>
          <a:solidFill>
            <a:srgbClr val="6366F1">
              <a:alpha val="80000"/>
            </a:srgbClr>
          </a:solidFill>
          <a:ln w="12700">
            <a:solidFill>
              <a:srgbClr val="6366F1"/>
            </a:solidFill>
            <a:prstDash val="solid"/>
          </a:ln>
        </p:spPr>
      </p:sp>
      <p:sp>
        <p:nvSpPr>
          <p:cNvPr id="21" name="Text 19"/>
          <p:cNvSpPr/>
          <p:nvPr/>
        </p:nvSpPr>
        <p:spPr>
          <a:xfrm>
            <a:off x="6172200" y="1371600"/>
            <a:ext cx="457200" cy="457200"/>
          </a:xfrm>
          <a:prstGeom prst="rect">
            <a:avLst/>
          </a:prstGeom>
          <a:noFill/>
        </p:spPr>
        <p:txBody>
          <a:bodyPr wrap="square" rtlCol="0" anchor="ctr"/>
          <a:lstStyle/>
          <a:p>
            <a:pPr marL="0" indent="0" algn="ctr">
              <a:buNone/>
            </a:pPr>
            <a:r>
              <a:rPr lang="en-US" sz="1100" b="1" dirty="0">
                <a:solidFill>
                  <a:srgbClr val="FFFFFF"/>
                </a:solidFill>
              </a:rPr>
              <a:t>03</a:t>
            </a:r>
            <a:endParaRPr lang="en-US" sz="1100" dirty="0"/>
          </a:p>
        </p:txBody>
      </p:sp>
      <p:sp>
        <p:nvSpPr>
          <p:cNvPr id="22" name="Text 20"/>
          <p:cNvSpPr/>
          <p:nvPr/>
        </p:nvSpPr>
        <p:spPr>
          <a:xfrm>
            <a:off x="6720840" y="1399032"/>
            <a:ext cx="1920240" cy="347472"/>
          </a:xfrm>
          <a:prstGeom prst="rect">
            <a:avLst/>
          </a:prstGeom>
          <a:noFill/>
        </p:spPr>
        <p:txBody>
          <a:bodyPr wrap="square" lIns="0" tIns="0" rIns="0" bIns="0" rtlCol="0" anchor="ctr"/>
          <a:lstStyle/>
          <a:p>
            <a:pPr marL="0" indent="0">
              <a:buNone/>
            </a:pPr>
            <a:r>
              <a:rPr lang="en-US" sz="1200" b="1" dirty="0">
                <a:solidFill>
                  <a:srgbClr val="FFFFFF"/>
                </a:solidFill>
              </a:rPr>
              <a:t>Top Coins Analysis</a:t>
            </a:r>
            <a:endParaRPr lang="en-US" sz="1200" dirty="0"/>
          </a:p>
        </p:txBody>
      </p:sp>
      <p:sp>
        <p:nvSpPr>
          <p:cNvPr id="23" name="Text 21"/>
          <p:cNvSpPr/>
          <p:nvPr/>
        </p:nvSpPr>
        <p:spPr>
          <a:xfrm>
            <a:off x="6144768" y="1874520"/>
            <a:ext cx="2487168" cy="822960"/>
          </a:xfrm>
          <a:prstGeom prst="rect">
            <a:avLst/>
          </a:prstGeom>
          <a:noFill/>
        </p:spPr>
        <p:txBody>
          <a:bodyPr wrap="square" rtlCol="0" anchor="ctr"/>
          <a:lstStyle/>
          <a:p>
            <a:pPr marL="0" indent="0">
              <a:buNone/>
            </a:pPr>
            <a:r>
              <a:rPr lang="en-US" sz="950" dirty="0">
                <a:solidFill>
                  <a:srgbClr val="D1D5DB"/>
                </a:solidFill>
              </a:rPr>
              <a:t>Drill-down into individual coins — price meter, market cap tree, and detailed table with filters.</a:t>
            </a:r>
            <a:endParaRPr lang="en-US" sz="950" dirty="0"/>
          </a:p>
        </p:txBody>
      </p:sp>
      <p:sp>
        <p:nvSpPr>
          <p:cNvPr id="24" name="Shape 22"/>
          <p:cNvSpPr/>
          <p:nvPr/>
        </p:nvSpPr>
        <p:spPr>
          <a:xfrm>
            <a:off x="274320" y="2971800"/>
            <a:ext cx="2697480" cy="1554480"/>
          </a:xfrm>
          <a:prstGeom prst="rect">
            <a:avLst/>
          </a:prstGeom>
          <a:solidFill>
            <a:srgbClr val="111827"/>
          </a:solidFill>
          <a:ln w="12700">
            <a:solidFill>
              <a:srgbClr val="F59E0B">
                <a:alpha val="45000"/>
              </a:srgbClr>
            </a:solidFill>
            <a:prstDash val="solid"/>
          </a:ln>
          <a:effectLst>
            <a:outerShdw blurRad="101600" dist="25400" dir="8100000" algn="bl" rotWithShape="0">
              <a:srgbClr val="000000">
                <a:alpha val="40000"/>
              </a:srgbClr>
            </a:outerShdw>
          </a:effectLst>
        </p:spPr>
      </p:sp>
      <p:sp>
        <p:nvSpPr>
          <p:cNvPr id="25" name="Shape 23"/>
          <p:cNvSpPr/>
          <p:nvPr/>
        </p:nvSpPr>
        <p:spPr>
          <a:xfrm>
            <a:off x="274320" y="2971800"/>
            <a:ext cx="2697480" cy="54864"/>
          </a:xfrm>
          <a:prstGeom prst="rect">
            <a:avLst/>
          </a:prstGeom>
          <a:solidFill>
            <a:srgbClr val="F59E0B"/>
          </a:solidFill>
          <a:ln w="12700">
            <a:solidFill>
              <a:srgbClr val="F59E0B"/>
            </a:solidFill>
            <a:prstDash val="solid"/>
          </a:ln>
        </p:spPr>
      </p:sp>
      <p:sp>
        <p:nvSpPr>
          <p:cNvPr id="26" name="Shape 24"/>
          <p:cNvSpPr/>
          <p:nvPr/>
        </p:nvSpPr>
        <p:spPr>
          <a:xfrm>
            <a:off x="411480" y="3108960"/>
            <a:ext cx="457200" cy="457200"/>
          </a:xfrm>
          <a:prstGeom prst="ellipse">
            <a:avLst/>
          </a:prstGeom>
          <a:solidFill>
            <a:srgbClr val="F59E0B">
              <a:alpha val="80000"/>
            </a:srgbClr>
          </a:solidFill>
          <a:ln w="12700">
            <a:solidFill>
              <a:srgbClr val="F59E0B"/>
            </a:solidFill>
            <a:prstDash val="solid"/>
          </a:ln>
        </p:spPr>
      </p:sp>
      <p:sp>
        <p:nvSpPr>
          <p:cNvPr id="27" name="Text 25"/>
          <p:cNvSpPr/>
          <p:nvPr/>
        </p:nvSpPr>
        <p:spPr>
          <a:xfrm>
            <a:off x="411480" y="3108960"/>
            <a:ext cx="457200" cy="457200"/>
          </a:xfrm>
          <a:prstGeom prst="rect">
            <a:avLst/>
          </a:prstGeom>
          <a:noFill/>
        </p:spPr>
        <p:txBody>
          <a:bodyPr wrap="square" rtlCol="0" anchor="ctr"/>
          <a:lstStyle/>
          <a:p>
            <a:pPr marL="0" indent="0" algn="ctr">
              <a:buNone/>
            </a:pPr>
            <a:r>
              <a:rPr lang="en-US" sz="1100" b="1" dirty="0">
                <a:solidFill>
                  <a:srgbClr val="FFFFFF"/>
                </a:solidFill>
              </a:rPr>
              <a:t>04</a:t>
            </a:r>
            <a:endParaRPr lang="en-US" sz="1100" dirty="0"/>
          </a:p>
        </p:txBody>
      </p:sp>
      <p:sp>
        <p:nvSpPr>
          <p:cNvPr id="28" name="Text 26"/>
          <p:cNvSpPr/>
          <p:nvPr/>
        </p:nvSpPr>
        <p:spPr>
          <a:xfrm>
            <a:off x="960120" y="3136392"/>
            <a:ext cx="1920240" cy="347472"/>
          </a:xfrm>
          <a:prstGeom prst="rect">
            <a:avLst/>
          </a:prstGeom>
          <a:noFill/>
        </p:spPr>
        <p:txBody>
          <a:bodyPr wrap="square" lIns="0" tIns="0" rIns="0" bIns="0" rtlCol="0" anchor="ctr"/>
          <a:lstStyle/>
          <a:p>
            <a:pPr marL="0" indent="0">
              <a:buNone/>
            </a:pPr>
            <a:r>
              <a:rPr lang="en-US" sz="1200" b="1" dirty="0">
                <a:solidFill>
                  <a:srgbClr val="FFFFFF"/>
                </a:solidFill>
              </a:rPr>
              <a:t>Tokenomics &amp; Supply</a:t>
            </a:r>
            <a:endParaRPr lang="en-US" sz="1200" dirty="0"/>
          </a:p>
        </p:txBody>
      </p:sp>
      <p:sp>
        <p:nvSpPr>
          <p:cNvPr id="29" name="Text 27"/>
          <p:cNvSpPr/>
          <p:nvPr/>
        </p:nvSpPr>
        <p:spPr>
          <a:xfrm>
            <a:off x="384048" y="3611880"/>
            <a:ext cx="2487168" cy="822960"/>
          </a:xfrm>
          <a:prstGeom prst="rect">
            <a:avLst/>
          </a:prstGeom>
          <a:noFill/>
        </p:spPr>
        <p:txBody>
          <a:bodyPr wrap="square" rtlCol="0" anchor="ctr"/>
          <a:lstStyle/>
          <a:p>
            <a:pPr marL="0" indent="0">
              <a:buNone/>
            </a:pPr>
            <a:r>
              <a:rPr lang="en-US" sz="950" dirty="0">
                <a:solidFill>
                  <a:srgbClr val="D1D5DB"/>
                </a:solidFill>
              </a:rPr>
              <a:t>Circulating supply, max supply, FDV, MC vs FDV ratio, scarcity distribution, and supply breakdown.</a:t>
            </a:r>
            <a:endParaRPr lang="en-US" sz="950" dirty="0"/>
          </a:p>
        </p:txBody>
      </p:sp>
      <p:sp>
        <p:nvSpPr>
          <p:cNvPr id="30" name="Shape 28"/>
          <p:cNvSpPr/>
          <p:nvPr/>
        </p:nvSpPr>
        <p:spPr>
          <a:xfrm>
            <a:off x="3154680" y="2971800"/>
            <a:ext cx="2697480" cy="1554480"/>
          </a:xfrm>
          <a:prstGeom prst="rect">
            <a:avLst/>
          </a:prstGeom>
          <a:solidFill>
            <a:srgbClr val="111827"/>
          </a:solidFill>
          <a:ln w="12700">
            <a:solidFill>
              <a:srgbClr val="EF4444">
                <a:alpha val="45000"/>
              </a:srgbClr>
            </a:solidFill>
            <a:prstDash val="solid"/>
          </a:ln>
          <a:effectLst>
            <a:outerShdw blurRad="101600" dist="25400" dir="8100000" algn="bl" rotWithShape="0">
              <a:srgbClr val="000000">
                <a:alpha val="40000"/>
              </a:srgbClr>
            </a:outerShdw>
          </a:effectLst>
        </p:spPr>
      </p:sp>
      <p:sp>
        <p:nvSpPr>
          <p:cNvPr id="31" name="Shape 29"/>
          <p:cNvSpPr/>
          <p:nvPr/>
        </p:nvSpPr>
        <p:spPr>
          <a:xfrm>
            <a:off x="3154680" y="2971800"/>
            <a:ext cx="2697480" cy="54864"/>
          </a:xfrm>
          <a:prstGeom prst="rect">
            <a:avLst/>
          </a:prstGeom>
          <a:solidFill>
            <a:srgbClr val="EF4444"/>
          </a:solidFill>
          <a:ln w="12700">
            <a:solidFill>
              <a:srgbClr val="EF4444"/>
            </a:solidFill>
            <a:prstDash val="solid"/>
          </a:ln>
        </p:spPr>
      </p:sp>
      <p:sp>
        <p:nvSpPr>
          <p:cNvPr id="32" name="Shape 30"/>
          <p:cNvSpPr/>
          <p:nvPr/>
        </p:nvSpPr>
        <p:spPr>
          <a:xfrm>
            <a:off x="3291840" y="3108960"/>
            <a:ext cx="457200" cy="457200"/>
          </a:xfrm>
          <a:prstGeom prst="ellipse">
            <a:avLst/>
          </a:prstGeom>
          <a:solidFill>
            <a:srgbClr val="EF4444">
              <a:alpha val="80000"/>
            </a:srgbClr>
          </a:solidFill>
          <a:ln w="12700">
            <a:solidFill>
              <a:srgbClr val="EF4444"/>
            </a:solidFill>
            <a:prstDash val="solid"/>
          </a:ln>
        </p:spPr>
      </p:sp>
      <p:sp>
        <p:nvSpPr>
          <p:cNvPr id="33" name="Text 31"/>
          <p:cNvSpPr/>
          <p:nvPr/>
        </p:nvSpPr>
        <p:spPr>
          <a:xfrm>
            <a:off x="3291840" y="3108960"/>
            <a:ext cx="457200" cy="457200"/>
          </a:xfrm>
          <a:prstGeom prst="rect">
            <a:avLst/>
          </a:prstGeom>
          <a:noFill/>
        </p:spPr>
        <p:txBody>
          <a:bodyPr wrap="square" rtlCol="0" anchor="ctr"/>
          <a:lstStyle/>
          <a:p>
            <a:pPr marL="0" indent="0" algn="ctr">
              <a:buNone/>
            </a:pPr>
            <a:r>
              <a:rPr lang="en-US" sz="1100" b="1" dirty="0">
                <a:solidFill>
                  <a:srgbClr val="FFFFFF"/>
                </a:solidFill>
              </a:rPr>
              <a:t>05</a:t>
            </a:r>
            <a:endParaRPr lang="en-US" sz="1100" dirty="0"/>
          </a:p>
        </p:txBody>
      </p:sp>
      <p:sp>
        <p:nvSpPr>
          <p:cNvPr id="34" name="Text 32"/>
          <p:cNvSpPr/>
          <p:nvPr/>
        </p:nvSpPr>
        <p:spPr>
          <a:xfrm>
            <a:off x="3840480" y="3136392"/>
            <a:ext cx="1920240" cy="347472"/>
          </a:xfrm>
          <a:prstGeom prst="rect">
            <a:avLst/>
          </a:prstGeom>
          <a:noFill/>
        </p:spPr>
        <p:txBody>
          <a:bodyPr wrap="square" lIns="0" tIns="0" rIns="0" bIns="0" rtlCol="0" anchor="ctr"/>
          <a:lstStyle/>
          <a:p>
            <a:pPr marL="0" indent="0">
              <a:buNone/>
            </a:pPr>
            <a:r>
              <a:rPr lang="en-US" sz="1200" b="1" dirty="0">
                <a:solidFill>
                  <a:srgbClr val="FFFFFF"/>
                </a:solidFill>
              </a:rPr>
              <a:t>Volatility &amp; Performance</a:t>
            </a:r>
            <a:endParaRPr lang="en-US" sz="1200" dirty="0"/>
          </a:p>
        </p:txBody>
      </p:sp>
      <p:sp>
        <p:nvSpPr>
          <p:cNvPr id="35" name="Text 33"/>
          <p:cNvSpPr/>
          <p:nvPr/>
        </p:nvSpPr>
        <p:spPr>
          <a:xfrm>
            <a:off x="3264408" y="3611880"/>
            <a:ext cx="2487168" cy="822960"/>
          </a:xfrm>
          <a:prstGeom prst="rect">
            <a:avLst/>
          </a:prstGeom>
          <a:noFill/>
        </p:spPr>
        <p:txBody>
          <a:bodyPr wrap="square" rtlCol="0" anchor="ctr"/>
          <a:lstStyle/>
          <a:p>
            <a:pPr marL="0" indent="0">
              <a:buNone/>
            </a:pPr>
            <a:r>
              <a:rPr lang="en-US" sz="950" dirty="0">
                <a:solidFill>
                  <a:srgbClr val="D1D5DB"/>
                </a:solidFill>
              </a:rPr>
              <a:t>24h &amp; 7d change averages, volatility scores, stability levels, and most volatile coin rankings.</a:t>
            </a:r>
            <a:endParaRPr lang="en-US" sz="950" dirty="0"/>
          </a:p>
        </p:txBody>
      </p:sp>
      <p:sp>
        <p:nvSpPr>
          <p:cNvPr id="36" name="Shape 34"/>
          <p:cNvSpPr/>
          <p:nvPr/>
        </p:nvSpPr>
        <p:spPr>
          <a:xfrm>
            <a:off x="6035040" y="2971800"/>
            <a:ext cx="2697480" cy="1554480"/>
          </a:xfrm>
          <a:prstGeom prst="rect">
            <a:avLst/>
          </a:prstGeom>
          <a:solidFill>
            <a:srgbClr val="111827"/>
          </a:solidFill>
          <a:ln w="12700">
            <a:solidFill>
              <a:srgbClr val="22D3EE">
                <a:alpha val="45000"/>
              </a:srgbClr>
            </a:solidFill>
            <a:prstDash val="solid"/>
          </a:ln>
          <a:effectLst>
            <a:outerShdw blurRad="101600" dist="25400" dir="8100000" algn="bl" rotWithShape="0">
              <a:srgbClr val="000000">
                <a:alpha val="40000"/>
              </a:srgbClr>
            </a:outerShdw>
          </a:effectLst>
        </p:spPr>
      </p:sp>
      <p:sp>
        <p:nvSpPr>
          <p:cNvPr id="37" name="Shape 35"/>
          <p:cNvSpPr/>
          <p:nvPr/>
        </p:nvSpPr>
        <p:spPr>
          <a:xfrm>
            <a:off x="6035040" y="2971800"/>
            <a:ext cx="2697480" cy="54864"/>
          </a:xfrm>
          <a:prstGeom prst="rect">
            <a:avLst/>
          </a:prstGeom>
          <a:solidFill>
            <a:srgbClr val="22D3EE"/>
          </a:solidFill>
          <a:ln w="12700">
            <a:solidFill>
              <a:srgbClr val="22D3EE"/>
            </a:solidFill>
            <a:prstDash val="solid"/>
          </a:ln>
        </p:spPr>
      </p:sp>
      <p:sp>
        <p:nvSpPr>
          <p:cNvPr id="38" name="Shape 36"/>
          <p:cNvSpPr/>
          <p:nvPr/>
        </p:nvSpPr>
        <p:spPr>
          <a:xfrm>
            <a:off x="6172200" y="3108960"/>
            <a:ext cx="457200" cy="457200"/>
          </a:xfrm>
          <a:prstGeom prst="ellipse">
            <a:avLst/>
          </a:prstGeom>
          <a:solidFill>
            <a:srgbClr val="22D3EE">
              <a:alpha val="80000"/>
            </a:srgbClr>
          </a:solidFill>
          <a:ln w="12700">
            <a:solidFill>
              <a:srgbClr val="22D3EE"/>
            </a:solidFill>
            <a:prstDash val="solid"/>
          </a:ln>
        </p:spPr>
      </p:sp>
      <p:sp>
        <p:nvSpPr>
          <p:cNvPr id="39" name="Text 37"/>
          <p:cNvSpPr/>
          <p:nvPr/>
        </p:nvSpPr>
        <p:spPr>
          <a:xfrm>
            <a:off x="6172200" y="3108960"/>
            <a:ext cx="457200" cy="457200"/>
          </a:xfrm>
          <a:prstGeom prst="rect">
            <a:avLst/>
          </a:prstGeom>
          <a:noFill/>
        </p:spPr>
        <p:txBody>
          <a:bodyPr wrap="square" rtlCol="0" anchor="ctr"/>
          <a:lstStyle/>
          <a:p>
            <a:pPr marL="0" indent="0" algn="ctr">
              <a:buNone/>
            </a:pPr>
            <a:r>
              <a:rPr lang="en-US" sz="1100" b="1" dirty="0">
                <a:solidFill>
                  <a:srgbClr val="FFFFFF"/>
                </a:solidFill>
              </a:rPr>
              <a:t>06</a:t>
            </a:r>
            <a:endParaRPr lang="en-US" sz="1100" dirty="0"/>
          </a:p>
        </p:txBody>
      </p:sp>
      <p:sp>
        <p:nvSpPr>
          <p:cNvPr id="40" name="Text 38"/>
          <p:cNvSpPr/>
          <p:nvPr/>
        </p:nvSpPr>
        <p:spPr>
          <a:xfrm>
            <a:off x="6720840" y="3136392"/>
            <a:ext cx="1920240" cy="347472"/>
          </a:xfrm>
          <a:prstGeom prst="rect">
            <a:avLst/>
          </a:prstGeom>
          <a:noFill/>
        </p:spPr>
        <p:txBody>
          <a:bodyPr wrap="square" lIns="0" tIns="0" rIns="0" bIns="0" rtlCol="0" anchor="ctr"/>
          <a:lstStyle/>
          <a:p>
            <a:pPr marL="0" indent="0">
              <a:buNone/>
            </a:pPr>
            <a:r>
              <a:rPr lang="en-US" sz="1200" b="1" dirty="0">
                <a:solidFill>
                  <a:srgbClr val="FFFFFF"/>
                </a:solidFill>
              </a:rPr>
              <a:t>Conclusion &amp; Insights</a:t>
            </a:r>
            <a:endParaRPr lang="en-US" sz="1200" dirty="0"/>
          </a:p>
        </p:txBody>
      </p:sp>
      <p:sp>
        <p:nvSpPr>
          <p:cNvPr id="41" name="Text 39"/>
          <p:cNvSpPr/>
          <p:nvPr/>
        </p:nvSpPr>
        <p:spPr>
          <a:xfrm>
            <a:off x="6144768" y="3611880"/>
            <a:ext cx="2487168" cy="822960"/>
          </a:xfrm>
          <a:prstGeom prst="rect">
            <a:avLst/>
          </a:prstGeom>
          <a:noFill/>
        </p:spPr>
        <p:txBody>
          <a:bodyPr wrap="square" rtlCol="0" anchor="ctr"/>
          <a:lstStyle/>
          <a:p>
            <a:pPr marL="0" indent="0">
              <a:buNone/>
            </a:pPr>
            <a:r>
              <a:rPr lang="en-US" sz="950" dirty="0">
                <a:solidFill>
                  <a:srgbClr val="D1D5DB"/>
                </a:solidFill>
              </a:rPr>
              <a:t>Top 3 market share, high volatility flag, key textual insights, summary &amp; market structure views.</a:t>
            </a:r>
            <a:endParaRPr lang="en-US" sz="950" dirty="0"/>
          </a:p>
        </p:txBody>
      </p:sp>
      <p:sp>
        <p:nvSpPr>
          <p:cNvPr id="42" name="Shape 40"/>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0" y="0"/>
            <a:ext cx="54864" cy="5143500"/>
          </a:xfrm>
          <a:prstGeom prst="rect">
            <a:avLst/>
          </a:prstGeom>
          <a:solidFill>
            <a:srgbClr val="22D3EE"/>
          </a:solidFill>
          <a:ln w="12700">
            <a:solidFill>
              <a:srgbClr val="22D3EE"/>
            </a:solidFill>
            <a:prstDash val="solid"/>
          </a:ln>
        </p:spPr>
      </p:sp>
      <p:sp>
        <p:nvSpPr>
          <p:cNvPr id="4" name="Text 2"/>
          <p:cNvSpPr/>
          <p:nvPr/>
        </p:nvSpPr>
        <p:spPr>
          <a:xfrm>
            <a:off x="274320" y="182880"/>
            <a:ext cx="8595360" cy="320040"/>
          </a:xfrm>
          <a:prstGeom prst="rect">
            <a:avLst/>
          </a:prstGeom>
          <a:noFill/>
        </p:spPr>
        <p:txBody>
          <a:bodyPr wrap="square" rtlCol="0" anchor="ctr"/>
          <a:lstStyle/>
          <a:p>
            <a:pPr marL="0" indent="0">
              <a:buNone/>
            </a:pPr>
            <a:r>
              <a:rPr lang="en-US" sz="1100" b="1" kern="0" spc="400" dirty="0">
                <a:solidFill>
                  <a:srgbClr val="22D3EE"/>
                </a:solidFill>
              </a:rPr>
              <a:t>DASHBOARD</a:t>
            </a:r>
            <a:endParaRPr lang="en-US" sz="1100" dirty="0"/>
          </a:p>
        </p:txBody>
      </p:sp>
      <p:sp>
        <p:nvSpPr>
          <p:cNvPr id="5" name="Text 3"/>
          <p:cNvSpPr/>
          <p:nvPr/>
        </p:nvSpPr>
        <p:spPr>
          <a:xfrm>
            <a:off x="274320" y="457200"/>
            <a:ext cx="8595360" cy="502920"/>
          </a:xfrm>
          <a:prstGeom prst="rect">
            <a:avLst/>
          </a:prstGeom>
          <a:noFill/>
        </p:spPr>
        <p:txBody>
          <a:bodyPr wrap="square" rtlCol="0" anchor="ctr"/>
          <a:lstStyle/>
          <a:p>
            <a:pPr marL="0" indent="0">
              <a:buNone/>
            </a:pPr>
            <a:r>
              <a:rPr lang="en-US" sz="2600" b="1" dirty="0">
                <a:solidFill>
                  <a:srgbClr val="FFFFFF"/>
                </a:solidFill>
              </a:rPr>
              <a:t>Market Overview Dashboard</a:t>
            </a:r>
            <a:endParaRPr lang="en-US" sz="2600" dirty="0"/>
          </a:p>
        </p:txBody>
      </p:sp>
      <p:sp>
        <p:nvSpPr>
          <p:cNvPr id="6" name="Text 4"/>
          <p:cNvSpPr/>
          <p:nvPr/>
        </p:nvSpPr>
        <p:spPr>
          <a:xfrm>
            <a:off x="274320" y="896112"/>
            <a:ext cx="8595360" cy="256032"/>
          </a:xfrm>
          <a:prstGeom prst="rect">
            <a:avLst/>
          </a:prstGeom>
          <a:noFill/>
        </p:spPr>
        <p:txBody>
          <a:bodyPr wrap="square" rtlCol="0" anchor="ctr"/>
          <a:lstStyle/>
          <a:p>
            <a:pPr marL="0" indent="0">
              <a:buNone/>
            </a:pPr>
            <a:r>
              <a:rPr lang="en-US" sz="1100" i="1" dirty="0">
                <a:solidFill>
                  <a:srgbClr val="6B7280"/>
                </a:solidFill>
              </a:rPr>
              <a:t>A bird's-eye view of the entire cryptocurrency market</a:t>
            </a:r>
            <a:endParaRPr lang="en-US" sz="1100" dirty="0"/>
          </a:p>
        </p:txBody>
      </p:sp>
      <p:sp>
        <p:nvSpPr>
          <p:cNvPr id="7" name="Shape 5"/>
          <p:cNvSpPr/>
          <p:nvPr/>
        </p:nvSpPr>
        <p:spPr>
          <a:xfrm>
            <a:off x="274320" y="1234440"/>
            <a:ext cx="5852160" cy="3520440"/>
          </a:xfrm>
          <a:prstGeom prst="rect">
            <a:avLst/>
          </a:prstGeom>
          <a:solidFill>
            <a:srgbClr val="1F2937"/>
          </a:solidFill>
          <a:ln w="12700">
            <a:solidFill>
              <a:srgbClr val="22D3EE">
                <a:alpha val="50000"/>
              </a:srgbClr>
            </a:solidFill>
            <a:prstDash val="solid"/>
          </a:ln>
          <a:effectLst>
            <a:outerShdw blurRad="127000" dist="38100" dir="8100000" algn="bl" rotWithShape="0">
              <a:srgbClr val="000000">
                <a:alpha val="50000"/>
              </a:srgbClr>
            </a:outerShdw>
          </a:effectLst>
        </p:spPr>
      </p:sp>
      <p:pic>
        <p:nvPicPr>
          <p:cNvPr id="8" name="Image 0" descr="preencoded.png"/>
          <p:cNvPicPr>
            <a:picLocks noChangeAspect="1"/>
          </p:cNvPicPr>
          <p:nvPr/>
        </p:nvPicPr>
        <p:blipFill>
          <a:blip r:embed="rId1"/>
          <a:stretch>
            <a:fillRect/>
          </a:stretch>
        </p:blipFill>
        <p:spPr>
          <a:xfrm>
            <a:off x="320040" y="1261872"/>
            <a:ext cx="5760720" cy="3474720"/>
          </a:xfrm>
          <a:prstGeom prst="rect">
            <a:avLst/>
          </a:prstGeom>
        </p:spPr>
      </p:pic>
      <p:sp>
        <p:nvSpPr>
          <p:cNvPr id="9" name="Shape 6"/>
          <p:cNvSpPr/>
          <p:nvPr/>
        </p:nvSpPr>
        <p:spPr>
          <a:xfrm>
            <a:off x="6309360" y="1234440"/>
            <a:ext cx="2560320" cy="3520440"/>
          </a:xfrm>
          <a:prstGeom prst="rect">
            <a:avLst/>
          </a:prstGeom>
          <a:solidFill>
            <a:srgbClr val="111827"/>
          </a:solidFill>
          <a:ln w="12700">
            <a:solidFill>
              <a:srgbClr val="22D3EE">
                <a:alpha val="35000"/>
              </a:srgbClr>
            </a:solidFill>
            <a:prstDash val="solid"/>
          </a:ln>
        </p:spPr>
      </p:sp>
      <p:sp>
        <p:nvSpPr>
          <p:cNvPr id="10" name="Shape 7"/>
          <p:cNvSpPr/>
          <p:nvPr/>
        </p:nvSpPr>
        <p:spPr>
          <a:xfrm>
            <a:off x="6309360" y="1234440"/>
            <a:ext cx="2560320" cy="54864"/>
          </a:xfrm>
          <a:prstGeom prst="rect">
            <a:avLst/>
          </a:prstGeom>
          <a:solidFill>
            <a:srgbClr val="22D3EE"/>
          </a:solidFill>
          <a:ln w="12700">
            <a:solidFill>
              <a:srgbClr val="22D3EE"/>
            </a:solidFill>
            <a:prstDash val="solid"/>
          </a:ln>
        </p:spPr>
      </p:sp>
      <p:sp>
        <p:nvSpPr>
          <p:cNvPr id="11" name="Text 8"/>
          <p:cNvSpPr/>
          <p:nvPr/>
        </p:nvSpPr>
        <p:spPr>
          <a:xfrm>
            <a:off x="6400800" y="1344168"/>
            <a:ext cx="2377440" cy="320040"/>
          </a:xfrm>
          <a:prstGeom prst="rect">
            <a:avLst/>
          </a:prstGeom>
          <a:noFill/>
        </p:spPr>
        <p:txBody>
          <a:bodyPr wrap="square" rtlCol="0" anchor="ctr"/>
          <a:lstStyle/>
          <a:p>
            <a:pPr marL="0" indent="0">
              <a:buNone/>
            </a:pPr>
            <a:r>
              <a:rPr lang="en-US" sz="1200" b="1" dirty="0">
                <a:solidFill>
                  <a:srgbClr val="22D3EE"/>
                </a:solidFill>
              </a:rPr>
              <a:t>Key Insights</a:t>
            </a:r>
            <a:endParaRPr lang="en-US" sz="1200" dirty="0"/>
          </a:p>
        </p:txBody>
      </p:sp>
      <p:sp>
        <p:nvSpPr>
          <p:cNvPr id="12" name="Shape 9"/>
          <p:cNvSpPr/>
          <p:nvPr/>
        </p:nvSpPr>
        <p:spPr>
          <a:xfrm>
            <a:off x="6400800" y="1783080"/>
            <a:ext cx="2377440" cy="658368"/>
          </a:xfrm>
          <a:prstGeom prst="rect">
            <a:avLst/>
          </a:prstGeom>
          <a:solidFill>
            <a:srgbClr val="1F2937"/>
          </a:solidFill>
          <a:ln w="12700">
            <a:solidFill>
              <a:srgbClr val="22D3EE">
                <a:alpha val="25000"/>
              </a:srgbClr>
            </a:solidFill>
            <a:prstDash val="solid"/>
          </a:ln>
        </p:spPr>
      </p:sp>
      <p:sp>
        <p:nvSpPr>
          <p:cNvPr id="13" name="Shape 10"/>
          <p:cNvSpPr/>
          <p:nvPr/>
        </p:nvSpPr>
        <p:spPr>
          <a:xfrm>
            <a:off x="6400800" y="1783080"/>
            <a:ext cx="54864" cy="658368"/>
          </a:xfrm>
          <a:prstGeom prst="rect">
            <a:avLst/>
          </a:prstGeom>
          <a:solidFill>
            <a:srgbClr val="22D3EE"/>
          </a:solidFill>
          <a:ln w="12700">
            <a:solidFill>
              <a:srgbClr val="22D3EE"/>
            </a:solidFill>
            <a:prstDash val="solid"/>
          </a:ln>
        </p:spPr>
      </p:sp>
      <p:sp>
        <p:nvSpPr>
          <p:cNvPr id="14" name="Text 11"/>
          <p:cNvSpPr/>
          <p:nvPr/>
        </p:nvSpPr>
        <p:spPr>
          <a:xfrm>
            <a:off x="6492240" y="1819656"/>
            <a:ext cx="2240280" cy="585216"/>
          </a:xfrm>
          <a:prstGeom prst="rect">
            <a:avLst/>
          </a:prstGeom>
          <a:noFill/>
        </p:spPr>
        <p:txBody>
          <a:bodyPr wrap="square" rtlCol="0" anchor="ctr"/>
          <a:lstStyle/>
          <a:p>
            <a:pPr marL="0" indent="0">
              <a:buNone/>
            </a:pPr>
            <a:r>
              <a:rPr lang="en-US" sz="950" dirty="0">
                <a:solidFill>
                  <a:srgbClr val="D1D5DB"/>
                </a:solidFill>
              </a:rPr>
              <a:t>Bitcoin dominates with 63.41% of total market cap — $1.39T out of $2.41T total.</a:t>
            </a:r>
            <a:endParaRPr lang="en-US" sz="950" dirty="0"/>
          </a:p>
        </p:txBody>
      </p:sp>
      <p:sp>
        <p:nvSpPr>
          <p:cNvPr id="15" name="Shape 12"/>
          <p:cNvSpPr/>
          <p:nvPr/>
        </p:nvSpPr>
        <p:spPr>
          <a:xfrm>
            <a:off x="6400800" y="2532888"/>
            <a:ext cx="2377440" cy="658368"/>
          </a:xfrm>
          <a:prstGeom prst="rect">
            <a:avLst/>
          </a:prstGeom>
          <a:solidFill>
            <a:srgbClr val="1F2937"/>
          </a:solidFill>
          <a:ln w="12700">
            <a:solidFill>
              <a:srgbClr val="22D3EE">
                <a:alpha val="25000"/>
              </a:srgbClr>
            </a:solidFill>
            <a:prstDash val="solid"/>
          </a:ln>
        </p:spPr>
      </p:sp>
      <p:sp>
        <p:nvSpPr>
          <p:cNvPr id="16" name="Shape 13"/>
          <p:cNvSpPr/>
          <p:nvPr/>
        </p:nvSpPr>
        <p:spPr>
          <a:xfrm>
            <a:off x="6400800" y="2532888"/>
            <a:ext cx="54864" cy="658368"/>
          </a:xfrm>
          <a:prstGeom prst="rect">
            <a:avLst/>
          </a:prstGeom>
          <a:solidFill>
            <a:srgbClr val="22D3EE"/>
          </a:solidFill>
          <a:ln w="12700">
            <a:solidFill>
              <a:srgbClr val="22D3EE"/>
            </a:solidFill>
            <a:prstDash val="solid"/>
          </a:ln>
        </p:spPr>
      </p:sp>
      <p:sp>
        <p:nvSpPr>
          <p:cNvPr id="17" name="Text 14"/>
          <p:cNvSpPr/>
          <p:nvPr/>
        </p:nvSpPr>
        <p:spPr>
          <a:xfrm>
            <a:off x="6492240" y="2569464"/>
            <a:ext cx="2240280" cy="585216"/>
          </a:xfrm>
          <a:prstGeom prst="rect">
            <a:avLst/>
          </a:prstGeom>
          <a:noFill/>
        </p:spPr>
        <p:txBody>
          <a:bodyPr wrap="square" rtlCol="0" anchor="ctr"/>
          <a:lstStyle/>
          <a:p>
            <a:pPr marL="0" indent="0">
              <a:buNone/>
            </a:pPr>
            <a:r>
              <a:rPr lang="en-US" sz="950" dirty="0">
                <a:solidFill>
                  <a:srgbClr val="D1D5DB"/>
                </a:solidFill>
              </a:rPr>
              <a:t>Top 3 coins (BTC, ETH, Tether) hold over 75% combined market share.</a:t>
            </a:r>
            <a:endParaRPr lang="en-US" sz="950" dirty="0"/>
          </a:p>
        </p:txBody>
      </p:sp>
      <p:sp>
        <p:nvSpPr>
          <p:cNvPr id="18" name="Shape 15"/>
          <p:cNvSpPr/>
          <p:nvPr/>
        </p:nvSpPr>
        <p:spPr>
          <a:xfrm>
            <a:off x="6400800" y="3282696"/>
            <a:ext cx="2377440" cy="658368"/>
          </a:xfrm>
          <a:prstGeom prst="rect">
            <a:avLst/>
          </a:prstGeom>
          <a:solidFill>
            <a:srgbClr val="1F2937"/>
          </a:solidFill>
          <a:ln w="12700">
            <a:solidFill>
              <a:srgbClr val="22D3EE">
                <a:alpha val="25000"/>
              </a:srgbClr>
            </a:solidFill>
            <a:prstDash val="solid"/>
          </a:ln>
        </p:spPr>
      </p:sp>
      <p:sp>
        <p:nvSpPr>
          <p:cNvPr id="19" name="Shape 16"/>
          <p:cNvSpPr/>
          <p:nvPr/>
        </p:nvSpPr>
        <p:spPr>
          <a:xfrm>
            <a:off x="6400800" y="3282696"/>
            <a:ext cx="54864" cy="658368"/>
          </a:xfrm>
          <a:prstGeom prst="rect">
            <a:avLst/>
          </a:prstGeom>
          <a:solidFill>
            <a:srgbClr val="22D3EE"/>
          </a:solidFill>
          <a:ln w="12700">
            <a:solidFill>
              <a:srgbClr val="22D3EE"/>
            </a:solidFill>
            <a:prstDash val="solid"/>
          </a:ln>
        </p:spPr>
      </p:sp>
      <p:sp>
        <p:nvSpPr>
          <p:cNvPr id="20" name="Text 17"/>
          <p:cNvSpPr/>
          <p:nvPr/>
        </p:nvSpPr>
        <p:spPr>
          <a:xfrm>
            <a:off x="6492240" y="3319272"/>
            <a:ext cx="2240280" cy="585216"/>
          </a:xfrm>
          <a:prstGeom prst="rect">
            <a:avLst/>
          </a:prstGeom>
          <a:noFill/>
        </p:spPr>
        <p:txBody>
          <a:bodyPr wrap="square" rtlCol="0" anchor="ctr"/>
          <a:lstStyle/>
          <a:p>
            <a:pPr marL="0" indent="0">
              <a:buNone/>
            </a:pPr>
            <a:r>
              <a:rPr lang="en-US" sz="950" dirty="0">
                <a:solidFill>
                  <a:srgbClr val="D1D5DB"/>
                </a:solidFill>
              </a:rPr>
              <a:t>Total 24h volume hits $182bn with avg price change of -1.56%, signaling bearish pressure.</a:t>
            </a:r>
            <a:endParaRPr lang="en-US" sz="950" dirty="0"/>
          </a:p>
        </p:txBody>
      </p:sp>
      <p:sp>
        <p:nvSpPr>
          <p:cNvPr id="21" name="Shape 18"/>
          <p:cNvSpPr/>
          <p:nvPr/>
        </p:nvSpPr>
        <p:spPr>
          <a:xfrm>
            <a:off x="6400800" y="4032504"/>
            <a:ext cx="2377440" cy="658368"/>
          </a:xfrm>
          <a:prstGeom prst="rect">
            <a:avLst/>
          </a:prstGeom>
          <a:solidFill>
            <a:srgbClr val="1F2937"/>
          </a:solidFill>
          <a:ln w="12700">
            <a:solidFill>
              <a:srgbClr val="22D3EE">
                <a:alpha val="25000"/>
              </a:srgbClr>
            </a:solidFill>
            <a:prstDash val="solid"/>
          </a:ln>
        </p:spPr>
      </p:sp>
      <p:sp>
        <p:nvSpPr>
          <p:cNvPr id="22" name="Shape 19"/>
          <p:cNvSpPr/>
          <p:nvPr/>
        </p:nvSpPr>
        <p:spPr>
          <a:xfrm>
            <a:off x="6400800" y="4032504"/>
            <a:ext cx="54864" cy="658368"/>
          </a:xfrm>
          <a:prstGeom prst="rect">
            <a:avLst/>
          </a:prstGeom>
          <a:solidFill>
            <a:srgbClr val="22D3EE"/>
          </a:solidFill>
          <a:ln w="12700">
            <a:solidFill>
              <a:srgbClr val="22D3EE"/>
            </a:solidFill>
            <a:prstDash val="solid"/>
          </a:ln>
        </p:spPr>
      </p:sp>
      <p:sp>
        <p:nvSpPr>
          <p:cNvPr id="23" name="Text 20"/>
          <p:cNvSpPr/>
          <p:nvPr/>
        </p:nvSpPr>
        <p:spPr>
          <a:xfrm>
            <a:off x="6492240" y="4069080"/>
            <a:ext cx="2240280" cy="585216"/>
          </a:xfrm>
          <a:prstGeom prst="rect">
            <a:avLst/>
          </a:prstGeom>
          <a:noFill/>
        </p:spPr>
        <p:txBody>
          <a:bodyPr wrap="square" rtlCol="0" anchor="ctr"/>
          <a:lstStyle/>
          <a:p>
            <a:pPr marL="0" indent="0">
              <a:buNone/>
            </a:pPr>
            <a:r>
              <a:rPr lang="en-US" sz="950" dirty="0">
                <a:solidFill>
                  <a:srgbClr val="D1D5DB"/>
                </a:solidFill>
              </a:rPr>
              <a:t>Provenance Blockchain leads top gainers with 22% growth in 24 hours.</a:t>
            </a:r>
            <a:endParaRPr lang="en-US" sz="950" dirty="0"/>
          </a:p>
        </p:txBody>
      </p:sp>
      <p:sp>
        <p:nvSpPr>
          <p:cNvPr id="24" name="Shape 21"/>
          <p:cNvSpPr/>
          <p:nvPr/>
        </p:nvSpPr>
        <p:spPr>
          <a:xfrm>
            <a:off x="0" y="5070348"/>
            <a:ext cx="9144000" cy="73152"/>
          </a:xfrm>
          <a:prstGeom prst="rect">
            <a:avLst/>
          </a:prstGeom>
          <a:solidFill>
            <a:srgbClr val="22D3EE"/>
          </a:solidFill>
          <a:ln w="12700">
            <a:solidFill>
              <a:srgbClr val="22D3EE"/>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sp>
      <p:sp>
        <p:nvSpPr>
          <p:cNvPr id="3" name="Shape 1"/>
          <p:cNvSpPr/>
          <p:nvPr/>
        </p:nvSpPr>
        <p:spPr>
          <a:xfrm>
            <a:off x="0" y="0"/>
            <a:ext cx="54864" cy="5143500"/>
          </a:xfrm>
          <a:prstGeom prst="rect">
            <a:avLst/>
          </a:prstGeom>
          <a:solidFill>
            <a:srgbClr val="10B981"/>
          </a:solidFill>
          <a:ln w="12700">
            <a:solidFill>
              <a:srgbClr val="10B981"/>
            </a:solidFill>
            <a:prstDash val="solid"/>
          </a:ln>
        </p:spPr>
      </p:sp>
      <p:sp>
        <p:nvSpPr>
          <p:cNvPr id="4" name="Text 2"/>
          <p:cNvSpPr/>
          <p:nvPr/>
        </p:nvSpPr>
        <p:spPr>
          <a:xfrm>
            <a:off x="274320" y="182880"/>
            <a:ext cx="8595360" cy="320040"/>
          </a:xfrm>
          <a:prstGeom prst="rect">
            <a:avLst/>
          </a:prstGeom>
          <a:noFill/>
        </p:spPr>
        <p:txBody>
          <a:bodyPr wrap="square" rtlCol="0" anchor="ctr"/>
          <a:lstStyle/>
          <a:p>
            <a:pPr marL="0" indent="0">
              <a:buNone/>
            </a:pPr>
            <a:r>
              <a:rPr lang="en-US" sz="1100" b="1" kern="0" spc="400" dirty="0">
                <a:solidFill>
                  <a:srgbClr val="10B981"/>
                </a:solidFill>
              </a:rPr>
              <a:t>DASHBOARD</a:t>
            </a:r>
            <a:endParaRPr lang="en-US" sz="1100" dirty="0"/>
          </a:p>
        </p:txBody>
      </p:sp>
      <p:sp>
        <p:nvSpPr>
          <p:cNvPr id="5" name="Text 3"/>
          <p:cNvSpPr/>
          <p:nvPr/>
        </p:nvSpPr>
        <p:spPr>
          <a:xfrm>
            <a:off x="274320" y="457200"/>
            <a:ext cx="8595360" cy="502920"/>
          </a:xfrm>
          <a:prstGeom prst="rect">
            <a:avLst/>
          </a:prstGeom>
          <a:noFill/>
        </p:spPr>
        <p:txBody>
          <a:bodyPr wrap="square" rtlCol="0" anchor="ctr"/>
          <a:lstStyle/>
          <a:p>
            <a:pPr marL="0" indent="0">
              <a:buNone/>
            </a:pPr>
            <a:r>
              <a:rPr lang="en-US" sz="2600" b="1" dirty="0">
                <a:solidFill>
                  <a:srgbClr val="FFFFFF"/>
                </a:solidFill>
              </a:rPr>
              <a:t>Market Performance Dashboard</a:t>
            </a:r>
            <a:endParaRPr lang="en-US" sz="2600" dirty="0"/>
          </a:p>
        </p:txBody>
      </p:sp>
      <p:sp>
        <p:nvSpPr>
          <p:cNvPr id="6" name="Text 4"/>
          <p:cNvSpPr/>
          <p:nvPr/>
        </p:nvSpPr>
        <p:spPr>
          <a:xfrm>
            <a:off x="274320" y="896112"/>
            <a:ext cx="8595360" cy="256032"/>
          </a:xfrm>
          <a:prstGeom prst="rect">
            <a:avLst/>
          </a:prstGeom>
          <a:noFill/>
        </p:spPr>
        <p:txBody>
          <a:bodyPr wrap="square" rtlCol="0" anchor="ctr"/>
          <a:lstStyle/>
          <a:p>
            <a:pPr marL="0" indent="0">
              <a:buNone/>
            </a:pPr>
            <a:r>
              <a:rPr lang="en-US" sz="1100" i="1" dirty="0">
                <a:solidFill>
                  <a:srgbClr val="6B7280"/>
                </a:solidFill>
              </a:rPr>
              <a:t>Volatility, price range, and performance distribution analysis</a:t>
            </a:r>
            <a:endParaRPr lang="en-US" sz="1100" dirty="0"/>
          </a:p>
        </p:txBody>
      </p:sp>
      <p:sp>
        <p:nvSpPr>
          <p:cNvPr id="7" name="Shape 5"/>
          <p:cNvSpPr/>
          <p:nvPr/>
        </p:nvSpPr>
        <p:spPr>
          <a:xfrm>
            <a:off x="274320" y="1234440"/>
            <a:ext cx="5852160" cy="3520440"/>
          </a:xfrm>
          <a:prstGeom prst="rect">
            <a:avLst/>
          </a:prstGeom>
          <a:solidFill>
            <a:srgbClr val="1F2937"/>
          </a:solidFill>
          <a:ln w="12700">
            <a:solidFill>
              <a:srgbClr val="10B981">
                <a:alpha val="50000"/>
              </a:srgbClr>
            </a:solidFill>
            <a:prstDash val="solid"/>
          </a:ln>
          <a:effectLst>
            <a:outerShdw blurRad="127000" dist="38100" dir="8100000" algn="bl" rotWithShape="0">
              <a:srgbClr val="000000">
                <a:alpha val="50000"/>
              </a:srgbClr>
            </a:outerShdw>
          </a:effectLst>
        </p:spPr>
      </p:sp>
      <p:pic>
        <p:nvPicPr>
          <p:cNvPr id="8" name="Image 0" descr="preencoded.png"/>
          <p:cNvPicPr>
            <a:picLocks noChangeAspect="1"/>
          </p:cNvPicPr>
          <p:nvPr/>
        </p:nvPicPr>
        <p:blipFill>
          <a:blip r:embed="rId1"/>
          <a:stretch>
            <a:fillRect/>
          </a:stretch>
        </p:blipFill>
        <p:spPr>
          <a:xfrm>
            <a:off x="320040" y="1261872"/>
            <a:ext cx="5760720" cy="3474720"/>
          </a:xfrm>
          <a:prstGeom prst="rect">
            <a:avLst/>
          </a:prstGeom>
        </p:spPr>
      </p:pic>
      <p:sp>
        <p:nvSpPr>
          <p:cNvPr id="9" name="Shape 6"/>
          <p:cNvSpPr/>
          <p:nvPr/>
        </p:nvSpPr>
        <p:spPr>
          <a:xfrm>
            <a:off x="6309360" y="1234440"/>
            <a:ext cx="2560320" cy="3520440"/>
          </a:xfrm>
          <a:prstGeom prst="rect">
            <a:avLst/>
          </a:prstGeom>
          <a:solidFill>
            <a:srgbClr val="111827"/>
          </a:solidFill>
          <a:ln w="12700">
            <a:solidFill>
              <a:srgbClr val="10B981">
                <a:alpha val="35000"/>
              </a:srgbClr>
            </a:solidFill>
            <a:prstDash val="solid"/>
          </a:ln>
        </p:spPr>
      </p:sp>
      <p:sp>
        <p:nvSpPr>
          <p:cNvPr id="10" name="Shape 7"/>
          <p:cNvSpPr/>
          <p:nvPr/>
        </p:nvSpPr>
        <p:spPr>
          <a:xfrm>
            <a:off x="6309360" y="1234440"/>
            <a:ext cx="2560320" cy="54864"/>
          </a:xfrm>
          <a:prstGeom prst="rect">
            <a:avLst/>
          </a:prstGeom>
          <a:solidFill>
            <a:srgbClr val="10B981"/>
          </a:solidFill>
          <a:ln w="12700">
            <a:solidFill>
              <a:srgbClr val="10B981"/>
            </a:solidFill>
            <a:prstDash val="solid"/>
          </a:ln>
        </p:spPr>
      </p:sp>
      <p:sp>
        <p:nvSpPr>
          <p:cNvPr id="11" name="Text 8"/>
          <p:cNvSpPr/>
          <p:nvPr/>
        </p:nvSpPr>
        <p:spPr>
          <a:xfrm>
            <a:off x="6400800" y="1344168"/>
            <a:ext cx="2377440" cy="320040"/>
          </a:xfrm>
          <a:prstGeom prst="rect">
            <a:avLst/>
          </a:prstGeom>
          <a:noFill/>
        </p:spPr>
        <p:txBody>
          <a:bodyPr wrap="square" rtlCol="0" anchor="ctr"/>
          <a:lstStyle/>
          <a:p>
            <a:pPr marL="0" indent="0">
              <a:buNone/>
            </a:pPr>
            <a:r>
              <a:rPr lang="en-US" sz="1200" b="1" dirty="0">
                <a:solidFill>
                  <a:srgbClr val="10B981"/>
                </a:solidFill>
              </a:rPr>
              <a:t>Key Insights</a:t>
            </a:r>
            <a:endParaRPr lang="en-US" sz="1200" dirty="0"/>
          </a:p>
        </p:txBody>
      </p:sp>
      <p:sp>
        <p:nvSpPr>
          <p:cNvPr id="12" name="Shape 9"/>
          <p:cNvSpPr/>
          <p:nvPr/>
        </p:nvSpPr>
        <p:spPr>
          <a:xfrm>
            <a:off x="6400800" y="1783080"/>
            <a:ext cx="2377440" cy="658368"/>
          </a:xfrm>
          <a:prstGeom prst="rect">
            <a:avLst/>
          </a:prstGeom>
          <a:solidFill>
            <a:srgbClr val="1F2937"/>
          </a:solidFill>
          <a:ln w="12700">
            <a:solidFill>
              <a:srgbClr val="10B981">
                <a:alpha val="25000"/>
              </a:srgbClr>
            </a:solidFill>
            <a:prstDash val="solid"/>
          </a:ln>
        </p:spPr>
      </p:sp>
      <p:sp>
        <p:nvSpPr>
          <p:cNvPr id="13" name="Shape 10"/>
          <p:cNvSpPr/>
          <p:nvPr/>
        </p:nvSpPr>
        <p:spPr>
          <a:xfrm>
            <a:off x="6400800" y="1783080"/>
            <a:ext cx="54864" cy="658368"/>
          </a:xfrm>
          <a:prstGeom prst="rect">
            <a:avLst/>
          </a:prstGeom>
          <a:solidFill>
            <a:srgbClr val="10B981"/>
          </a:solidFill>
          <a:ln w="12700">
            <a:solidFill>
              <a:srgbClr val="10B981"/>
            </a:solidFill>
            <a:prstDash val="solid"/>
          </a:ln>
        </p:spPr>
      </p:sp>
      <p:sp>
        <p:nvSpPr>
          <p:cNvPr id="14" name="Text 11"/>
          <p:cNvSpPr/>
          <p:nvPr/>
        </p:nvSpPr>
        <p:spPr>
          <a:xfrm>
            <a:off x="6492240" y="1819656"/>
            <a:ext cx="2240280" cy="585216"/>
          </a:xfrm>
          <a:prstGeom prst="rect">
            <a:avLst/>
          </a:prstGeom>
          <a:noFill/>
        </p:spPr>
        <p:txBody>
          <a:bodyPr wrap="square" rtlCol="0" anchor="ctr"/>
          <a:lstStyle/>
          <a:p>
            <a:pPr marL="0" indent="0">
              <a:buNone/>
            </a:pPr>
            <a:r>
              <a:rPr lang="en-US" sz="950" dirty="0">
                <a:solidFill>
                  <a:srgbClr val="D1D5DB"/>
                </a:solidFill>
              </a:rPr>
              <a:t>Highest price at $69K (Bitcoin); lowest at 1.67E-6 — extreme price range across 100 coins.</a:t>
            </a:r>
            <a:endParaRPr lang="en-US" sz="950" dirty="0"/>
          </a:p>
        </p:txBody>
      </p:sp>
      <p:sp>
        <p:nvSpPr>
          <p:cNvPr id="15" name="Shape 12"/>
          <p:cNvSpPr/>
          <p:nvPr/>
        </p:nvSpPr>
        <p:spPr>
          <a:xfrm>
            <a:off x="6400800" y="2532888"/>
            <a:ext cx="2377440" cy="658368"/>
          </a:xfrm>
          <a:prstGeom prst="rect">
            <a:avLst/>
          </a:prstGeom>
          <a:solidFill>
            <a:srgbClr val="1F2937"/>
          </a:solidFill>
          <a:ln w="12700">
            <a:solidFill>
              <a:srgbClr val="10B981">
                <a:alpha val="25000"/>
              </a:srgbClr>
            </a:solidFill>
            <a:prstDash val="solid"/>
          </a:ln>
        </p:spPr>
      </p:sp>
      <p:sp>
        <p:nvSpPr>
          <p:cNvPr id="16" name="Shape 13"/>
          <p:cNvSpPr/>
          <p:nvPr/>
        </p:nvSpPr>
        <p:spPr>
          <a:xfrm>
            <a:off x="6400800" y="2532888"/>
            <a:ext cx="54864" cy="658368"/>
          </a:xfrm>
          <a:prstGeom prst="rect">
            <a:avLst/>
          </a:prstGeom>
          <a:solidFill>
            <a:srgbClr val="10B981"/>
          </a:solidFill>
          <a:ln w="12700">
            <a:solidFill>
              <a:srgbClr val="10B981"/>
            </a:solidFill>
            <a:prstDash val="solid"/>
          </a:ln>
        </p:spPr>
      </p:sp>
      <p:sp>
        <p:nvSpPr>
          <p:cNvPr id="17" name="Text 14"/>
          <p:cNvSpPr/>
          <p:nvPr/>
        </p:nvSpPr>
        <p:spPr>
          <a:xfrm>
            <a:off x="6492240" y="2569464"/>
            <a:ext cx="2240280" cy="585216"/>
          </a:xfrm>
          <a:prstGeom prst="rect">
            <a:avLst/>
          </a:prstGeom>
          <a:noFill/>
        </p:spPr>
        <p:txBody>
          <a:bodyPr wrap="square" rtlCol="0" anchor="ctr"/>
          <a:lstStyle/>
          <a:p>
            <a:pPr marL="0" indent="0">
              <a:buNone/>
            </a:pPr>
            <a:r>
              <a:rPr lang="en-US" sz="950" dirty="0">
                <a:solidFill>
                  <a:srgbClr val="D1D5DB"/>
                </a:solidFill>
              </a:rPr>
              <a:t>Max 24h gain: +22%. Max 24h loss: -8.40%. High intraday risk environment.</a:t>
            </a:r>
            <a:endParaRPr lang="en-US" sz="950" dirty="0"/>
          </a:p>
        </p:txBody>
      </p:sp>
      <p:sp>
        <p:nvSpPr>
          <p:cNvPr id="18" name="Shape 15"/>
          <p:cNvSpPr/>
          <p:nvPr/>
        </p:nvSpPr>
        <p:spPr>
          <a:xfrm>
            <a:off x="6400800" y="3282696"/>
            <a:ext cx="2377440" cy="658368"/>
          </a:xfrm>
          <a:prstGeom prst="rect">
            <a:avLst/>
          </a:prstGeom>
          <a:solidFill>
            <a:srgbClr val="1F2937"/>
          </a:solidFill>
          <a:ln w="12700">
            <a:solidFill>
              <a:srgbClr val="10B981">
                <a:alpha val="25000"/>
              </a:srgbClr>
            </a:solidFill>
            <a:prstDash val="solid"/>
          </a:ln>
        </p:spPr>
      </p:sp>
      <p:sp>
        <p:nvSpPr>
          <p:cNvPr id="19" name="Shape 16"/>
          <p:cNvSpPr/>
          <p:nvPr/>
        </p:nvSpPr>
        <p:spPr>
          <a:xfrm>
            <a:off x="6400800" y="3282696"/>
            <a:ext cx="54864" cy="658368"/>
          </a:xfrm>
          <a:prstGeom prst="rect">
            <a:avLst/>
          </a:prstGeom>
          <a:solidFill>
            <a:srgbClr val="10B981"/>
          </a:solidFill>
          <a:ln w="12700">
            <a:solidFill>
              <a:srgbClr val="10B981"/>
            </a:solidFill>
            <a:prstDash val="solid"/>
          </a:ln>
        </p:spPr>
      </p:sp>
      <p:sp>
        <p:nvSpPr>
          <p:cNvPr id="20" name="Text 17"/>
          <p:cNvSpPr/>
          <p:nvPr/>
        </p:nvSpPr>
        <p:spPr>
          <a:xfrm>
            <a:off x="6492240" y="3319272"/>
            <a:ext cx="2240280" cy="585216"/>
          </a:xfrm>
          <a:prstGeom prst="rect">
            <a:avLst/>
          </a:prstGeom>
          <a:noFill/>
        </p:spPr>
        <p:txBody>
          <a:bodyPr wrap="square" rtlCol="0" anchor="ctr"/>
          <a:lstStyle/>
          <a:p>
            <a:pPr marL="0" indent="0">
              <a:buNone/>
            </a:pPr>
            <a:r>
              <a:rPr lang="en-US" sz="950" dirty="0">
                <a:solidFill>
                  <a:srgbClr val="D1D5DB"/>
                </a:solidFill>
              </a:rPr>
              <a:t>WhiteBIT Coin ranks most volatile with index of 3.37, followed by Ethereum at 2.91.</a:t>
            </a:r>
            <a:endParaRPr lang="en-US" sz="950" dirty="0"/>
          </a:p>
        </p:txBody>
      </p:sp>
      <p:sp>
        <p:nvSpPr>
          <p:cNvPr id="21" name="Shape 18"/>
          <p:cNvSpPr/>
          <p:nvPr/>
        </p:nvSpPr>
        <p:spPr>
          <a:xfrm>
            <a:off x="6400800" y="4032504"/>
            <a:ext cx="2377440" cy="658368"/>
          </a:xfrm>
          <a:prstGeom prst="rect">
            <a:avLst/>
          </a:prstGeom>
          <a:solidFill>
            <a:srgbClr val="1F2937"/>
          </a:solidFill>
          <a:ln w="12700">
            <a:solidFill>
              <a:srgbClr val="10B981">
                <a:alpha val="25000"/>
              </a:srgbClr>
            </a:solidFill>
            <a:prstDash val="solid"/>
          </a:ln>
        </p:spPr>
      </p:sp>
      <p:sp>
        <p:nvSpPr>
          <p:cNvPr id="22" name="Shape 19"/>
          <p:cNvSpPr/>
          <p:nvPr/>
        </p:nvSpPr>
        <p:spPr>
          <a:xfrm>
            <a:off x="6400800" y="4032504"/>
            <a:ext cx="54864" cy="658368"/>
          </a:xfrm>
          <a:prstGeom prst="rect">
            <a:avLst/>
          </a:prstGeom>
          <a:solidFill>
            <a:srgbClr val="10B981"/>
          </a:solidFill>
          <a:ln w="12700">
            <a:solidFill>
              <a:srgbClr val="10B981"/>
            </a:solidFill>
            <a:prstDash val="solid"/>
          </a:ln>
        </p:spPr>
      </p:sp>
      <p:sp>
        <p:nvSpPr>
          <p:cNvPr id="23" name="Text 20"/>
          <p:cNvSpPr/>
          <p:nvPr/>
        </p:nvSpPr>
        <p:spPr>
          <a:xfrm>
            <a:off x="6492240" y="4069080"/>
            <a:ext cx="2240280" cy="585216"/>
          </a:xfrm>
          <a:prstGeom prst="rect">
            <a:avLst/>
          </a:prstGeom>
          <a:noFill/>
        </p:spPr>
        <p:txBody>
          <a:bodyPr wrap="square" rtlCol="0" anchor="ctr"/>
          <a:lstStyle/>
          <a:p>
            <a:pPr marL="0" indent="0">
              <a:buNone/>
            </a:pPr>
            <a:r>
              <a:rPr lang="en-US" sz="950" dirty="0">
                <a:solidFill>
                  <a:srgbClr val="D1D5DB"/>
                </a:solidFill>
              </a:rPr>
              <a:t>45 out of 100 coins are in 'Declining' category — market-wide bearish dominance.</a:t>
            </a:r>
            <a:endParaRPr lang="en-US" sz="950" dirty="0"/>
          </a:p>
        </p:txBody>
      </p:sp>
      <p:sp>
        <p:nvSpPr>
          <p:cNvPr id="24" name="Shape 21"/>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366F1"/>
          </a:solidFill>
          <a:ln w="12700">
            <a:solidFill>
              <a:srgbClr val="6366F1"/>
            </a:solidFill>
            <a:prstDash val="solid"/>
          </a:ln>
        </p:spPr>
      </p:sp>
      <p:sp>
        <p:nvSpPr>
          <p:cNvPr id="3" name="Shape 1"/>
          <p:cNvSpPr/>
          <p:nvPr/>
        </p:nvSpPr>
        <p:spPr>
          <a:xfrm>
            <a:off x="0" y="0"/>
            <a:ext cx="54864" cy="5143500"/>
          </a:xfrm>
          <a:prstGeom prst="rect">
            <a:avLst/>
          </a:prstGeom>
          <a:solidFill>
            <a:srgbClr val="6366F1"/>
          </a:solidFill>
          <a:ln w="12700">
            <a:solidFill>
              <a:srgbClr val="6366F1"/>
            </a:solidFill>
            <a:prstDash val="solid"/>
          </a:ln>
        </p:spPr>
      </p:sp>
      <p:sp>
        <p:nvSpPr>
          <p:cNvPr id="4" name="Text 2"/>
          <p:cNvSpPr/>
          <p:nvPr/>
        </p:nvSpPr>
        <p:spPr>
          <a:xfrm>
            <a:off x="274320" y="182880"/>
            <a:ext cx="8595360" cy="320040"/>
          </a:xfrm>
          <a:prstGeom prst="rect">
            <a:avLst/>
          </a:prstGeom>
          <a:noFill/>
        </p:spPr>
        <p:txBody>
          <a:bodyPr wrap="square" rtlCol="0" anchor="ctr"/>
          <a:lstStyle/>
          <a:p>
            <a:pPr marL="0" indent="0">
              <a:buNone/>
            </a:pPr>
            <a:r>
              <a:rPr lang="en-US" sz="1100" b="1" kern="0" spc="400" dirty="0">
                <a:solidFill>
                  <a:srgbClr val="6366F1"/>
                </a:solidFill>
              </a:rPr>
              <a:t>DASHBOARD</a:t>
            </a:r>
            <a:endParaRPr lang="en-US" sz="1100" dirty="0"/>
          </a:p>
        </p:txBody>
      </p:sp>
      <p:sp>
        <p:nvSpPr>
          <p:cNvPr id="5" name="Text 3"/>
          <p:cNvSpPr/>
          <p:nvPr/>
        </p:nvSpPr>
        <p:spPr>
          <a:xfrm>
            <a:off x="274320" y="457200"/>
            <a:ext cx="8595360" cy="502920"/>
          </a:xfrm>
          <a:prstGeom prst="rect">
            <a:avLst/>
          </a:prstGeom>
          <a:noFill/>
        </p:spPr>
        <p:txBody>
          <a:bodyPr wrap="square" rtlCol="0" anchor="ctr"/>
          <a:lstStyle/>
          <a:p>
            <a:pPr marL="0" indent="0">
              <a:buNone/>
            </a:pPr>
            <a:r>
              <a:rPr lang="en-US" sz="2600" b="1" dirty="0">
                <a:solidFill>
                  <a:srgbClr val="FFFFFF"/>
                </a:solidFill>
              </a:rPr>
              <a:t>Top Coins Analysis</a:t>
            </a:r>
            <a:endParaRPr lang="en-US" sz="2600" dirty="0"/>
          </a:p>
        </p:txBody>
      </p:sp>
      <p:sp>
        <p:nvSpPr>
          <p:cNvPr id="6" name="Text 4"/>
          <p:cNvSpPr/>
          <p:nvPr/>
        </p:nvSpPr>
        <p:spPr>
          <a:xfrm>
            <a:off x="274320" y="896112"/>
            <a:ext cx="8595360" cy="256032"/>
          </a:xfrm>
          <a:prstGeom prst="rect">
            <a:avLst/>
          </a:prstGeom>
          <a:noFill/>
        </p:spPr>
        <p:txBody>
          <a:bodyPr wrap="square" rtlCol="0" anchor="ctr"/>
          <a:lstStyle/>
          <a:p>
            <a:pPr marL="0" indent="0">
              <a:buNone/>
            </a:pPr>
            <a:r>
              <a:rPr lang="en-US" sz="1100" i="1" dirty="0">
                <a:solidFill>
                  <a:srgbClr val="6B7280"/>
                </a:solidFill>
              </a:rPr>
              <a:t>Deep-dive into individual coin metrics with interactive filters</a:t>
            </a:r>
            <a:endParaRPr lang="en-US" sz="1100" dirty="0"/>
          </a:p>
        </p:txBody>
      </p:sp>
      <p:sp>
        <p:nvSpPr>
          <p:cNvPr id="7" name="Shape 5"/>
          <p:cNvSpPr/>
          <p:nvPr/>
        </p:nvSpPr>
        <p:spPr>
          <a:xfrm>
            <a:off x="274320" y="1234440"/>
            <a:ext cx="5852160" cy="3520440"/>
          </a:xfrm>
          <a:prstGeom prst="rect">
            <a:avLst/>
          </a:prstGeom>
          <a:solidFill>
            <a:srgbClr val="1F2937"/>
          </a:solidFill>
          <a:ln w="12700">
            <a:solidFill>
              <a:srgbClr val="6366F1">
                <a:alpha val="50000"/>
              </a:srgbClr>
            </a:solidFill>
            <a:prstDash val="solid"/>
          </a:ln>
          <a:effectLst>
            <a:outerShdw blurRad="127000" dist="38100" dir="8100000" algn="bl" rotWithShape="0">
              <a:srgbClr val="000000">
                <a:alpha val="50000"/>
              </a:srgbClr>
            </a:outerShdw>
          </a:effectLst>
        </p:spPr>
      </p:sp>
      <p:pic>
        <p:nvPicPr>
          <p:cNvPr id="8" name="Image 0" descr="preencoded.png"/>
          <p:cNvPicPr>
            <a:picLocks noChangeAspect="1"/>
          </p:cNvPicPr>
          <p:nvPr/>
        </p:nvPicPr>
        <p:blipFill>
          <a:blip r:embed="rId1"/>
          <a:stretch>
            <a:fillRect/>
          </a:stretch>
        </p:blipFill>
        <p:spPr>
          <a:xfrm>
            <a:off x="320040" y="1261872"/>
            <a:ext cx="5760720" cy="3474720"/>
          </a:xfrm>
          <a:prstGeom prst="rect">
            <a:avLst/>
          </a:prstGeom>
        </p:spPr>
      </p:pic>
      <p:sp>
        <p:nvSpPr>
          <p:cNvPr id="9" name="Shape 6"/>
          <p:cNvSpPr/>
          <p:nvPr/>
        </p:nvSpPr>
        <p:spPr>
          <a:xfrm>
            <a:off x="6309360" y="1234440"/>
            <a:ext cx="2560320" cy="3520440"/>
          </a:xfrm>
          <a:prstGeom prst="rect">
            <a:avLst/>
          </a:prstGeom>
          <a:solidFill>
            <a:srgbClr val="111827"/>
          </a:solidFill>
          <a:ln w="12700">
            <a:solidFill>
              <a:srgbClr val="6366F1">
                <a:alpha val="35000"/>
              </a:srgbClr>
            </a:solidFill>
            <a:prstDash val="solid"/>
          </a:ln>
        </p:spPr>
      </p:sp>
      <p:sp>
        <p:nvSpPr>
          <p:cNvPr id="10" name="Shape 7"/>
          <p:cNvSpPr/>
          <p:nvPr/>
        </p:nvSpPr>
        <p:spPr>
          <a:xfrm>
            <a:off x="6309360" y="1234440"/>
            <a:ext cx="2560320" cy="54864"/>
          </a:xfrm>
          <a:prstGeom prst="rect">
            <a:avLst/>
          </a:prstGeom>
          <a:solidFill>
            <a:srgbClr val="6366F1"/>
          </a:solidFill>
          <a:ln w="12700">
            <a:solidFill>
              <a:srgbClr val="6366F1"/>
            </a:solidFill>
            <a:prstDash val="solid"/>
          </a:ln>
        </p:spPr>
      </p:sp>
      <p:sp>
        <p:nvSpPr>
          <p:cNvPr id="11" name="Text 8"/>
          <p:cNvSpPr/>
          <p:nvPr/>
        </p:nvSpPr>
        <p:spPr>
          <a:xfrm>
            <a:off x="6400800" y="1344168"/>
            <a:ext cx="2377440" cy="320040"/>
          </a:xfrm>
          <a:prstGeom prst="rect">
            <a:avLst/>
          </a:prstGeom>
          <a:noFill/>
        </p:spPr>
        <p:txBody>
          <a:bodyPr wrap="square" rtlCol="0" anchor="ctr"/>
          <a:lstStyle/>
          <a:p>
            <a:pPr marL="0" indent="0">
              <a:buNone/>
            </a:pPr>
            <a:r>
              <a:rPr lang="en-US" sz="1200" b="1" dirty="0">
                <a:solidFill>
                  <a:srgbClr val="6366F1"/>
                </a:solidFill>
              </a:rPr>
              <a:t>Key Insights</a:t>
            </a:r>
            <a:endParaRPr lang="en-US" sz="1200" dirty="0"/>
          </a:p>
        </p:txBody>
      </p:sp>
      <p:sp>
        <p:nvSpPr>
          <p:cNvPr id="12" name="Shape 9"/>
          <p:cNvSpPr/>
          <p:nvPr/>
        </p:nvSpPr>
        <p:spPr>
          <a:xfrm>
            <a:off x="6400800" y="1783080"/>
            <a:ext cx="2377440" cy="658368"/>
          </a:xfrm>
          <a:prstGeom prst="rect">
            <a:avLst/>
          </a:prstGeom>
          <a:solidFill>
            <a:srgbClr val="1F2937"/>
          </a:solidFill>
          <a:ln w="12700">
            <a:solidFill>
              <a:srgbClr val="6366F1">
                <a:alpha val="25000"/>
              </a:srgbClr>
            </a:solidFill>
            <a:prstDash val="solid"/>
          </a:ln>
        </p:spPr>
      </p:sp>
      <p:sp>
        <p:nvSpPr>
          <p:cNvPr id="13" name="Shape 10"/>
          <p:cNvSpPr/>
          <p:nvPr/>
        </p:nvSpPr>
        <p:spPr>
          <a:xfrm>
            <a:off x="6400800" y="1783080"/>
            <a:ext cx="54864" cy="658368"/>
          </a:xfrm>
          <a:prstGeom prst="rect">
            <a:avLst/>
          </a:prstGeom>
          <a:solidFill>
            <a:srgbClr val="6366F1"/>
          </a:solidFill>
          <a:ln w="12700">
            <a:solidFill>
              <a:srgbClr val="6366F1"/>
            </a:solidFill>
            <a:prstDash val="solid"/>
          </a:ln>
        </p:spPr>
      </p:sp>
      <p:sp>
        <p:nvSpPr>
          <p:cNvPr id="14" name="Text 11"/>
          <p:cNvSpPr/>
          <p:nvPr/>
        </p:nvSpPr>
        <p:spPr>
          <a:xfrm>
            <a:off x="6492240" y="1819656"/>
            <a:ext cx="2240280" cy="585216"/>
          </a:xfrm>
          <a:prstGeom prst="rect">
            <a:avLst/>
          </a:prstGeom>
          <a:noFill/>
        </p:spPr>
        <p:txBody>
          <a:bodyPr wrap="square" rtlCol="0" anchor="ctr"/>
          <a:lstStyle/>
          <a:p>
            <a:pPr marL="0" indent="0">
              <a:buNone/>
            </a:pPr>
            <a:r>
              <a:rPr lang="en-US" sz="950" dirty="0">
                <a:solidFill>
                  <a:srgbClr val="D1D5DB"/>
                </a:solidFill>
              </a:rPr>
              <a:t>#1 Coin: Bitcoin — Market Cap $2.41T, Price $83,469, Performance: Declining.</a:t>
            </a:r>
            <a:endParaRPr lang="en-US" sz="950" dirty="0"/>
          </a:p>
        </p:txBody>
      </p:sp>
      <p:sp>
        <p:nvSpPr>
          <p:cNvPr id="15" name="Shape 12"/>
          <p:cNvSpPr/>
          <p:nvPr/>
        </p:nvSpPr>
        <p:spPr>
          <a:xfrm>
            <a:off x="6400800" y="2532888"/>
            <a:ext cx="2377440" cy="658368"/>
          </a:xfrm>
          <a:prstGeom prst="rect">
            <a:avLst/>
          </a:prstGeom>
          <a:solidFill>
            <a:srgbClr val="1F2937"/>
          </a:solidFill>
          <a:ln w="12700">
            <a:solidFill>
              <a:srgbClr val="6366F1">
                <a:alpha val="25000"/>
              </a:srgbClr>
            </a:solidFill>
            <a:prstDash val="solid"/>
          </a:ln>
        </p:spPr>
      </p:sp>
      <p:sp>
        <p:nvSpPr>
          <p:cNvPr id="16" name="Shape 13"/>
          <p:cNvSpPr/>
          <p:nvPr/>
        </p:nvSpPr>
        <p:spPr>
          <a:xfrm>
            <a:off x="6400800" y="2532888"/>
            <a:ext cx="54864" cy="658368"/>
          </a:xfrm>
          <a:prstGeom prst="rect">
            <a:avLst/>
          </a:prstGeom>
          <a:solidFill>
            <a:srgbClr val="6366F1"/>
          </a:solidFill>
          <a:ln w="12700">
            <a:solidFill>
              <a:srgbClr val="6366F1"/>
            </a:solidFill>
            <a:prstDash val="solid"/>
          </a:ln>
        </p:spPr>
      </p:sp>
      <p:sp>
        <p:nvSpPr>
          <p:cNvPr id="17" name="Text 14"/>
          <p:cNvSpPr/>
          <p:nvPr/>
        </p:nvSpPr>
        <p:spPr>
          <a:xfrm>
            <a:off x="6492240" y="2569464"/>
            <a:ext cx="2240280" cy="585216"/>
          </a:xfrm>
          <a:prstGeom prst="rect">
            <a:avLst/>
          </a:prstGeom>
          <a:noFill/>
        </p:spPr>
        <p:txBody>
          <a:bodyPr wrap="square" rtlCol="0" anchor="ctr"/>
          <a:lstStyle/>
          <a:p>
            <a:pPr marL="0" indent="0">
              <a:buNone/>
            </a:pPr>
            <a:r>
              <a:rPr lang="en-US" sz="950" dirty="0">
                <a:solidFill>
                  <a:srgbClr val="D1D5DB"/>
                </a:solidFill>
              </a:rPr>
              <a:t>Price Meter shows BTC at $83.47K — midway between $3.22K–$156.16K range.</a:t>
            </a:r>
            <a:endParaRPr lang="en-US" sz="950" dirty="0"/>
          </a:p>
        </p:txBody>
      </p:sp>
      <p:sp>
        <p:nvSpPr>
          <p:cNvPr id="18" name="Shape 15"/>
          <p:cNvSpPr/>
          <p:nvPr/>
        </p:nvSpPr>
        <p:spPr>
          <a:xfrm>
            <a:off x="6400800" y="3282696"/>
            <a:ext cx="2377440" cy="658368"/>
          </a:xfrm>
          <a:prstGeom prst="rect">
            <a:avLst/>
          </a:prstGeom>
          <a:solidFill>
            <a:srgbClr val="1F2937"/>
          </a:solidFill>
          <a:ln w="12700">
            <a:solidFill>
              <a:srgbClr val="6366F1">
                <a:alpha val="25000"/>
              </a:srgbClr>
            </a:solidFill>
            <a:prstDash val="solid"/>
          </a:ln>
        </p:spPr>
      </p:sp>
      <p:sp>
        <p:nvSpPr>
          <p:cNvPr id="19" name="Shape 16"/>
          <p:cNvSpPr/>
          <p:nvPr/>
        </p:nvSpPr>
        <p:spPr>
          <a:xfrm>
            <a:off x="6400800" y="3282696"/>
            <a:ext cx="54864" cy="658368"/>
          </a:xfrm>
          <a:prstGeom prst="rect">
            <a:avLst/>
          </a:prstGeom>
          <a:solidFill>
            <a:srgbClr val="6366F1"/>
          </a:solidFill>
          <a:ln w="12700">
            <a:solidFill>
              <a:srgbClr val="6366F1"/>
            </a:solidFill>
            <a:prstDash val="solid"/>
          </a:ln>
        </p:spPr>
      </p:sp>
      <p:sp>
        <p:nvSpPr>
          <p:cNvPr id="20" name="Text 17"/>
          <p:cNvSpPr/>
          <p:nvPr/>
        </p:nvSpPr>
        <p:spPr>
          <a:xfrm>
            <a:off x="6492240" y="3319272"/>
            <a:ext cx="2240280" cy="585216"/>
          </a:xfrm>
          <a:prstGeom prst="rect">
            <a:avLst/>
          </a:prstGeom>
          <a:noFill/>
        </p:spPr>
        <p:txBody>
          <a:bodyPr wrap="square" rtlCol="0" anchor="ctr"/>
          <a:lstStyle/>
          <a:p>
            <a:pPr marL="0" indent="0">
              <a:buNone/>
            </a:pPr>
            <a:r>
              <a:rPr lang="en-US" sz="950" dirty="0">
                <a:solidFill>
                  <a:srgbClr val="D1D5DB"/>
                </a:solidFill>
              </a:rPr>
              <a:t>PAX Gold ($4,603) and Tether Gold ($4,603) rank highest in price after Bitcoin.</a:t>
            </a:r>
            <a:endParaRPr lang="en-US" sz="950" dirty="0"/>
          </a:p>
        </p:txBody>
      </p:sp>
      <p:sp>
        <p:nvSpPr>
          <p:cNvPr id="21" name="Shape 18"/>
          <p:cNvSpPr/>
          <p:nvPr/>
        </p:nvSpPr>
        <p:spPr>
          <a:xfrm>
            <a:off x="6400800" y="4032504"/>
            <a:ext cx="2377440" cy="658368"/>
          </a:xfrm>
          <a:prstGeom prst="rect">
            <a:avLst/>
          </a:prstGeom>
          <a:solidFill>
            <a:srgbClr val="1F2937"/>
          </a:solidFill>
          <a:ln w="12700">
            <a:solidFill>
              <a:srgbClr val="6366F1">
                <a:alpha val="25000"/>
              </a:srgbClr>
            </a:solidFill>
            <a:prstDash val="solid"/>
          </a:ln>
        </p:spPr>
      </p:sp>
      <p:sp>
        <p:nvSpPr>
          <p:cNvPr id="22" name="Shape 19"/>
          <p:cNvSpPr/>
          <p:nvPr/>
        </p:nvSpPr>
        <p:spPr>
          <a:xfrm>
            <a:off x="6400800" y="4032504"/>
            <a:ext cx="54864" cy="658368"/>
          </a:xfrm>
          <a:prstGeom prst="rect">
            <a:avLst/>
          </a:prstGeom>
          <a:solidFill>
            <a:srgbClr val="6366F1"/>
          </a:solidFill>
          <a:ln w="12700">
            <a:solidFill>
              <a:srgbClr val="6366F1"/>
            </a:solidFill>
            <a:prstDash val="solid"/>
          </a:ln>
        </p:spPr>
      </p:sp>
      <p:sp>
        <p:nvSpPr>
          <p:cNvPr id="23" name="Text 20"/>
          <p:cNvSpPr/>
          <p:nvPr/>
        </p:nvSpPr>
        <p:spPr>
          <a:xfrm>
            <a:off x="6492240" y="4069080"/>
            <a:ext cx="2240280" cy="585216"/>
          </a:xfrm>
          <a:prstGeom prst="rect">
            <a:avLst/>
          </a:prstGeom>
          <a:noFill/>
        </p:spPr>
        <p:txBody>
          <a:bodyPr wrap="square" rtlCol="0" anchor="ctr"/>
          <a:lstStyle/>
          <a:p>
            <a:pPr marL="0" indent="0">
              <a:buNone/>
            </a:pPr>
            <a:r>
              <a:rPr lang="en-US" sz="950" dirty="0">
                <a:solidFill>
                  <a:srgbClr val="D1D5DB"/>
                </a:solidFill>
              </a:rPr>
              <a:t>Market Cap Treemap reveals Bitcoin's massive visual dominance ($1.39T block).</a:t>
            </a:r>
            <a:endParaRPr lang="en-US" sz="950" dirty="0"/>
          </a:p>
        </p:txBody>
      </p:sp>
      <p:sp>
        <p:nvSpPr>
          <p:cNvPr id="24" name="Shape 21"/>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Shape 1"/>
          <p:cNvSpPr/>
          <p:nvPr/>
        </p:nvSpPr>
        <p:spPr>
          <a:xfrm>
            <a:off x="0" y="0"/>
            <a:ext cx="54864" cy="5143500"/>
          </a:xfrm>
          <a:prstGeom prst="rect">
            <a:avLst/>
          </a:prstGeom>
          <a:solidFill>
            <a:srgbClr val="F59E0B"/>
          </a:solidFill>
          <a:ln w="12700">
            <a:solidFill>
              <a:srgbClr val="F59E0B"/>
            </a:solidFill>
            <a:prstDash val="solid"/>
          </a:ln>
        </p:spPr>
      </p:sp>
      <p:sp>
        <p:nvSpPr>
          <p:cNvPr id="4" name="Text 2"/>
          <p:cNvSpPr/>
          <p:nvPr/>
        </p:nvSpPr>
        <p:spPr>
          <a:xfrm>
            <a:off x="274320" y="182880"/>
            <a:ext cx="8595360" cy="320040"/>
          </a:xfrm>
          <a:prstGeom prst="rect">
            <a:avLst/>
          </a:prstGeom>
          <a:noFill/>
        </p:spPr>
        <p:txBody>
          <a:bodyPr wrap="square" rtlCol="0" anchor="ctr"/>
          <a:lstStyle/>
          <a:p>
            <a:pPr marL="0" indent="0">
              <a:buNone/>
            </a:pPr>
            <a:r>
              <a:rPr lang="en-US" sz="1100" b="1" kern="0" spc="400" dirty="0">
                <a:solidFill>
                  <a:srgbClr val="F59E0B"/>
                </a:solidFill>
              </a:rPr>
              <a:t>DASHBOARD</a:t>
            </a:r>
            <a:endParaRPr lang="en-US" sz="1100" dirty="0"/>
          </a:p>
        </p:txBody>
      </p:sp>
      <p:sp>
        <p:nvSpPr>
          <p:cNvPr id="5" name="Text 3"/>
          <p:cNvSpPr/>
          <p:nvPr/>
        </p:nvSpPr>
        <p:spPr>
          <a:xfrm>
            <a:off x="274320" y="457200"/>
            <a:ext cx="8595360" cy="502920"/>
          </a:xfrm>
          <a:prstGeom prst="rect">
            <a:avLst/>
          </a:prstGeom>
          <a:noFill/>
        </p:spPr>
        <p:txBody>
          <a:bodyPr wrap="square" rtlCol="0" anchor="ctr"/>
          <a:lstStyle/>
          <a:p>
            <a:pPr marL="0" indent="0">
              <a:buNone/>
            </a:pPr>
            <a:r>
              <a:rPr lang="en-US" sz="2600" b="1" dirty="0">
                <a:solidFill>
                  <a:srgbClr val="FFFFFF"/>
                </a:solidFill>
              </a:rPr>
              <a:t>Tokenomics &amp; Supply Dashboard</a:t>
            </a:r>
            <a:endParaRPr lang="en-US" sz="2600" dirty="0"/>
          </a:p>
        </p:txBody>
      </p:sp>
      <p:sp>
        <p:nvSpPr>
          <p:cNvPr id="6" name="Text 4"/>
          <p:cNvSpPr/>
          <p:nvPr/>
        </p:nvSpPr>
        <p:spPr>
          <a:xfrm>
            <a:off x="274320" y="896112"/>
            <a:ext cx="8595360" cy="256032"/>
          </a:xfrm>
          <a:prstGeom prst="rect">
            <a:avLst/>
          </a:prstGeom>
          <a:noFill/>
        </p:spPr>
        <p:txBody>
          <a:bodyPr wrap="square" rtlCol="0" anchor="ctr"/>
          <a:lstStyle/>
          <a:p>
            <a:pPr marL="0" indent="0">
              <a:buNone/>
            </a:pPr>
            <a:r>
              <a:rPr lang="en-US" sz="1100" i="1" dirty="0">
                <a:solidFill>
                  <a:srgbClr val="6B7280"/>
                </a:solidFill>
              </a:rPr>
              <a:t>Supply metrics, scarcity levels, and valuation analysis</a:t>
            </a:r>
            <a:endParaRPr lang="en-US" sz="1100" dirty="0"/>
          </a:p>
        </p:txBody>
      </p:sp>
      <p:sp>
        <p:nvSpPr>
          <p:cNvPr id="7" name="Shape 5"/>
          <p:cNvSpPr/>
          <p:nvPr/>
        </p:nvSpPr>
        <p:spPr>
          <a:xfrm>
            <a:off x="274320" y="1234440"/>
            <a:ext cx="5852160" cy="3520440"/>
          </a:xfrm>
          <a:prstGeom prst="rect">
            <a:avLst/>
          </a:prstGeom>
          <a:solidFill>
            <a:srgbClr val="1F2937"/>
          </a:solidFill>
          <a:ln w="12700">
            <a:solidFill>
              <a:srgbClr val="F59E0B">
                <a:alpha val="50000"/>
              </a:srgbClr>
            </a:solidFill>
            <a:prstDash val="solid"/>
          </a:ln>
          <a:effectLst>
            <a:outerShdw blurRad="127000" dist="38100" dir="8100000" algn="bl" rotWithShape="0">
              <a:srgbClr val="000000">
                <a:alpha val="50000"/>
              </a:srgbClr>
            </a:outerShdw>
          </a:effectLst>
        </p:spPr>
      </p:sp>
      <p:pic>
        <p:nvPicPr>
          <p:cNvPr id="8" name="Image 0" descr="preencoded.png"/>
          <p:cNvPicPr>
            <a:picLocks noChangeAspect="1"/>
          </p:cNvPicPr>
          <p:nvPr/>
        </p:nvPicPr>
        <p:blipFill>
          <a:blip r:embed="rId1"/>
          <a:stretch>
            <a:fillRect/>
          </a:stretch>
        </p:blipFill>
        <p:spPr>
          <a:xfrm>
            <a:off x="320040" y="1261872"/>
            <a:ext cx="5760720" cy="3474720"/>
          </a:xfrm>
          <a:prstGeom prst="rect">
            <a:avLst/>
          </a:prstGeom>
        </p:spPr>
      </p:pic>
      <p:sp>
        <p:nvSpPr>
          <p:cNvPr id="9" name="Shape 6"/>
          <p:cNvSpPr/>
          <p:nvPr/>
        </p:nvSpPr>
        <p:spPr>
          <a:xfrm>
            <a:off x="6309360" y="1234440"/>
            <a:ext cx="2560320" cy="3520440"/>
          </a:xfrm>
          <a:prstGeom prst="rect">
            <a:avLst/>
          </a:prstGeom>
          <a:solidFill>
            <a:srgbClr val="111827"/>
          </a:solidFill>
          <a:ln w="12700">
            <a:solidFill>
              <a:srgbClr val="F59E0B">
                <a:alpha val="35000"/>
              </a:srgbClr>
            </a:solidFill>
            <a:prstDash val="solid"/>
          </a:ln>
        </p:spPr>
      </p:sp>
      <p:sp>
        <p:nvSpPr>
          <p:cNvPr id="10" name="Shape 7"/>
          <p:cNvSpPr/>
          <p:nvPr/>
        </p:nvSpPr>
        <p:spPr>
          <a:xfrm>
            <a:off x="6309360" y="1234440"/>
            <a:ext cx="2560320" cy="54864"/>
          </a:xfrm>
          <a:prstGeom prst="rect">
            <a:avLst/>
          </a:prstGeom>
          <a:solidFill>
            <a:srgbClr val="F59E0B"/>
          </a:solidFill>
          <a:ln w="12700">
            <a:solidFill>
              <a:srgbClr val="F59E0B"/>
            </a:solidFill>
            <a:prstDash val="solid"/>
          </a:ln>
        </p:spPr>
      </p:sp>
      <p:sp>
        <p:nvSpPr>
          <p:cNvPr id="11" name="Text 8"/>
          <p:cNvSpPr/>
          <p:nvPr/>
        </p:nvSpPr>
        <p:spPr>
          <a:xfrm>
            <a:off x="6400800" y="1344168"/>
            <a:ext cx="2377440" cy="320040"/>
          </a:xfrm>
          <a:prstGeom prst="rect">
            <a:avLst/>
          </a:prstGeom>
          <a:noFill/>
        </p:spPr>
        <p:txBody>
          <a:bodyPr wrap="square" rtlCol="0" anchor="ctr"/>
          <a:lstStyle/>
          <a:p>
            <a:pPr marL="0" indent="0">
              <a:buNone/>
            </a:pPr>
            <a:r>
              <a:rPr lang="en-US" sz="1200" b="1" dirty="0">
                <a:solidFill>
                  <a:srgbClr val="F59E0B"/>
                </a:solidFill>
              </a:rPr>
              <a:t>Key Insights</a:t>
            </a:r>
            <a:endParaRPr lang="en-US" sz="1200" dirty="0"/>
          </a:p>
        </p:txBody>
      </p:sp>
      <p:sp>
        <p:nvSpPr>
          <p:cNvPr id="12" name="Shape 9"/>
          <p:cNvSpPr/>
          <p:nvPr/>
        </p:nvSpPr>
        <p:spPr>
          <a:xfrm>
            <a:off x="6400800" y="1783080"/>
            <a:ext cx="2377440" cy="658368"/>
          </a:xfrm>
          <a:prstGeom prst="rect">
            <a:avLst/>
          </a:prstGeom>
          <a:solidFill>
            <a:srgbClr val="1F2937"/>
          </a:solidFill>
          <a:ln w="12700">
            <a:solidFill>
              <a:srgbClr val="F59E0B">
                <a:alpha val="25000"/>
              </a:srgbClr>
            </a:solidFill>
            <a:prstDash val="solid"/>
          </a:ln>
        </p:spPr>
      </p:sp>
      <p:sp>
        <p:nvSpPr>
          <p:cNvPr id="13" name="Shape 10"/>
          <p:cNvSpPr/>
          <p:nvPr/>
        </p:nvSpPr>
        <p:spPr>
          <a:xfrm>
            <a:off x="6400800" y="1783080"/>
            <a:ext cx="54864" cy="658368"/>
          </a:xfrm>
          <a:prstGeom prst="rect">
            <a:avLst/>
          </a:prstGeom>
          <a:solidFill>
            <a:srgbClr val="F59E0B"/>
          </a:solidFill>
          <a:ln w="12700">
            <a:solidFill>
              <a:srgbClr val="F59E0B"/>
            </a:solidFill>
            <a:prstDash val="solid"/>
          </a:ln>
        </p:spPr>
      </p:sp>
      <p:sp>
        <p:nvSpPr>
          <p:cNvPr id="14" name="Text 11"/>
          <p:cNvSpPr/>
          <p:nvPr/>
        </p:nvSpPr>
        <p:spPr>
          <a:xfrm>
            <a:off x="6492240" y="1819656"/>
            <a:ext cx="2240280" cy="585216"/>
          </a:xfrm>
          <a:prstGeom prst="rect">
            <a:avLst/>
          </a:prstGeom>
          <a:noFill/>
        </p:spPr>
        <p:txBody>
          <a:bodyPr wrap="square" rtlCol="0" anchor="ctr"/>
          <a:lstStyle/>
          <a:p>
            <a:pPr marL="0" indent="0">
              <a:buNone/>
            </a:pPr>
            <a:r>
              <a:rPr lang="en-US" sz="950" dirty="0">
                <a:solidFill>
                  <a:srgbClr val="D1D5DB"/>
                </a:solidFill>
              </a:rPr>
              <a:t>Average circulating supply ratio: 95.94% — most coins are nearly fully in circulation.</a:t>
            </a:r>
            <a:endParaRPr lang="en-US" sz="950" dirty="0"/>
          </a:p>
        </p:txBody>
      </p:sp>
      <p:sp>
        <p:nvSpPr>
          <p:cNvPr id="15" name="Shape 12"/>
          <p:cNvSpPr/>
          <p:nvPr/>
        </p:nvSpPr>
        <p:spPr>
          <a:xfrm>
            <a:off x="6400800" y="2532888"/>
            <a:ext cx="2377440" cy="658368"/>
          </a:xfrm>
          <a:prstGeom prst="rect">
            <a:avLst/>
          </a:prstGeom>
          <a:solidFill>
            <a:srgbClr val="1F2937"/>
          </a:solidFill>
          <a:ln w="12700">
            <a:solidFill>
              <a:srgbClr val="F59E0B">
                <a:alpha val="25000"/>
              </a:srgbClr>
            </a:solidFill>
            <a:prstDash val="solid"/>
          </a:ln>
        </p:spPr>
      </p:sp>
      <p:sp>
        <p:nvSpPr>
          <p:cNvPr id="16" name="Shape 13"/>
          <p:cNvSpPr/>
          <p:nvPr/>
        </p:nvSpPr>
        <p:spPr>
          <a:xfrm>
            <a:off x="6400800" y="2532888"/>
            <a:ext cx="54864" cy="658368"/>
          </a:xfrm>
          <a:prstGeom prst="rect">
            <a:avLst/>
          </a:prstGeom>
          <a:solidFill>
            <a:srgbClr val="F59E0B"/>
          </a:solidFill>
          <a:ln w="12700">
            <a:solidFill>
              <a:srgbClr val="F59E0B"/>
            </a:solidFill>
            <a:prstDash val="solid"/>
          </a:ln>
        </p:spPr>
      </p:sp>
      <p:sp>
        <p:nvSpPr>
          <p:cNvPr id="17" name="Text 14"/>
          <p:cNvSpPr/>
          <p:nvPr/>
        </p:nvSpPr>
        <p:spPr>
          <a:xfrm>
            <a:off x="6492240" y="2569464"/>
            <a:ext cx="2240280" cy="585216"/>
          </a:xfrm>
          <a:prstGeom prst="rect">
            <a:avLst/>
          </a:prstGeom>
          <a:noFill/>
        </p:spPr>
        <p:txBody>
          <a:bodyPr wrap="square" rtlCol="0" anchor="ctr"/>
          <a:lstStyle/>
          <a:p>
            <a:pPr marL="0" indent="0">
              <a:buNone/>
            </a:pPr>
            <a:r>
              <a:rPr lang="en-US" sz="950" dirty="0">
                <a:solidFill>
                  <a:srgbClr val="D1D5DB"/>
                </a:solidFill>
              </a:rPr>
              <a:t>Max supply across dataset reaches 2E+15 (SHIB-class coins) — enormous inflationary risk.</a:t>
            </a:r>
            <a:endParaRPr lang="en-US" sz="950" dirty="0"/>
          </a:p>
        </p:txBody>
      </p:sp>
      <p:sp>
        <p:nvSpPr>
          <p:cNvPr id="18" name="Shape 15"/>
          <p:cNvSpPr/>
          <p:nvPr/>
        </p:nvSpPr>
        <p:spPr>
          <a:xfrm>
            <a:off x="6400800" y="3282696"/>
            <a:ext cx="2377440" cy="658368"/>
          </a:xfrm>
          <a:prstGeom prst="rect">
            <a:avLst/>
          </a:prstGeom>
          <a:solidFill>
            <a:srgbClr val="1F2937"/>
          </a:solidFill>
          <a:ln w="12700">
            <a:solidFill>
              <a:srgbClr val="F59E0B">
                <a:alpha val="25000"/>
              </a:srgbClr>
            </a:solidFill>
            <a:prstDash val="solid"/>
          </a:ln>
        </p:spPr>
      </p:sp>
      <p:sp>
        <p:nvSpPr>
          <p:cNvPr id="19" name="Shape 16"/>
          <p:cNvSpPr/>
          <p:nvPr/>
        </p:nvSpPr>
        <p:spPr>
          <a:xfrm>
            <a:off x="6400800" y="3282696"/>
            <a:ext cx="54864" cy="658368"/>
          </a:xfrm>
          <a:prstGeom prst="rect">
            <a:avLst/>
          </a:prstGeom>
          <a:solidFill>
            <a:srgbClr val="F59E0B"/>
          </a:solidFill>
          <a:ln w="12700">
            <a:solidFill>
              <a:srgbClr val="F59E0B"/>
            </a:solidFill>
            <a:prstDash val="solid"/>
          </a:ln>
        </p:spPr>
      </p:sp>
      <p:sp>
        <p:nvSpPr>
          <p:cNvPr id="20" name="Text 17"/>
          <p:cNvSpPr/>
          <p:nvPr/>
        </p:nvSpPr>
        <p:spPr>
          <a:xfrm>
            <a:off x="6492240" y="3319272"/>
            <a:ext cx="2240280" cy="585216"/>
          </a:xfrm>
          <a:prstGeom prst="rect">
            <a:avLst/>
          </a:prstGeom>
          <a:noFill/>
        </p:spPr>
        <p:txBody>
          <a:bodyPr wrap="square" rtlCol="0" anchor="ctr"/>
          <a:lstStyle/>
          <a:p>
            <a:pPr marL="0" indent="0">
              <a:buNone/>
            </a:pPr>
            <a:r>
              <a:rPr lang="en-US" sz="950" dirty="0">
                <a:solidFill>
                  <a:srgbClr val="D1D5DB"/>
                </a:solidFill>
              </a:rPr>
              <a:t>58% of coins fall in 'Medium' scarcity; only 21% are classified as 'High Scarcity'.</a:t>
            </a:r>
            <a:endParaRPr lang="en-US" sz="950" dirty="0"/>
          </a:p>
        </p:txBody>
      </p:sp>
      <p:sp>
        <p:nvSpPr>
          <p:cNvPr id="21" name="Shape 18"/>
          <p:cNvSpPr/>
          <p:nvPr/>
        </p:nvSpPr>
        <p:spPr>
          <a:xfrm>
            <a:off x="6400800" y="4032504"/>
            <a:ext cx="2377440" cy="658368"/>
          </a:xfrm>
          <a:prstGeom prst="rect">
            <a:avLst/>
          </a:prstGeom>
          <a:solidFill>
            <a:srgbClr val="1F2937"/>
          </a:solidFill>
          <a:ln w="12700">
            <a:solidFill>
              <a:srgbClr val="F59E0B">
                <a:alpha val="25000"/>
              </a:srgbClr>
            </a:solidFill>
            <a:prstDash val="solid"/>
          </a:ln>
        </p:spPr>
      </p:sp>
      <p:sp>
        <p:nvSpPr>
          <p:cNvPr id="22" name="Shape 19"/>
          <p:cNvSpPr/>
          <p:nvPr/>
        </p:nvSpPr>
        <p:spPr>
          <a:xfrm>
            <a:off x="6400800" y="4032504"/>
            <a:ext cx="54864" cy="658368"/>
          </a:xfrm>
          <a:prstGeom prst="rect">
            <a:avLst/>
          </a:prstGeom>
          <a:solidFill>
            <a:srgbClr val="F59E0B"/>
          </a:solidFill>
          <a:ln w="12700">
            <a:solidFill>
              <a:srgbClr val="F59E0B"/>
            </a:solidFill>
            <a:prstDash val="solid"/>
          </a:ln>
        </p:spPr>
      </p:sp>
      <p:sp>
        <p:nvSpPr>
          <p:cNvPr id="23" name="Text 20"/>
          <p:cNvSpPr/>
          <p:nvPr/>
        </p:nvSpPr>
        <p:spPr>
          <a:xfrm>
            <a:off x="6492240" y="4069080"/>
            <a:ext cx="2240280" cy="585216"/>
          </a:xfrm>
          <a:prstGeom prst="rect">
            <a:avLst/>
          </a:prstGeom>
          <a:noFill/>
        </p:spPr>
        <p:txBody>
          <a:bodyPr wrap="square" rtlCol="0" anchor="ctr"/>
          <a:lstStyle/>
          <a:p>
            <a:pPr marL="0" indent="0">
              <a:buNone/>
            </a:pPr>
            <a:r>
              <a:rPr lang="en-US" sz="950" dirty="0">
                <a:solidFill>
                  <a:srgbClr val="D1D5DB"/>
                </a:solidFill>
              </a:rPr>
              <a:t>Avg MC vs FDV ratio of 0.88 shows most coins are close to fully diluted market value.</a:t>
            </a:r>
            <a:endParaRPr lang="en-US" sz="950" dirty="0"/>
          </a:p>
        </p:txBody>
      </p:sp>
      <p:sp>
        <p:nvSpPr>
          <p:cNvPr id="24" name="Shape 21"/>
          <p:cNvSpPr/>
          <p:nvPr/>
        </p:nvSpPr>
        <p:spPr>
          <a:xfrm>
            <a:off x="0" y="5070348"/>
            <a:ext cx="9144000" cy="73152"/>
          </a:xfrm>
          <a:prstGeom prst="rect">
            <a:avLst/>
          </a:prstGeom>
          <a:solidFill>
            <a:srgbClr val="F59E0B"/>
          </a:solidFill>
          <a:ln w="12700">
            <a:solidFill>
              <a:srgbClr val="F59E0B"/>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Shape 1"/>
          <p:cNvSpPr/>
          <p:nvPr/>
        </p:nvSpPr>
        <p:spPr>
          <a:xfrm>
            <a:off x="0" y="0"/>
            <a:ext cx="54864" cy="5143500"/>
          </a:xfrm>
          <a:prstGeom prst="rect">
            <a:avLst/>
          </a:prstGeom>
          <a:solidFill>
            <a:srgbClr val="EF4444"/>
          </a:solidFill>
          <a:ln w="12700">
            <a:solidFill>
              <a:srgbClr val="EF4444"/>
            </a:solidFill>
            <a:prstDash val="solid"/>
          </a:ln>
        </p:spPr>
      </p:sp>
      <p:sp>
        <p:nvSpPr>
          <p:cNvPr id="4" name="Text 2"/>
          <p:cNvSpPr/>
          <p:nvPr/>
        </p:nvSpPr>
        <p:spPr>
          <a:xfrm>
            <a:off x="274320" y="182880"/>
            <a:ext cx="8595360" cy="320040"/>
          </a:xfrm>
          <a:prstGeom prst="rect">
            <a:avLst/>
          </a:prstGeom>
          <a:noFill/>
        </p:spPr>
        <p:txBody>
          <a:bodyPr wrap="square" rtlCol="0" anchor="ctr"/>
          <a:lstStyle/>
          <a:p>
            <a:pPr marL="0" indent="0">
              <a:buNone/>
            </a:pPr>
            <a:r>
              <a:rPr lang="en-US" sz="1100" b="1" kern="0" spc="400" dirty="0">
                <a:solidFill>
                  <a:srgbClr val="EF4444"/>
                </a:solidFill>
              </a:rPr>
              <a:t>DASHBOARD</a:t>
            </a:r>
            <a:endParaRPr lang="en-US" sz="1100" dirty="0"/>
          </a:p>
        </p:txBody>
      </p:sp>
      <p:sp>
        <p:nvSpPr>
          <p:cNvPr id="5" name="Text 3"/>
          <p:cNvSpPr/>
          <p:nvPr/>
        </p:nvSpPr>
        <p:spPr>
          <a:xfrm>
            <a:off x="274320" y="457200"/>
            <a:ext cx="8595360" cy="502920"/>
          </a:xfrm>
          <a:prstGeom prst="rect">
            <a:avLst/>
          </a:prstGeom>
          <a:noFill/>
        </p:spPr>
        <p:txBody>
          <a:bodyPr wrap="square" rtlCol="0" anchor="ctr"/>
          <a:lstStyle/>
          <a:p>
            <a:pPr marL="0" indent="0">
              <a:buNone/>
            </a:pPr>
            <a:r>
              <a:rPr lang="en-US" sz="2600" b="1" dirty="0">
                <a:solidFill>
                  <a:srgbClr val="FFFFFF"/>
                </a:solidFill>
              </a:rPr>
              <a:t>Volatility &amp; Performance Dashboard</a:t>
            </a:r>
            <a:endParaRPr lang="en-US" sz="2600" dirty="0"/>
          </a:p>
        </p:txBody>
      </p:sp>
      <p:sp>
        <p:nvSpPr>
          <p:cNvPr id="6" name="Text 4"/>
          <p:cNvSpPr/>
          <p:nvPr/>
        </p:nvSpPr>
        <p:spPr>
          <a:xfrm>
            <a:off x="274320" y="896112"/>
            <a:ext cx="8595360" cy="256032"/>
          </a:xfrm>
          <a:prstGeom prst="rect">
            <a:avLst/>
          </a:prstGeom>
          <a:noFill/>
        </p:spPr>
        <p:txBody>
          <a:bodyPr wrap="square" rtlCol="0" anchor="ctr"/>
          <a:lstStyle/>
          <a:p>
            <a:pPr marL="0" indent="0">
              <a:buNone/>
            </a:pPr>
            <a:r>
              <a:rPr lang="en-US" sz="1100" i="1" dirty="0">
                <a:solidFill>
                  <a:srgbClr val="6B7280"/>
                </a:solidFill>
              </a:rPr>
              <a:t>Stability scoring, volatility index, and performance categorization</a:t>
            </a:r>
            <a:endParaRPr lang="en-US" sz="1100" dirty="0"/>
          </a:p>
        </p:txBody>
      </p:sp>
      <p:sp>
        <p:nvSpPr>
          <p:cNvPr id="7" name="Shape 5"/>
          <p:cNvSpPr/>
          <p:nvPr/>
        </p:nvSpPr>
        <p:spPr>
          <a:xfrm>
            <a:off x="274320" y="1234440"/>
            <a:ext cx="5852160" cy="3520440"/>
          </a:xfrm>
          <a:prstGeom prst="rect">
            <a:avLst/>
          </a:prstGeom>
          <a:solidFill>
            <a:srgbClr val="1F2937"/>
          </a:solidFill>
          <a:ln w="12700">
            <a:solidFill>
              <a:srgbClr val="EF4444">
                <a:alpha val="50000"/>
              </a:srgbClr>
            </a:solidFill>
            <a:prstDash val="solid"/>
          </a:ln>
          <a:effectLst>
            <a:outerShdw blurRad="127000" dist="38100" dir="8100000" algn="bl" rotWithShape="0">
              <a:srgbClr val="000000">
                <a:alpha val="50000"/>
              </a:srgbClr>
            </a:outerShdw>
          </a:effectLst>
        </p:spPr>
      </p:sp>
      <p:sp>
        <p:nvSpPr>
          <p:cNvPr id="9" name="Shape 6"/>
          <p:cNvSpPr/>
          <p:nvPr/>
        </p:nvSpPr>
        <p:spPr>
          <a:xfrm>
            <a:off x="6309360" y="1234440"/>
            <a:ext cx="2560320" cy="3520440"/>
          </a:xfrm>
          <a:prstGeom prst="rect">
            <a:avLst/>
          </a:prstGeom>
          <a:solidFill>
            <a:srgbClr val="111827"/>
          </a:solidFill>
          <a:ln w="12700">
            <a:solidFill>
              <a:srgbClr val="EF4444">
                <a:alpha val="35000"/>
              </a:srgbClr>
            </a:solidFill>
            <a:prstDash val="solid"/>
          </a:ln>
        </p:spPr>
      </p:sp>
      <p:sp>
        <p:nvSpPr>
          <p:cNvPr id="10" name="Shape 7"/>
          <p:cNvSpPr/>
          <p:nvPr/>
        </p:nvSpPr>
        <p:spPr>
          <a:xfrm>
            <a:off x="6309360" y="1234440"/>
            <a:ext cx="2560320" cy="54864"/>
          </a:xfrm>
          <a:prstGeom prst="rect">
            <a:avLst/>
          </a:prstGeom>
          <a:solidFill>
            <a:srgbClr val="EF4444"/>
          </a:solidFill>
          <a:ln w="12700">
            <a:solidFill>
              <a:srgbClr val="EF4444"/>
            </a:solidFill>
            <a:prstDash val="solid"/>
          </a:ln>
        </p:spPr>
      </p:sp>
      <p:sp>
        <p:nvSpPr>
          <p:cNvPr id="11" name="Text 8"/>
          <p:cNvSpPr/>
          <p:nvPr/>
        </p:nvSpPr>
        <p:spPr>
          <a:xfrm>
            <a:off x="6400800" y="1344168"/>
            <a:ext cx="2377440" cy="320040"/>
          </a:xfrm>
          <a:prstGeom prst="rect">
            <a:avLst/>
          </a:prstGeom>
          <a:noFill/>
        </p:spPr>
        <p:txBody>
          <a:bodyPr wrap="square" rtlCol="0" anchor="ctr"/>
          <a:lstStyle/>
          <a:p>
            <a:pPr marL="0" indent="0">
              <a:buNone/>
            </a:pPr>
            <a:r>
              <a:rPr lang="en-US" sz="1200" b="1" dirty="0">
                <a:solidFill>
                  <a:srgbClr val="EF4444"/>
                </a:solidFill>
              </a:rPr>
              <a:t>Key Insights</a:t>
            </a:r>
            <a:endParaRPr lang="en-US" sz="1200" dirty="0"/>
          </a:p>
        </p:txBody>
      </p:sp>
      <p:sp>
        <p:nvSpPr>
          <p:cNvPr id="12" name="Shape 9"/>
          <p:cNvSpPr/>
          <p:nvPr/>
        </p:nvSpPr>
        <p:spPr>
          <a:xfrm>
            <a:off x="6400800" y="1783080"/>
            <a:ext cx="2377440" cy="658368"/>
          </a:xfrm>
          <a:prstGeom prst="rect">
            <a:avLst/>
          </a:prstGeom>
          <a:solidFill>
            <a:srgbClr val="1F2937"/>
          </a:solidFill>
          <a:ln w="12700">
            <a:solidFill>
              <a:srgbClr val="EF4444">
                <a:alpha val="25000"/>
              </a:srgbClr>
            </a:solidFill>
            <a:prstDash val="solid"/>
          </a:ln>
        </p:spPr>
      </p:sp>
      <p:sp>
        <p:nvSpPr>
          <p:cNvPr id="13" name="Shape 10"/>
          <p:cNvSpPr/>
          <p:nvPr/>
        </p:nvSpPr>
        <p:spPr>
          <a:xfrm>
            <a:off x="6400800" y="1783080"/>
            <a:ext cx="54864" cy="658368"/>
          </a:xfrm>
          <a:prstGeom prst="rect">
            <a:avLst/>
          </a:prstGeom>
          <a:solidFill>
            <a:srgbClr val="EF4444"/>
          </a:solidFill>
          <a:ln w="12700">
            <a:solidFill>
              <a:srgbClr val="EF4444"/>
            </a:solidFill>
            <a:prstDash val="solid"/>
          </a:ln>
        </p:spPr>
      </p:sp>
      <p:sp>
        <p:nvSpPr>
          <p:cNvPr id="14" name="Text 11"/>
          <p:cNvSpPr/>
          <p:nvPr/>
        </p:nvSpPr>
        <p:spPr>
          <a:xfrm>
            <a:off x="6492240" y="1819656"/>
            <a:ext cx="2240280" cy="585216"/>
          </a:xfrm>
          <a:prstGeom prst="rect">
            <a:avLst/>
          </a:prstGeom>
          <a:noFill/>
        </p:spPr>
        <p:txBody>
          <a:bodyPr wrap="square" rtlCol="0" anchor="ctr"/>
          <a:lstStyle/>
          <a:p>
            <a:pPr marL="0" indent="0">
              <a:buNone/>
            </a:pPr>
            <a:r>
              <a:rPr lang="en-US" sz="950" dirty="0">
                <a:solidFill>
                  <a:srgbClr val="D1D5DB"/>
                </a:solidFill>
              </a:rPr>
              <a:t>Average 24h change: -1.56%; Average 7d change: +0.95% — slight mid-term recovery.</a:t>
            </a:r>
            <a:endParaRPr lang="en-US" sz="950" dirty="0"/>
          </a:p>
        </p:txBody>
      </p:sp>
      <p:sp>
        <p:nvSpPr>
          <p:cNvPr id="15" name="Shape 12"/>
          <p:cNvSpPr/>
          <p:nvPr/>
        </p:nvSpPr>
        <p:spPr>
          <a:xfrm>
            <a:off x="6400800" y="2532888"/>
            <a:ext cx="2377440" cy="658368"/>
          </a:xfrm>
          <a:prstGeom prst="rect">
            <a:avLst/>
          </a:prstGeom>
          <a:solidFill>
            <a:srgbClr val="1F2937"/>
          </a:solidFill>
          <a:ln w="12700">
            <a:solidFill>
              <a:srgbClr val="EF4444">
                <a:alpha val="25000"/>
              </a:srgbClr>
            </a:solidFill>
            <a:prstDash val="solid"/>
          </a:ln>
        </p:spPr>
      </p:sp>
      <p:sp>
        <p:nvSpPr>
          <p:cNvPr id="16" name="Shape 13"/>
          <p:cNvSpPr/>
          <p:nvPr/>
        </p:nvSpPr>
        <p:spPr>
          <a:xfrm>
            <a:off x="6400800" y="2532888"/>
            <a:ext cx="54864" cy="658368"/>
          </a:xfrm>
          <a:prstGeom prst="rect">
            <a:avLst/>
          </a:prstGeom>
          <a:solidFill>
            <a:srgbClr val="EF4444"/>
          </a:solidFill>
          <a:ln w="12700">
            <a:solidFill>
              <a:srgbClr val="EF4444"/>
            </a:solidFill>
            <a:prstDash val="solid"/>
          </a:ln>
        </p:spPr>
      </p:sp>
      <p:sp>
        <p:nvSpPr>
          <p:cNvPr id="17" name="Text 14"/>
          <p:cNvSpPr/>
          <p:nvPr/>
        </p:nvSpPr>
        <p:spPr>
          <a:xfrm>
            <a:off x="6492240" y="2569464"/>
            <a:ext cx="2240280" cy="585216"/>
          </a:xfrm>
          <a:prstGeom prst="rect">
            <a:avLst/>
          </a:prstGeom>
          <a:noFill/>
        </p:spPr>
        <p:txBody>
          <a:bodyPr wrap="square" rtlCol="0" anchor="ctr"/>
          <a:lstStyle/>
          <a:p>
            <a:pPr marL="0" indent="0">
              <a:buNone/>
            </a:pPr>
            <a:r>
              <a:rPr lang="en-US" sz="950" dirty="0">
                <a:solidFill>
                  <a:srgbClr val="D1D5DB"/>
                </a:solidFill>
              </a:rPr>
              <a:t>Average Volatility Score: 7.24; Volatility Index: 2.46 — elevated market turbulence.</a:t>
            </a:r>
            <a:endParaRPr lang="en-US" sz="950" dirty="0"/>
          </a:p>
        </p:txBody>
      </p:sp>
      <p:sp>
        <p:nvSpPr>
          <p:cNvPr id="18" name="Shape 15"/>
          <p:cNvSpPr/>
          <p:nvPr/>
        </p:nvSpPr>
        <p:spPr>
          <a:xfrm>
            <a:off x="6400800" y="3282696"/>
            <a:ext cx="2377440" cy="658368"/>
          </a:xfrm>
          <a:prstGeom prst="rect">
            <a:avLst/>
          </a:prstGeom>
          <a:solidFill>
            <a:srgbClr val="1F2937"/>
          </a:solidFill>
          <a:ln w="12700">
            <a:solidFill>
              <a:srgbClr val="EF4444">
                <a:alpha val="25000"/>
              </a:srgbClr>
            </a:solidFill>
            <a:prstDash val="solid"/>
          </a:ln>
        </p:spPr>
      </p:sp>
      <p:sp>
        <p:nvSpPr>
          <p:cNvPr id="19" name="Shape 16"/>
          <p:cNvSpPr/>
          <p:nvPr/>
        </p:nvSpPr>
        <p:spPr>
          <a:xfrm>
            <a:off x="6400800" y="3282696"/>
            <a:ext cx="54864" cy="658368"/>
          </a:xfrm>
          <a:prstGeom prst="rect">
            <a:avLst/>
          </a:prstGeom>
          <a:solidFill>
            <a:srgbClr val="EF4444"/>
          </a:solidFill>
          <a:ln w="12700">
            <a:solidFill>
              <a:srgbClr val="EF4444"/>
            </a:solidFill>
            <a:prstDash val="solid"/>
          </a:ln>
        </p:spPr>
      </p:sp>
      <p:sp>
        <p:nvSpPr>
          <p:cNvPr id="20" name="Text 17"/>
          <p:cNvSpPr/>
          <p:nvPr/>
        </p:nvSpPr>
        <p:spPr>
          <a:xfrm>
            <a:off x="6492240" y="3319272"/>
            <a:ext cx="2240280" cy="585216"/>
          </a:xfrm>
          <a:prstGeom prst="rect">
            <a:avLst/>
          </a:prstGeom>
          <a:noFill/>
        </p:spPr>
        <p:txBody>
          <a:bodyPr wrap="square" rtlCol="0" anchor="ctr"/>
          <a:lstStyle/>
          <a:p>
            <a:pPr marL="0" indent="0">
              <a:buNone/>
            </a:pPr>
            <a:r>
              <a:rPr lang="en-US" sz="950" dirty="0">
                <a:solidFill>
                  <a:srgbClr val="D1D5DB"/>
                </a:solidFill>
              </a:rPr>
              <a:t>Siren leads volatility scores at 55, followed by River (41) and Pi Network (33).</a:t>
            </a:r>
            <a:endParaRPr lang="en-US" sz="950" dirty="0"/>
          </a:p>
        </p:txBody>
      </p:sp>
      <p:sp>
        <p:nvSpPr>
          <p:cNvPr id="21" name="Shape 18"/>
          <p:cNvSpPr/>
          <p:nvPr/>
        </p:nvSpPr>
        <p:spPr>
          <a:xfrm>
            <a:off x="6400800" y="4032504"/>
            <a:ext cx="2377440" cy="658368"/>
          </a:xfrm>
          <a:prstGeom prst="rect">
            <a:avLst/>
          </a:prstGeom>
          <a:solidFill>
            <a:srgbClr val="1F2937"/>
          </a:solidFill>
          <a:ln w="12700">
            <a:solidFill>
              <a:srgbClr val="EF4444">
                <a:alpha val="25000"/>
              </a:srgbClr>
            </a:solidFill>
            <a:prstDash val="solid"/>
          </a:ln>
        </p:spPr>
      </p:sp>
      <p:sp>
        <p:nvSpPr>
          <p:cNvPr id="22" name="Shape 19"/>
          <p:cNvSpPr/>
          <p:nvPr/>
        </p:nvSpPr>
        <p:spPr>
          <a:xfrm>
            <a:off x="6400800" y="4032504"/>
            <a:ext cx="54864" cy="658368"/>
          </a:xfrm>
          <a:prstGeom prst="rect">
            <a:avLst/>
          </a:prstGeom>
          <a:solidFill>
            <a:srgbClr val="EF4444"/>
          </a:solidFill>
          <a:ln w="12700">
            <a:solidFill>
              <a:srgbClr val="EF4444"/>
            </a:solidFill>
            <a:prstDash val="solid"/>
          </a:ln>
        </p:spPr>
      </p:sp>
      <p:sp>
        <p:nvSpPr>
          <p:cNvPr id="23" name="Text 20"/>
          <p:cNvSpPr/>
          <p:nvPr/>
        </p:nvSpPr>
        <p:spPr>
          <a:xfrm>
            <a:off x="6492240" y="4069080"/>
            <a:ext cx="2240280" cy="585216"/>
          </a:xfrm>
          <a:prstGeom prst="rect">
            <a:avLst/>
          </a:prstGeom>
          <a:noFill/>
        </p:spPr>
        <p:txBody>
          <a:bodyPr wrap="square" rtlCol="0" anchor="ctr"/>
          <a:lstStyle/>
          <a:p>
            <a:pPr marL="0" indent="0">
              <a:buNone/>
            </a:pPr>
            <a:r>
              <a:rPr lang="en-US" sz="950" dirty="0">
                <a:solidFill>
                  <a:srgbClr val="D1D5DB"/>
                </a:solidFill>
              </a:rPr>
              <a:t>Only 15 coins show 'Strong Growth' vs 33 in 'Short-term Drop' — risk-heavy landscape.</a:t>
            </a:r>
            <a:endParaRPr lang="en-US" sz="950" dirty="0"/>
          </a:p>
        </p:txBody>
      </p:sp>
      <p:sp>
        <p:nvSpPr>
          <p:cNvPr id="24" name="Shape 21"/>
          <p:cNvSpPr/>
          <p:nvPr/>
        </p:nvSpPr>
        <p:spPr>
          <a:xfrm>
            <a:off x="0" y="5070348"/>
            <a:ext cx="9144000" cy="73152"/>
          </a:xfrm>
          <a:prstGeom prst="rect">
            <a:avLst/>
          </a:prstGeom>
          <a:solidFill>
            <a:srgbClr val="EF4444"/>
          </a:solidFill>
          <a:ln w="12700">
            <a:solidFill>
              <a:srgbClr val="EF4444"/>
            </a:solidFill>
            <a:prstDash val="solid"/>
          </a:ln>
        </p:spPr>
      </p:sp>
      <p:pic>
        <p:nvPicPr>
          <p:cNvPr id="25" name="Picture 24"/>
          <p:cNvPicPr>
            <a:picLocks noChangeAspect="1"/>
          </p:cNvPicPr>
          <p:nvPr/>
        </p:nvPicPr>
        <p:blipFill>
          <a:blip r:embed="rId1"/>
          <a:stretch>
            <a:fillRect/>
          </a:stretch>
        </p:blipFill>
        <p:spPr>
          <a:xfrm>
            <a:off x="306070" y="1278255"/>
            <a:ext cx="5792470" cy="34474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0" y="0"/>
            <a:ext cx="54864" cy="5143500"/>
          </a:xfrm>
          <a:prstGeom prst="rect">
            <a:avLst/>
          </a:prstGeom>
          <a:solidFill>
            <a:srgbClr val="22D3EE"/>
          </a:solidFill>
          <a:ln w="12700">
            <a:solidFill>
              <a:srgbClr val="22D3EE"/>
            </a:solidFill>
            <a:prstDash val="solid"/>
          </a:ln>
        </p:spPr>
      </p:sp>
      <p:sp>
        <p:nvSpPr>
          <p:cNvPr id="4" name="Text 2"/>
          <p:cNvSpPr/>
          <p:nvPr/>
        </p:nvSpPr>
        <p:spPr>
          <a:xfrm>
            <a:off x="274320" y="182880"/>
            <a:ext cx="8595360" cy="320040"/>
          </a:xfrm>
          <a:prstGeom prst="rect">
            <a:avLst/>
          </a:prstGeom>
          <a:noFill/>
        </p:spPr>
        <p:txBody>
          <a:bodyPr wrap="square" rtlCol="0" anchor="ctr"/>
          <a:lstStyle/>
          <a:p>
            <a:pPr marL="0" indent="0">
              <a:buNone/>
            </a:pPr>
            <a:r>
              <a:rPr lang="en-US" sz="1100" b="1" kern="0" spc="400" dirty="0">
                <a:solidFill>
                  <a:srgbClr val="22D3EE"/>
                </a:solidFill>
              </a:rPr>
              <a:t>DASHBOARD</a:t>
            </a:r>
            <a:endParaRPr lang="en-US" sz="1100" dirty="0"/>
          </a:p>
        </p:txBody>
      </p:sp>
      <p:sp>
        <p:nvSpPr>
          <p:cNvPr id="5" name="Text 3"/>
          <p:cNvSpPr/>
          <p:nvPr/>
        </p:nvSpPr>
        <p:spPr>
          <a:xfrm>
            <a:off x="274320" y="457200"/>
            <a:ext cx="8595360" cy="502920"/>
          </a:xfrm>
          <a:prstGeom prst="rect">
            <a:avLst/>
          </a:prstGeom>
          <a:noFill/>
        </p:spPr>
        <p:txBody>
          <a:bodyPr wrap="square" rtlCol="0" anchor="ctr"/>
          <a:lstStyle/>
          <a:p>
            <a:pPr marL="0" indent="0">
              <a:buNone/>
            </a:pPr>
            <a:r>
              <a:rPr lang="en-US" sz="2600" b="1" dirty="0">
                <a:solidFill>
                  <a:srgbClr val="FFFFFF"/>
                </a:solidFill>
              </a:rPr>
              <a:t>Conclusion &amp; Insights Dashboard</a:t>
            </a:r>
            <a:endParaRPr lang="en-US" sz="2600" dirty="0"/>
          </a:p>
        </p:txBody>
      </p:sp>
      <p:sp>
        <p:nvSpPr>
          <p:cNvPr id="6" name="Text 4"/>
          <p:cNvSpPr/>
          <p:nvPr/>
        </p:nvSpPr>
        <p:spPr>
          <a:xfrm>
            <a:off x="274320" y="896112"/>
            <a:ext cx="8595360" cy="256032"/>
          </a:xfrm>
          <a:prstGeom prst="rect">
            <a:avLst/>
          </a:prstGeom>
          <a:noFill/>
        </p:spPr>
        <p:txBody>
          <a:bodyPr wrap="square" rtlCol="0" anchor="ctr"/>
          <a:lstStyle/>
          <a:p>
            <a:pPr marL="0" indent="0">
              <a:buNone/>
            </a:pPr>
            <a:r>
              <a:rPr lang="en-US" sz="1100" i="1" dirty="0">
                <a:solidFill>
                  <a:srgbClr val="6B7280"/>
                </a:solidFill>
              </a:rPr>
              <a:t>Summary findings and strategic market structure overview</a:t>
            </a:r>
            <a:endParaRPr lang="en-US" sz="1100" dirty="0"/>
          </a:p>
        </p:txBody>
      </p:sp>
      <p:sp>
        <p:nvSpPr>
          <p:cNvPr id="7" name="Shape 5"/>
          <p:cNvSpPr/>
          <p:nvPr/>
        </p:nvSpPr>
        <p:spPr>
          <a:xfrm>
            <a:off x="274320" y="1234440"/>
            <a:ext cx="5852160" cy="3520440"/>
          </a:xfrm>
          <a:prstGeom prst="rect">
            <a:avLst/>
          </a:prstGeom>
          <a:solidFill>
            <a:srgbClr val="1F2937"/>
          </a:solidFill>
          <a:ln w="12700">
            <a:solidFill>
              <a:srgbClr val="22D3EE">
                <a:alpha val="50000"/>
              </a:srgbClr>
            </a:solidFill>
            <a:prstDash val="solid"/>
          </a:ln>
          <a:effectLst>
            <a:outerShdw blurRad="127000" dist="38100" dir="8100000" algn="bl" rotWithShape="0">
              <a:srgbClr val="000000">
                <a:alpha val="50000"/>
              </a:srgbClr>
            </a:outerShdw>
          </a:effectLst>
        </p:spPr>
      </p:sp>
      <p:pic>
        <p:nvPicPr>
          <p:cNvPr id="8" name="Image 0" descr="preencoded.png"/>
          <p:cNvPicPr>
            <a:picLocks noChangeAspect="1"/>
          </p:cNvPicPr>
          <p:nvPr/>
        </p:nvPicPr>
        <p:blipFill>
          <a:blip r:embed="rId1"/>
          <a:stretch>
            <a:fillRect/>
          </a:stretch>
        </p:blipFill>
        <p:spPr>
          <a:xfrm>
            <a:off x="320040" y="1261872"/>
            <a:ext cx="5760720" cy="3474720"/>
          </a:xfrm>
          <a:prstGeom prst="rect">
            <a:avLst/>
          </a:prstGeom>
        </p:spPr>
      </p:pic>
      <p:sp>
        <p:nvSpPr>
          <p:cNvPr id="9" name="Shape 6"/>
          <p:cNvSpPr/>
          <p:nvPr/>
        </p:nvSpPr>
        <p:spPr>
          <a:xfrm>
            <a:off x="6309360" y="1234440"/>
            <a:ext cx="2560320" cy="3520440"/>
          </a:xfrm>
          <a:prstGeom prst="rect">
            <a:avLst/>
          </a:prstGeom>
          <a:solidFill>
            <a:srgbClr val="111827"/>
          </a:solidFill>
          <a:ln w="12700">
            <a:solidFill>
              <a:srgbClr val="22D3EE">
                <a:alpha val="35000"/>
              </a:srgbClr>
            </a:solidFill>
            <a:prstDash val="solid"/>
          </a:ln>
        </p:spPr>
      </p:sp>
      <p:sp>
        <p:nvSpPr>
          <p:cNvPr id="10" name="Shape 7"/>
          <p:cNvSpPr/>
          <p:nvPr/>
        </p:nvSpPr>
        <p:spPr>
          <a:xfrm>
            <a:off x="6309360" y="1234440"/>
            <a:ext cx="2560320" cy="54864"/>
          </a:xfrm>
          <a:prstGeom prst="rect">
            <a:avLst/>
          </a:prstGeom>
          <a:solidFill>
            <a:srgbClr val="22D3EE"/>
          </a:solidFill>
          <a:ln w="12700">
            <a:solidFill>
              <a:srgbClr val="22D3EE"/>
            </a:solidFill>
            <a:prstDash val="solid"/>
          </a:ln>
        </p:spPr>
      </p:sp>
      <p:sp>
        <p:nvSpPr>
          <p:cNvPr id="11" name="Text 8"/>
          <p:cNvSpPr/>
          <p:nvPr/>
        </p:nvSpPr>
        <p:spPr>
          <a:xfrm>
            <a:off x="6400800" y="1344168"/>
            <a:ext cx="2377440" cy="320040"/>
          </a:xfrm>
          <a:prstGeom prst="rect">
            <a:avLst/>
          </a:prstGeom>
          <a:noFill/>
        </p:spPr>
        <p:txBody>
          <a:bodyPr wrap="square" rtlCol="0" anchor="ctr"/>
          <a:lstStyle/>
          <a:p>
            <a:pPr marL="0" indent="0">
              <a:buNone/>
            </a:pPr>
            <a:r>
              <a:rPr lang="en-US" sz="1200" b="1" dirty="0">
                <a:solidFill>
                  <a:srgbClr val="22D3EE"/>
                </a:solidFill>
              </a:rPr>
              <a:t>Key Insights</a:t>
            </a:r>
            <a:endParaRPr lang="en-US" sz="1200" dirty="0"/>
          </a:p>
        </p:txBody>
      </p:sp>
      <p:sp>
        <p:nvSpPr>
          <p:cNvPr id="12" name="Shape 9"/>
          <p:cNvSpPr/>
          <p:nvPr/>
        </p:nvSpPr>
        <p:spPr>
          <a:xfrm>
            <a:off x="6400800" y="1783080"/>
            <a:ext cx="2377440" cy="658368"/>
          </a:xfrm>
          <a:prstGeom prst="rect">
            <a:avLst/>
          </a:prstGeom>
          <a:solidFill>
            <a:srgbClr val="1F2937"/>
          </a:solidFill>
          <a:ln w="12700">
            <a:solidFill>
              <a:srgbClr val="22D3EE">
                <a:alpha val="25000"/>
              </a:srgbClr>
            </a:solidFill>
            <a:prstDash val="solid"/>
          </a:ln>
        </p:spPr>
      </p:sp>
      <p:sp>
        <p:nvSpPr>
          <p:cNvPr id="13" name="Shape 10"/>
          <p:cNvSpPr/>
          <p:nvPr/>
        </p:nvSpPr>
        <p:spPr>
          <a:xfrm>
            <a:off x="6400800" y="1783080"/>
            <a:ext cx="54864" cy="658368"/>
          </a:xfrm>
          <a:prstGeom prst="rect">
            <a:avLst/>
          </a:prstGeom>
          <a:solidFill>
            <a:srgbClr val="22D3EE"/>
          </a:solidFill>
          <a:ln w="12700">
            <a:solidFill>
              <a:srgbClr val="22D3EE"/>
            </a:solidFill>
            <a:prstDash val="solid"/>
          </a:ln>
        </p:spPr>
      </p:sp>
      <p:sp>
        <p:nvSpPr>
          <p:cNvPr id="14" name="Text 11"/>
          <p:cNvSpPr/>
          <p:nvPr/>
        </p:nvSpPr>
        <p:spPr>
          <a:xfrm>
            <a:off x="6492240" y="1819656"/>
            <a:ext cx="2240280" cy="585216"/>
          </a:xfrm>
          <a:prstGeom prst="rect">
            <a:avLst/>
          </a:prstGeom>
          <a:noFill/>
        </p:spPr>
        <p:txBody>
          <a:bodyPr wrap="square" rtlCol="0" anchor="ctr"/>
          <a:lstStyle/>
          <a:p>
            <a:pPr marL="0" indent="0">
              <a:buNone/>
            </a:pPr>
            <a:r>
              <a:rPr lang="en-US" sz="950" dirty="0">
                <a:solidFill>
                  <a:srgbClr val="D1D5DB"/>
                </a:solidFill>
              </a:rPr>
              <a:t>Top 3 coins hold 75.93% market share — extreme concentration in crypto markets.</a:t>
            </a:r>
            <a:endParaRPr lang="en-US" sz="950" dirty="0"/>
          </a:p>
        </p:txBody>
      </p:sp>
      <p:sp>
        <p:nvSpPr>
          <p:cNvPr id="15" name="Shape 12"/>
          <p:cNvSpPr/>
          <p:nvPr/>
        </p:nvSpPr>
        <p:spPr>
          <a:xfrm>
            <a:off x="6400800" y="2532888"/>
            <a:ext cx="2377440" cy="658368"/>
          </a:xfrm>
          <a:prstGeom prst="rect">
            <a:avLst/>
          </a:prstGeom>
          <a:solidFill>
            <a:srgbClr val="1F2937"/>
          </a:solidFill>
          <a:ln w="12700">
            <a:solidFill>
              <a:srgbClr val="22D3EE">
                <a:alpha val="25000"/>
              </a:srgbClr>
            </a:solidFill>
            <a:prstDash val="solid"/>
          </a:ln>
        </p:spPr>
      </p:sp>
      <p:sp>
        <p:nvSpPr>
          <p:cNvPr id="16" name="Shape 13"/>
          <p:cNvSpPr/>
          <p:nvPr/>
        </p:nvSpPr>
        <p:spPr>
          <a:xfrm>
            <a:off x="6400800" y="2532888"/>
            <a:ext cx="54864" cy="658368"/>
          </a:xfrm>
          <a:prstGeom prst="rect">
            <a:avLst/>
          </a:prstGeom>
          <a:solidFill>
            <a:srgbClr val="22D3EE"/>
          </a:solidFill>
          <a:ln w="12700">
            <a:solidFill>
              <a:srgbClr val="22D3EE"/>
            </a:solidFill>
            <a:prstDash val="solid"/>
          </a:ln>
        </p:spPr>
      </p:sp>
      <p:sp>
        <p:nvSpPr>
          <p:cNvPr id="17" name="Text 14"/>
          <p:cNvSpPr/>
          <p:nvPr/>
        </p:nvSpPr>
        <p:spPr>
          <a:xfrm>
            <a:off x="6492240" y="2569464"/>
            <a:ext cx="2240280" cy="585216"/>
          </a:xfrm>
          <a:prstGeom prst="rect">
            <a:avLst/>
          </a:prstGeom>
          <a:noFill/>
        </p:spPr>
        <p:txBody>
          <a:bodyPr wrap="square" rtlCol="0" anchor="ctr"/>
          <a:lstStyle/>
          <a:p>
            <a:pPr marL="0" indent="0">
              <a:buNone/>
            </a:pPr>
            <a:r>
              <a:rPr lang="en-US" sz="950" dirty="0">
                <a:solidFill>
                  <a:srgbClr val="D1D5DB"/>
                </a:solidFill>
              </a:rPr>
              <a:t>14% of coins show high volatility — significant risk for short-term traders.</a:t>
            </a:r>
            <a:endParaRPr lang="en-US" sz="950" dirty="0"/>
          </a:p>
        </p:txBody>
      </p:sp>
      <p:sp>
        <p:nvSpPr>
          <p:cNvPr id="18" name="Shape 15"/>
          <p:cNvSpPr/>
          <p:nvPr/>
        </p:nvSpPr>
        <p:spPr>
          <a:xfrm>
            <a:off x="6400800" y="3282696"/>
            <a:ext cx="2377440" cy="658368"/>
          </a:xfrm>
          <a:prstGeom prst="rect">
            <a:avLst/>
          </a:prstGeom>
          <a:solidFill>
            <a:srgbClr val="1F2937"/>
          </a:solidFill>
          <a:ln w="12700">
            <a:solidFill>
              <a:srgbClr val="22D3EE">
                <a:alpha val="25000"/>
              </a:srgbClr>
            </a:solidFill>
            <a:prstDash val="solid"/>
          </a:ln>
        </p:spPr>
      </p:sp>
      <p:sp>
        <p:nvSpPr>
          <p:cNvPr id="19" name="Shape 16"/>
          <p:cNvSpPr/>
          <p:nvPr/>
        </p:nvSpPr>
        <p:spPr>
          <a:xfrm>
            <a:off x="6400800" y="3282696"/>
            <a:ext cx="54864" cy="658368"/>
          </a:xfrm>
          <a:prstGeom prst="rect">
            <a:avLst/>
          </a:prstGeom>
          <a:solidFill>
            <a:srgbClr val="22D3EE"/>
          </a:solidFill>
          <a:ln w="12700">
            <a:solidFill>
              <a:srgbClr val="22D3EE"/>
            </a:solidFill>
            <a:prstDash val="solid"/>
          </a:ln>
        </p:spPr>
      </p:sp>
      <p:sp>
        <p:nvSpPr>
          <p:cNvPr id="20" name="Text 17"/>
          <p:cNvSpPr/>
          <p:nvPr/>
        </p:nvSpPr>
        <p:spPr>
          <a:xfrm>
            <a:off x="6492240" y="3319272"/>
            <a:ext cx="2240280" cy="585216"/>
          </a:xfrm>
          <a:prstGeom prst="rect">
            <a:avLst/>
          </a:prstGeom>
          <a:noFill/>
        </p:spPr>
        <p:txBody>
          <a:bodyPr wrap="square" rtlCol="0" anchor="ctr"/>
          <a:lstStyle/>
          <a:p>
            <a:pPr marL="0" indent="0">
              <a:buNone/>
            </a:pPr>
            <a:r>
              <a:rPr lang="en-US" sz="950" dirty="0">
                <a:solidFill>
                  <a:srgbClr val="D1D5DB"/>
                </a:solidFill>
              </a:rPr>
              <a:t>Growth Coins % (2.46) and 95.94% circulation ratio signal mature market dynamics.</a:t>
            </a:r>
            <a:endParaRPr lang="en-US" sz="950" dirty="0"/>
          </a:p>
        </p:txBody>
      </p:sp>
      <p:sp>
        <p:nvSpPr>
          <p:cNvPr id="21" name="Shape 18"/>
          <p:cNvSpPr/>
          <p:nvPr/>
        </p:nvSpPr>
        <p:spPr>
          <a:xfrm>
            <a:off x="6400800" y="4032504"/>
            <a:ext cx="2377440" cy="658368"/>
          </a:xfrm>
          <a:prstGeom prst="rect">
            <a:avLst/>
          </a:prstGeom>
          <a:solidFill>
            <a:srgbClr val="1F2937"/>
          </a:solidFill>
          <a:ln w="12700">
            <a:solidFill>
              <a:srgbClr val="22D3EE">
                <a:alpha val="25000"/>
              </a:srgbClr>
            </a:solidFill>
            <a:prstDash val="solid"/>
          </a:ln>
        </p:spPr>
      </p:sp>
      <p:sp>
        <p:nvSpPr>
          <p:cNvPr id="22" name="Shape 19"/>
          <p:cNvSpPr/>
          <p:nvPr/>
        </p:nvSpPr>
        <p:spPr>
          <a:xfrm>
            <a:off x="6400800" y="4032504"/>
            <a:ext cx="54864" cy="658368"/>
          </a:xfrm>
          <a:prstGeom prst="rect">
            <a:avLst/>
          </a:prstGeom>
          <a:solidFill>
            <a:srgbClr val="22D3EE"/>
          </a:solidFill>
          <a:ln w="12700">
            <a:solidFill>
              <a:srgbClr val="22D3EE"/>
            </a:solidFill>
            <a:prstDash val="solid"/>
          </a:ln>
        </p:spPr>
      </p:sp>
      <p:sp>
        <p:nvSpPr>
          <p:cNvPr id="23" name="Text 20"/>
          <p:cNvSpPr/>
          <p:nvPr/>
        </p:nvSpPr>
        <p:spPr>
          <a:xfrm>
            <a:off x="6492240" y="4069080"/>
            <a:ext cx="2240280" cy="585216"/>
          </a:xfrm>
          <a:prstGeom prst="rect">
            <a:avLst/>
          </a:prstGeom>
          <a:noFill/>
        </p:spPr>
        <p:txBody>
          <a:bodyPr wrap="square" rtlCol="0" anchor="ctr"/>
          <a:lstStyle/>
          <a:p>
            <a:pPr marL="0" indent="0">
              <a:buNone/>
            </a:pPr>
            <a:r>
              <a:rPr lang="en-US" sz="950" dirty="0">
                <a:solidFill>
                  <a:srgbClr val="D1D5DB"/>
                </a:solidFill>
              </a:rPr>
              <a:t>Market structure: 56 Mid-Cap, 32 Small-Cap, 12 Large-Cap — mid-caps dominate.</a:t>
            </a:r>
            <a:endParaRPr lang="en-US" sz="950" dirty="0"/>
          </a:p>
        </p:txBody>
      </p:sp>
      <p:sp>
        <p:nvSpPr>
          <p:cNvPr id="24" name="Shape 21"/>
          <p:cNvSpPr/>
          <p:nvPr/>
        </p:nvSpPr>
        <p:spPr>
          <a:xfrm>
            <a:off x="0" y="5070348"/>
            <a:ext cx="9144000" cy="73152"/>
          </a:xfrm>
          <a:prstGeom prst="rect">
            <a:avLst/>
          </a:prstGeom>
          <a:solidFill>
            <a:srgbClr val="22D3EE"/>
          </a:solidFill>
          <a:ln w="12700">
            <a:solidFill>
              <a:srgbClr val="22D3EE"/>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sp>
      <p:sp>
        <p:nvSpPr>
          <p:cNvPr id="3" name="Shape 1"/>
          <p:cNvSpPr/>
          <p:nvPr/>
        </p:nvSpPr>
        <p:spPr>
          <a:xfrm>
            <a:off x="0" y="0"/>
            <a:ext cx="54864" cy="5143500"/>
          </a:xfrm>
          <a:prstGeom prst="rect">
            <a:avLst/>
          </a:prstGeom>
          <a:solidFill>
            <a:srgbClr val="22D3EE"/>
          </a:solidFill>
          <a:ln w="12700">
            <a:solidFill>
              <a:srgbClr val="22D3EE"/>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10B981"/>
                </a:solidFill>
              </a:rPr>
              <a:t>KEY INSIGHTS</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What the Data Reveals</a:t>
            </a:r>
            <a:endParaRPr lang="en-US" sz="2800" dirty="0"/>
          </a:p>
        </p:txBody>
      </p:sp>
      <p:sp>
        <p:nvSpPr>
          <p:cNvPr id="6" name="Shape 4"/>
          <p:cNvSpPr/>
          <p:nvPr/>
        </p:nvSpPr>
        <p:spPr>
          <a:xfrm>
            <a:off x="274320" y="1188720"/>
            <a:ext cx="2697480" cy="1600200"/>
          </a:xfrm>
          <a:prstGeom prst="rect">
            <a:avLst/>
          </a:prstGeom>
          <a:solidFill>
            <a:srgbClr val="111827"/>
          </a:solidFill>
          <a:ln w="12700">
            <a:solidFill>
              <a:srgbClr val="F59E0B">
                <a:alpha val="50000"/>
              </a:srgbClr>
            </a:solidFill>
            <a:prstDash val="solid"/>
          </a:ln>
          <a:effectLst>
            <a:outerShdw blurRad="101600" dist="25400" dir="8100000" algn="bl" rotWithShape="0">
              <a:srgbClr val="000000">
                <a:alpha val="35000"/>
              </a:srgbClr>
            </a:outerShdw>
          </a:effectLst>
        </p:spPr>
      </p:sp>
      <p:sp>
        <p:nvSpPr>
          <p:cNvPr id="7" name="Shape 5"/>
          <p:cNvSpPr/>
          <p:nvPr/>
        </p:nvSpPr>
        <p:spPr>
          <a:xfrm>
            <a:off x="274320" y="1188720"/>
            <a:ext cx="2697480" cy="54864"/>
          </a:xfrm>
          <a:prstGeom prst="rect">
            <a:avLst/>
          </a:prstGeom>
          <a:solidFill>
            <a:srgbClr val="F59E0B"/>
          </a:solidFill>
          <a:ln w="12700">
            <a:solidFill>
              <a:srgbClr val="F59E0B"/>
            </a:solidFill>
            <a:prstDash val="solid"/>
          </a:ln>
        </p:spPr>
      </p:sp>
      <p:sp>
        <p:nvSpPr>
          <p:cNvPr id="8" name="Text 6"/>
          <p:cNvSpPr/>
          <p:nvPr/>
        </p:nvSpPr>
        <p:spPr>
          <a:xfrm>
            <a:off x="411480" y="1280160"/>
            <a:ext cx="2423160" cy="548640"/>
          </a:xfrm>
          <a:prstGeom prst="rect">
            <a:avLst/>
          </a:prstGeom>
          <a:noFill/>
        </p:spPr>
        <p:txBody>
          <a:bodyPr wrap="square" rtlCol="0" anchor="ctr"/>
          <a:lstStyle/>
          <a:p>
            <a:pPr marL="0" indent="0" algn="ctr">
              <a:buNone/>
            </a:pPr>
            <a:r>
              <a:rPr lang="en-US" sz="3400" b="1" dirty="0">
                <a:solidFill>
                  <a:srgbClr val="F59E0B"/>
                </a:solidFill>
              </a:rPr>
              <a:t>75.93%</a:t>
            </a:r>
            <a:endParaRPr lang="en-US" sz="3400" dirty="0"/>
          </a:p>
        </p:txBody>
      </p:sp>
      <p:sp>
        <p:nvSpPr>
          <p:cNvPr id="9" name="Text 7"/>
          <p:cNvSpPr/>
          <p:nvPr/>
        </p:nvSpPr>
        <p:spPr>
          <a:xfrm>
            <a:off x="365760" y="1828800"/>
            <a:ext cx="2514600" cy="274320"/>
          </a:xfrm>
          <a:prstGeom prst="rect">
            <a:avLst/>
          </a:prstGeom>
          <a:noFill/>
        </p:spPr>
        <p:txBody>
          <a:bodyPr wrap="square" rtlCol="0" anchor="ctr"/>
          <a:lstStyle/>
          <a:p>
            <a:pPr marL="0" indent="0" algn="ctr">
              <a:buNone/>
            </a:pPr>
            <a:r>
              <a:rPr lang="en-US" sz="1200" b="1" dirty="0">
                <a:solidFill>
                  <a:srgbClr val="FFFFFF"/>
                </a:solidFill>
              </a:rPr>
              <a:t>Market Concentration</a:t>
            </a:r>
            <a:endParaRPr lang="en-US" sz="1200" dirty="0"/>
          </a:p>
        </p:txBody>
      </p:sp>
      <p:sp>
        <p:nvSpPr>
          <p:cNvPr id="10" name="Text 8"/>
          <p:cNvSpPr/>
          <p:nvPr/>
        </p:nvSpPr>
        <p:spPr>
          <a:xfrm>
            <a:off x="384048" y="2130552"/>
            <a:ext cx="2478024" cy="566928"/>
          </a:xfrm>
          <a:prstGeom prst="rect">
            <a:avLst/>
          </a:prstGeom>
          <a:noFill/>
        </p:spPr>
        <p:txBody>
          <a:bodyPr wrap="square" rtlCol="0" anchor="ctr"/>
          <a:lstStyle/>
          <a:p>
            <a:pPr marL="0" indent="0" algn="ctr">
              <a:buNone/>
            </a:pPr>
            <a:r>
              <a:rPr lang="en-US" sz="950" dirty="0">
                <a:solidFill>
                  <a:srgbClr val="D1D5DB"/>
                </a:solidFill>
              </a:rPr>
              <a:t>Top 3 coins dominate — market is highly centralized. Bitcoin alone holds 63.41%.</a:t>
            </a:r>
            <a:endParaRPr lang="en-US" sz="950" dirty="0"/>
          </a:p>
        </p:txBody>
      </p:sp>
      <p:sp>
        <p:nvSpPr>
          <p:cNvPr id="11" name="Shape 9"/>
          <p:cNvSpPr/>
          <p:nvPr/>
        </p:nvSpPr>
        <p:spPr>
          <a:xfrm>
            <a:off x="3154680" y="1188720"/>
            <a:ext cx="2697480" cy="1600200"/>
          </a:xfrm>
          <a:prstGeom prst="rect">
            <a:avLst/>
          </a:prstGeom>
          <a:solidFill>
            <a:srgbClr val="111827"/>
          </a:solidFill>
          <a:ln w="12700">
            <a:solidFill>
              <a:srgbClr val="EF4444">
                <a:alpha val="50000"/>
              </a:srgbClr>
            </a:solidFill>
            <a:prstDash val="solid"/>
          </a:ln>
          <a:effectLst>
            <a:outerShdw blurRad="101600" dist="25400" dir="8100000" algn="bl" rotWithShape="0">
              <a:srgbClr val="000000">
                <a:alpha val="35000"/>
              </a:srgbClr>
            </a:outerShdw>
          </a:effectLst>
        </p:spPr>
      </p:sp>
      <p:sp>
        <p:nvSpPr>
          <p:cNvPr id="12" name="Shape 10"/>
          <p:cNvSpPr/>
          <p:nvPr/>
        </p:nvSpPr>
        <p:spPr>
          <a:xfrm>
            <a:off x="3154680" y="1188720"/>
            <a:ext cx="2697480" cy="54864"/>
          </a:xfrm>
          <a:prstGeom prst="rect">
            <a:avLst/>
          </a:prstGeom>
          <a:solidFill>
            <a:srgbClr val="EF4444"/>
          </a:solidFill>
          <a:ln w="12700">
            <a:solidFill>
              <a:srgbClr val="EF4444"/>
            </a:solidFill>
            <a:prstDash val="solid"/>
          </a:ln>
        </p:spPr>
      </p:sp>
      <p:sp>
        <p:nvSpPr>
          <p:cNvPr id="13" name="Text 11"/>
          <p:cNvSpPr/>
          <p:nvPr/>
        </p:nvSpPr>
        <p:spPr>
          <a:xfrm>
            <a:off x="3291840" y="1280160"/>
            <a:ext cx="2423160" cy="548640"/>
          </a:xfrm>
          <a:prstGeom prst="rect">
            <a:avLst/>
          </a:prstGeom>
          <a:noFill/>
        </p:spPr>
        <p:txBody>
          <a:bodyPr wrap="square" rtlCol="0" anchor="ctr"/>
          <a:lstStyle/>
          <a:p>
            <a:pPr marL="0" indent="0" algn="ctr">
              <a:buNone/>
            </a:pPr>
            <a:r>
              <a:rPr lang="en-US" sz="3400" b="1" dirty="0">
                <a:solidFill>
                  <a:srgbClr val="EF4444"/>
                </a:solidFill>
              </a:rPr>
              <a:t>-1.56%</a:t>
            </a:r>
            <a:endParaRPr lang="en-US" sz="3400" dirty="0"/>
          </a:p>
        </p:txBody>
      </p:sp>
      <p:sp>
        <p:nvSpPr>
          <p:cNvPr id="14" name="Text 12"/>
          <p:cNvSpPr/>
          <p:nvPr/>
        </p:nvSpPr>
        <p:spPr>
          <a:xfrm>
            <a:off x="3246120" y="1828800"/>
            <a:ext cx="2514600" cy="274320"/>
          </a:xfrm>
          <a:prstGeom prst="rect">
            <a:avLst/>
          </a:prstGeom>
          <a:noFill/>
        </p:spPr>
        <p:txBody>
          <a:bodyPr wrap="square" rtlCol="0" anchor="ctr"/>
          <a:lstStyle/>
          <a:p>
            <a:pPr marL="0" indent="0" algn="ctr">
              <a:buNone/>
            </a:pPr>
            <a:r>
              <a:rPr lang="en-US" sz="1200" b="1" dirty="0">
                <a:solidFill>
                  <a:srgbClr val="FFFFFF"/>
                </a:solidFill>
              </a:rPr>
              <a:t>Avg 24h Change</a:t>
            </a:r>
            <a:endParaRPr lang="en-US" sz="1200" dirty="0"/>
          </a:p>
        </p:txBody>
      </p:sp>
      <p:sp>
        <p:nvSpPr>
          <p:cNvPr id="15" name="Text 13"/>
          <p:cNvSpPr/>
          <p:nvPr/>
        </p:nvSpPr>
        <p:spPr>
          <a:xfrm>
            <a:off x="3264408" y="2130552"/>
            <a:ext cx="2478024" cy="566928"/>
          </a:xfrm>
          <a:prstGeom prst="rect">
            <a:avLst/>
          </a:prstGeom>
          <a:noFill/>
        </p:spPr>
        <p:txBody>
          <a:bodyPr wrap="square" rtlCol="0" anchor="ctr"/>
          <a:lstStyle/>
          <a:p>
            <a:pPr marL="0" indent="0" algn="ctr">
              <a:buNone/>
            </a:pPr>
            <a:r>
              <a:rPr lang="en-US" sz="950" dirty="0">
                <a:solidFill>
                  <a:srgbClr val="D1D5DB"/>
                </a:solidFill>
              </a:rPr>
              <a:t>Broad market decline — 45 of 100 coins are in 'Declining' performance category.</a:t>
            </a:r>
            <a:endParaRPr lang="en-US" sz="950" dirty="0"/>
          </a:p>
        </p:txBody>
      </p:sp>
      <p:sp>
        <p:nvSpPr>
          <p:cNvPr id="16" name="Shape 14"/>
          <p:cNvSpPr/>
          <p:nvPr/>
        </p:nvSpPr>
        <p:spPr>
          <a:xfrm>
            <a:off x="6035040" y="1188720"/>
            <a:ext cx="2697480" cy="1600200"/>
          </a:xfrm>
          <a:prstGeom prst="rect">
            <a:avLst/>
          </a:prstGeom>
          <a:solidFill>
            <a:srgbClr val="111827"/>
          </a:solidFill>
          <a:ln w="12700">
            <a:solidFill>
              <a:srgbClr val="10B981">
                <a:alpha val="50000"/>
              </a:srgbClr>
            </a:solidFill>
            <a:prstDash val="solid"/>
          </a:ln>
          <a:effectLst>
            <a:outerShdw blurRad="101600" dist="25400" dir="8100000" algn="bl" rotWithShape="0">
              <a:srgbClr val="000000">
                <a:alpha val="35000"/>
              </a:srgbClr>
            </a:outerShdw>
          </a:effectLst>
        </p:spPr>
      </p:sp>
      <p:sp>
        <p:nvSpPr>
          <p:cNvPr id="17" name="Shape 15"/>
          <p:cNvSpPr/>
          <p:nvPr/>
        </p:nvSpPr>
        <p:spPr>
          <a:xfrm>
            <a:off x="6035040" y="1188720"/>
            <a:ext cx="2697480" cy="54864"/>
          </a:xfrm>
          <a:prstGeom prst="rect">
            <a:avLst/>
          </a:prstGeom>
          <a:solidFill>
            <a:srgbClr val="10B981"/>
          </a:solidFill>
          <a:ln w="12700">
            <a:solidFill>
              <a:srgbClr val="10B981"/>
            </a:solidFill>
            <a:prstDash val="solid"/>
          </a:ln>
        </p:spPr>
      </p:sp>
      <p:sp>
        <p:nvSpPr>
          <p:cNvPr id="18" name="Text 16"/>
          <p:cNvSpPr/>
          <p:nvPr/>
        </p:nvSpPr>
        <p:spPr>
          <a:xfrm>
            <a:off x="6172200" y="1280160"/>
            <a:ext cx="2423160" cy="548640"/>
          </a:xfrm>
          <a:prstGeom prst="rect">
            <a:avLst/>
          </a:prstGeom>
          <a:noFill/>
        </p:spPr>
        <p:txBody>
          <a:bodyPr wrap="square" rtlCol="0" anchor="ctr"/>
          <a:lstStyle/>
          <a:p>
            <a:pPr marL="0" indent="0" algn="ctr">
              <a:buNone/>
            </a:pPr>
            <a:r>
              <a:rPr lang="en-US" sz="3400" b="1" dirty="0">
                <a:solidFill>
                  <a:srgbClr val="10B981"/>
                </a:solidFill>
              </a:rPr>
              <a:t>95.94%</a:t>
            </a:r>
            <a:endParaRPr lang="en-US" sz="3400" dirty="0"/>
          </a:p>
        </p:txBody>
      </p:sp>
      <p:sp>
        <p:nvSpPr>
          <p:cNvPr id="19" name="Text 17"/>
          <p:cNvSpPr/>
          <p:nvPr/>
        </p:nvSpPr>
        <p:spPr>
          <a:xfrm>
            <a:off x="6126480" y="1828800"/>
            <a:ext cx="2514600" cy="274320"/>
          </a:xfrm>
          <a:prstGeom prst="rect">
            <a:avLst/>
          </a:prstGeom>
          <a:noFill/>
        </p:spPr>
        <p:txBody>
          <a:bodyPr wrap="square" rtlCol="0" anchor="ctr"/>
          <a:lstStyle/>
          <a:p>
            <a:pPr marL="0" indent="0" algn="ctr">
              <a:buNone/>
            </a:pPr>
            <a:r>
              <a:rPr lang="en-US" sz="1200" b="1" dirty="0">
                <a:solidFill>
                  <a:srgbClr val="FFFFFF"/>
                </a:solidFill>
              </a:rPr>
              <a:t>Circulating Ratio</a:t>
            </a:r>
            <a:endParaRPr lang="en-US" sz="1200" dirty="0"/>
          </a:p>
        </p:txBody>
      </p:sp>
      <p:sp>
        <p:nvSpPr>
          <p:cNvPr id="20" name="Text 18"/>
          <p:cNvSpPr/>
          <p:nvPr/>
        </p:nvSpPr>
        <p:spPr>
          <a:xfrm>
            <a:off x="6144768" y="2130552"/>
            <a:ext cx="2478024" cy="566928"/>
          </a:xfrm>
          <a:prstGeom prst="rect">
            <a:avLst/>
          </a:prstGeom>
          <a:noFill/>
        </p:spPr>
        <p:txBody>
          <a:bodyPr wrap="square" rtlCol="0" anchor="ctr"/>
          <a:lstStyle/>
          <a:p>
            <a:pPr marL="0" indent="0" algn="ctr">
              <a:buNone/>
            </a:pPr>
            <a:r>
              <a:rPr lang="en-US" sz="950" dirty="0">
                <a:solidFill>
                  <a:srgbClr val="D1D5DB"/>
                </a:solidFill>
              </a:rPr>
              <a:t>Most coins are near full circulation — limited room for new supply to suppress prices.</a:t>
            </a:r>
            <a:endParaRPr lang="en-US" sz="950" dirty="0"/>
          </a:p>
        </p:txBody>
      </p:sp>
      <p:sp>
        <p:nvSpPr>
          <p:cNvPr id="21" name="Shape 19"/>
          <p:cNvSpPr/>
          <p:nvPr/>
        </p:nvSpPr>
        <p:spPr>
          <a:xfrm>
            <a:off x="274320" y="3017520"/>
            <a:ext cx="4343400" cy="1600200"/>
          </a:xfrm>
          <a:prstGeom prst="rect">
            <a:avLst/>
          </a:prstGeom>
          <a:solidFill>
            <a:srgbClr val="111827"/>
          </a:solidFill>
          <a:ln w="12700">
            <a:solidFill>
              <a:srgbClr val="6366F1">
                <a:alpha val="50000"/>
              </a:srgbClr>
            </a:solidFill>
            <a:prstDash val="solid"/>
          </a:ln>
          <a:effectLst>
            <a:outerShdw blurRad="101600" dist="25400" dir="8100000" algn="bl" rotWithShape="0">
              <a:srgbClr val="000000">
                <a:alpha val="35000"/>
              </a:srgbClr>
            </a:outerShdw>
          </a:effectLst>
        </p:spPr>
      </p:sp>
      <p:sp>
        <p:nvSpPr>
          <p:cNvPr id="22" name="Shape 20"/>
          <p:cNvSpPr/>
          <p:nvPr/>
        </p:nvSpPr>
        <p:spPr>
          <a:xfrm>
            <a:off x="274320" y="3017520"/>
            <a:ext cx="4343400" cy="54864"/>
          </a:xfrm>
          <a:prstGeom prst="rect">
            <a:avLst/>
          </a:prstGeom>
          <a:solidFill>
            <a:srgbClr val="6366F1"/>
          </a:solidFill>
          <a:ln w="12700">
            <a:solidFill>
              <a:srgbClr val="6366F1"/>
            </a:solidFill>
            <a:prstDash val="solid"/>
          </a:ln>
        </p:spPr>
      </p:sp>
      <p:sp>
        <p:nvSpPr>
          <p:cNvPr id="23" name="Text 21"/>
          <p:cNvSpPr/>
          <p:nvPr/>
        </p:nvSpPr>
        <p:spPr>
          <a:xfrm>
            <a:off x="411480" y="3108960"/>
            <a:ext cx="4069080" cy="548640"/>
          </a:xfrm>
          <a:prstGeom prst="rect">
            <a:avLst/>
          </a:prstGeom>
          <a:noFill/>
        </p:spPr>
        <p:txBody>
          <a:bodyPr wrap="square" rtlCol="0" anchor="ctr"/>
          <a:lstStyle/>
          <a:p>
            <a:pPr marL="0" indent="0" algn="ctr">
              <a:buNone/>
            </a:pPr>
            <a:r>
              <a:rPr lang="en-US" sz="3400" b="1" dirty="0">
                <a:solidFill>
                  <a:srgbClr val="6366F1"/>
                </a:solidFill>
              </a:rPr>
              <a:t>14%</a:t>
            </a:r>
            <a:endParaRPr lang="en-US" sz="3400" dirty="0"/>
          </a:p>
        </p:txBody>
      </p:sp>
      <p:sp>
        <p:nvSpPr>
          <p:cNvPr id="24" name="Text 22"/>
          <p:cNvSpPr/>
          <p:nvPr/>
        </p:nvSpPr>
        <p:spPr>
          <a:xfrm>
            <a:off x="365760" y="3657600"/>
            <a:ext cx="4160520" cy="274320"/>
          </a:xfrm>
          <a:prstGeom prst="rect">
            <a:avLst/>
          </a:prstGeom>
          <a:noFill/>
        </p:spPr>
        <p:txBody>
          <a:bodyPr wrap="square" rtlCol="0" anchor="ctr"/>
          <a:lstStyle/>
          <a:p>
            <a:pPr marL="0" indent="0" algn="ctr">
              <a:buNone/>
            </a:pPr>
            <a:r>
              <a:rPr lang="en-US" sz="1200" b="1" dirty="0">
                <a:solidFill>
                  <a:srgbClr val="FFFFFF"/>
                </a:solidFill>
              </a:rPr>
              <a:t>High Volatility Coins</a:t>
            </a:r>
            <a:endParaRPr lang="en-US" sz="1200" dirty="0"/>
          </a:p>
        </p:txBody>
      </p:sp>
      <p:sp>
        <p:nvSpPr>
          <p:cNvPr id="25" name="Text 23"/>
          <p:cNvSpPr/>
          <p:nvPr/>
        </p:nvSpPr>
        <p:spPr>
          <a:xfrm>
            <a:off x="384048" y="3959352"/>
            <a:ext cx="4123944" cy="566928"/>
          </a:xfrm>
          <a:prstGeom prst="rect">
            <a:avLst/>
          </a:prstGeom>
          <a:noFill/>
        </p:spPr>
        <p:txBody>
          <a:bodyPr wrap="square" rtlCol="0" anchor="ctr"/>
          <a:lstStyle/>
          <a:p>
            <a:pPr marL="0" indent="0" algn="ctr">
              <a:buNone/>
            </a:pPr>
            <a:r>
              <a:rPr lang="en-US" sz="950" dirty="0">
                <a:solidFill>
                  <a:srgbClr val="D1D5DB"/>
                </a:solidFill>
              </a:rPr>
              <a:t>14% of coins exhibit extreme price swings — high risk, but also high opportunity.</a:t>
            </a:r>
            <a:endParaRPr lang="en-US" sz="950" dirty="0"/>
          </a:p>
        </p:txBody>
      </p:sp>
      <p:sp>
        <p:nvSpPr>
          <p:cNvPr id="26" name="Shape 24"/>
          <p:cNvSpPr/>
          <p:nvPr/>
        </p:nvSpPr>
        <p:spPr>
          <a:xfrm>
            <a:off x="4846320" y="3017520"/>
            <a:ext cx="3898900" cy="1600200"/>
          </a:xfrm>
          <a:prstGeom prst="rect">
            <a:avLst/>
          </a:prstGeom>
          <a:solidFill>
            <a:srgbClr val="111827"/>
          </a:solidFill>
          <a:ln w="12700">
            <a:solidFill>
              <a:srgbClr val="22D3EE">
                <a:alpha val="50000"/>
              </a:srgbClr>
            </a:solidFill>
            <a:prstDash val="solid"/>
          </a:ln>
          <a:effectLst>
            <a:outerShdw blurRad="101600" dist="25400" dir="8100000" algn="bl" rotWithShape="0">
              <a:srgbClr val="000000">
                <a:alpha val="35000"/>
              </a:srgbClr>
            </a:outerShdw>
          </a:effectLst>
        </p:spPr>
      </p:sp>
      <p:sp>
        <p:nvSpPr>
          <p:cNvPr id="27" name="Shape 25"/>
          <p:cNvSpPr/>
          <p:nvPr/>
        </p:nvSpPr>
        <p:spPr>
          <a:xfrm>
            <a:off x="4846320" y="3017520"/>
            <a:ext cx="3899535" cy="76200"/>
          </a:xfrm>
          <a:prstGeom prst="rect">
            <a:avLst/>
          </a:prstGeom>
          <a:solidFill>
            <a:srgbClr val="22D3EE"/>
          </a:solidFill>
          <a:ln w="12700">
            <a:solidFill>
              <a:srgbClr val="22D3EE"/>
            </a:solidFill>
            <a:prstDash val="solid"/>
          </a:ln>
        </p:spPr>
      </p:sp>
      <p:sp>
        <p:nvSpPr>
          <p:cNvPr id="28" name="Text 26"/>
          <p:cNvSpPr/>
          <p:nvPr/>
        </p:nvSpPr>
        <p:spPr>
          <a:xfrm>
            <a:off x="4846955" y="3115945"/>
            <a:ext cx="3884930" cy="548640"/>
          </a:xfrm>
          <a:prstGeom prst="rect">
            <a:avLst/>
          </a:prstGeom>
          <a:noFill/>
        </p:spPr>
        <p:txBody>
          <a:bodyPr wrap="square" rtlCol="0" anchor="ctr"/>
          <a:lstStyle/>
          <a:p>
            <a:pPr marL="0" indent="0" algn="ctr">
              <a:buNone/>
            </a:pPr>
            <a:r>
              <a:rPr lang="en-US" sz="3400" b="1" dirty="0">
                <a:solidFill>
                  <a:srgbClr val="22D3EE"/>
                </a:solidFill>
              </a:rPr>
              <a:t>0.88</a:t>
            </a:r>
            <a:endParaRPr lang="en-US" sz="3400" dirty="0"/>
          </a:p>
        </p:txBody>
      </p:sp>
      <p:sp>
        <p:nvSpPr>
          <p:cNvPr id="29" name="Text 27"/>
          <p:cNvSpPr/>
          <p:nvPr/>
        </p:nvSpPr>
        <p:spPr>
          <a:xfrm>
            <a:off x="4837430" y="3657600"/>
            <a:ext cx="3901440" cy="274320"/>
          </a:xfrm>
          <a:prstGeom prst="rect">
            <a:avLst/>
          </a:prstGeom>
          <a:noFill/>
        </p:spPr>
        <p:txBody>
          <a:bodyPr wrap="square" rtlCol="0" anchor="ctr"/>
          <a:lstStyle/>
          <a:p>
            <a:pPr marL="0" indent="0" algn="ctr">
              <a:buNone/>
            </a:pPr>
            <a:r>
              <a:rPr lang="en-US" sz="1200" b="1" dirty="0">
                <a:solidFill>
                  <a:srgbClr val="FFFFFF"/>
                </a:solidFill>
              </a:rPr>
              <a:t>Avg MC/FDV Ratio</a:t>
            </a:r>
            <a:endParaRPr lang="en-US" sz="1200" dirty="0"/>
          </a:p>
        </p:txBody>
      </p:sp>
      <p:sp>
        <p:nvSpPr>
          <p:cNvPr id="30" name="Text 28"/>
          <p:cNvSpPr/>
          <p:nvPr/>
        </p:nvSpPr>
        <p:spPr>
          <a:xfrm>
            <a:off x="4848225" y="3959225"/>
            <a:ext cx="3884295" cy="567055"/>
          </a:xfrm>
          <a:prstGeom prst="rect">
            <a:avLst/>
          </a:prstGeom>
          <a:noFill/>
        </p:spPr>
        <p:txBody>
          <a:bodyPr wrap="square" rtlCol="0" anchor="ctr"/>
          <a:lstStyle/>
          <a:p>
            <a:pPr marL="0" indent="0" algn="ctr">
              <a:buNone/>
            </a:pPr>
            <a:r>
              <a:rPr lang="en-US" sz="950" dirty="0">
                <a:solidFill>
                  <a:srgbClr val="D1D5DB"/>
                </a:solidFill>
              </a:rPr>
              <a:t>Close to fully diluted — means less future dilution risk for top-ranked coins.</a:t>
            </a:r>
            <a:endParaRPr lang="en-US" sz="950" dirty="0"/>
          </a:p>
        </p:txBody>
      </p:sp>
      <p:sp>
        <p:nvSpPr>
          <p:cNvPr id="31" name="Shape 29"/>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Shape 1"/>
          <p:cNvSpPr/>
          <p:nvPr/>
        </p:nvSpPr>
        <p:spPr>
          <a:xfrm>
            <a:off x="0" y="0"/>
            <a:ext cx="54864" cy="5143500"/>
          </a:xfrm>
          <a:prstGeom prst="rect">
            <a:avLst/>
          </a:prstGeom>
          <a:solidFill>
            <a:srgbClr val="F59E0B"/>
          </a:solidFill>
          <a:ln w="12700">
            <a:solidFill>
              <a:srgbClr val="F59E0B"/>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300" dirty="0">
                <a:solidFill>
                  <a:srgbClr val="F59E0B"/>
                </a:solidFill>
              </a:rPr>
              <a:t>STRATEGIC RECOMMENDATIONS</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600" b="1" dirty="0">
                <a:solidFill>
                  <a:srgbClr val="FFFFFF"/>
                </a:solidFill>
              </a:rPr>
              <a:t>Data-Driven Actionable Guidance</a:t>
            </a:r>
            <a:endParaRPr lang="en-US" sz="2600" dirty="0"/>
          </a:p>
        </p:txBody>
      </p:sp>
      <p:sp>
        <p:nvSpPr>
          <p:cNvPr id="6" name="Shape 4"/>
          <p:cNvSpPr/>
          <p:nvPr/>
        </p:nvSpPr>
        <p:spPr>
          <a:xfrm>
            <a:off x="274320" y="1188720"/>
            <a:ext cx="8595360" cy="841248"/>
          </a:xfrm>
          <a:prstGeom prst="rect">
            <a:avLst/>
          </a:prstGeom>
          <a:solidFill>
            <a:srgbClr val="111827"/>
          </a:solidFill>
          <a:ln w="12700">
            <a:solidFill>
              <a:srgbClr val="10B981">
                <a:alpha val="40000"/>
              </a:srgbClr>
            </a:solidFill>
            <a:prstDash val="solid"/>
          </a:ln>
          <a:effectLst>
            <a:outerShdw blurRad="76200" dist="25400" dir="8100000" algn="bl" rotWithShape="0">
              <a:srgbClr val="000000">
                <a:alpha val="30000"/>
              </a:srgbClr>
            </a:outerShdw>
          </a:effectLst>
        </p:spPr>
      </p:sp>
      <p:sp>
        <p:nvSpPr>
          <p:cNvPr id="7" name="Shape 5"/>
          <p:cNvSpPr/>
          <p:nvPr/>
        </p:nvSpPr>
        <p:spPr>
          <a:xfrm>
            <a:off x="274320" y="1188720"/>
            <a:ext cx="64008" cy="841248"/>
          </a:xfrm>
          <a:prstGeom prst="rect">
            <a:avLst/>
          </a:prstGeom>
          <a:solidFill>
            <a:srgbClr val="10B981"/>
          </a:solidFill>
          <a:ln w="12700">
            <a:solidFill>
              <a:srgbClr val="10B981"/>
            </a:solidFill>
            <a:prstDash val="solid"/>
          </a:ln>
        </p:spPr>
      </p:sp>
      <p:sp>
        <p:nvSpPr>
          <p:cNvPr id="8" name="Text 6"/>
          <p:cNvSpPr/>
          <p:nvPr/>
        </p:nvSpPr>
        <p:spPr>
          <a:xfrm>
            <a:off x="411480" y="1280160"/>
            <a:ext cx="5029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1005840" y="1280160"/>
            <a:ext cx="7680960" cy="274320"/>
          </a:xfrm>
          <a:prstGeom prst="rect">
            <a:avLst/>
          </a:prstGeom>
          <a:noFill/>
        </p:spPr>
        <p:txBody>
          <a:bodyPr wrap="square" lIns="0" tIns="0" rIns="0" bIns="0" rtlCol="0" anchor="ctr"/>
          <a:lstStyle/>
          <a:p>
            <a:pPr marL="0" indent="0">
              <a:buNone/>
            </a:pPr>
            <a:r>
              <a:rPr lang="en-US" sz="1300" b="1" dirty="0">
                <a:solidFill>
                  <a:srgbClr val="10B981"/>
                </a:solidFill>
              </a:rPr>
              <a:t>Prioritize Large-Cap Stability</a:t>
            </a:r>
            <a:endParaRPr lang="en-US" sz="1300" dirty="0"/>
          </a:p>
        </p:txBody>
      </p:sp>
      <p:sp>
        <p:nvSpPr>
          <p:cNvPr id="10" name="Text 8"/>
          <p:cNvSpPr/>
          <p:nvPr/>
        </p:nvSpPr>
        <p:spPr>
          <a:xfrm>
            <a:off x="1005840" y="1591056"/>
            <a:ext cx="7680960" cy="384048"/>
          </a:xfrm>
          <a:prstGeom prst="rect">
            <a:avLst/>
          </a:prstGeom>
          <a:noFill/>
        </p:spPr>
        <p:txBody>
          <a:bodyPr wrap="square" lIns="0" tIns="0" rIns="0" bIns="0" rtlCol="0" anchor="ctr"/>
          <a:lstStyle/>
          <a:p>
            <a:pPr marL="0" indent="0">
              <a:buNone/>
            </a:pPr>
            <a:r>
              <a:rPr lang="en-US" sz="1050" dirty="0">
                <a:solidFill>
                  <a:srgbClr val="D1D5DB"/>
                </a:solidFill>
              </a:rPr>
              <a:t>With 75.93% market share in top 3 coins, conservative portfolios should focus on BTC/ETH as anchors, using small/mid-caps for satellite positions only.</a:t>
            </a:r>
            <a:endParaRPr lang="en-US" sz="1050" dirty="0"/>
          </a:p>
        </p:txBody>
      </p:sp>
      <p:sp>
        <p:nvSpPr>
          <p:cNvPr id="11" name="Shape 9"/>
          <p:cNvSpPr/>
          <p:nvPr/>
        </p:nvSpPr>
        <p:spPr>
          <a:xfrm>
            <a:off x="274320" y="2148840"/>
            <a:ext cx="8595360" cy="841248"/>
          </a:xfrm>
          <a:prstGeom prst="rect">
            <a:avLst/>
          </a:prstGeom>
          <a:solidFill>
            <a:srgbClr val="111827"/>
          </a:solidFill>
          <a:ln w="12700">
            <a:solidFill>
              <a:srgbClr val="EF4444">
                <a:alpha val="40000"/>
              </a:srgbClr>
            </a:solidFill>
            <a:prstDash val="solid"/>
          </a:ln>
          <a:effectLst>
            <a:outerShdw blurRad="76200" dist="25400" dir="8100000" algn="bl" rotWithShape="0">
              <a:srgbClr val="000000">
                <a:alpha val="30000"/>
              </a:srgbClr>
            </a:outerShdw>
          </a:effectLst>
        </p:spPr>
      </p:sp>
      <p:sp>
        <p:nvSpPr>
          <p:cNvPr id="12" name="Shape 10"/>
          <p:cNvSpPr/>
          <p:nvPr/>
        </p:nvSpPr>
        <p:spPr>
          <a:xfrm>
            <a:off x="274320" y="2148840"/>
            <a:ext cx="64008" cy="841248"/>
          </a:xfrm>
          <a:prstGeom prst="rect">
            <a:avLst/>
          </a:prstGeom>
          <a:solidFill>
            <a:srgbClr val="EF4444"/>
          </a:solidFill>
          <a:ln w="12700">
            <a:solidFill>
              <a:srgbClr val="EF4444"/>
            </a:solidFill>
            <a:prstDash val="solid"/>
          </a:ln>
        </p:spPr>
      </p:sp>
      <p:sp>
        <p:nvSpPr>
          <p:cNvPr id="13" name="Text 11"/>
          <p:cNvSpPr/>
          <p:nvPr/>
        </p:nvSpPr>
        <p:spPr>
          <a:xfrm>
            <a:off x="411480" y="2240280"/>
            <a:ext cx="5029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005840" y="2240280"/>
            <a:ext cx="7680960" cy="274320"/>
          </a:xfrm>
          <a:prstGeom prst="rect">
            <a:avLst/>
          </a:prstGeom>
          <a:noFill/>
        </p:spPr>
        <p:txBody>
          <a:bodyPr wrap="square" lIns="0" tIns="0" rIns="0" bIns="0" rtlCol="0" anchor="ctr"/>
          <a:lstStyle/>
          <a:p>
            <a:pPr marL="0" indent="0">
              <a:buNone/>
            </a:pPr>
            <a:r>
              <a:rPr lang="en-US" sz="1300" b="1" dirty="0">
                <a:solidFill>
                  <a:srgbClr val="EF4444"/>
                </a:solidFill>
              </a:rPr>
              <a:t>Monitor Volatility Leaders</a:t>
            </a:r>
            <a:endParaRPr lang="en-US" sz="1300" dirty="0"/>
          </a:p>
        </p:txBody>
      </p:sp>
      <p:sp>
        <p:nvSpPr>
          <p:cNvPr id="15" name="Text 13"/>
          <p:cNvSpPr/>
          <p:nvPr/>
        </p:nvSpPr>
        <p:spPr>
          <a:xfrm>
            <a:off x="1005840" y="2551176"/>
            <a:ext cx="7680960" cy="384048"/>
          </a:xfrm>
          <a:prstGeom prst="rect">
            <a:avLst/>
          </a:prstGeom>
          <a:noFill/>
        </p:spPr>
        <p:txBody>
          <a:bodyPr wrap="square" lIns="0" tIns="0" rIns="0" bIns="0" rtlCol="0" anchor="ctr"/>
          <a:lstStyle/>
          <a:p>
            <a:pPr marL="0" indent="0">
              <a:buNone/>
            </a:pPr>
            <a:r>
              <a:rPr lang="en-US" sz="1050" dirty="0">
                <a:solidFill>
                  <a:srgbClr val="D1D5DB"/>
                </a:solidFill>
              </a:rPr>
              <a:t>Siren, River, Pi Network show extreme volatility scores (55, 41, 33). Traders can leverage these for short-term opportunities with strict stop-loss strategies.</a:t>
            </a:r>
            <a:endParaRPr lang="en-US" sz="1050" dirty="0"/>
          </a:p>
        </p:txBody>
      </p:sp>
      <p:sp>
        <p:nvSpPr>
          <p:cNvPr id="16" name="Shape 14"/>
          <p:cNvSpPr/>
          <p:nvPr/>
        </p:nvSpPr>
        <p:spPr>
          <a:xfrm>
            <a:off x="274320" y="3108960"/>
            <a:ext cx="8595360" cy="841248"/>
          </a:xfrm>
          <a:prstGeom prst="rect">
            <a:avLst/>
          </a:prstGeom>
          <a:solidFill>
            <a:srgbClr val="111827"/>
          </a:solidFill>
          <a:ln w="12700">
            <a:solidFill>
              <a:srgbClr val="22D3EE">
                <a:alpha val="40000"/>
              </a:srgbClr>
            </a:solidFill>
            <a:prstDash val="solid"/>
          </a:ln>
          <a:effectLst>
            <a:outerShdw blurRad="76200" dist="25400" dir="8100000" algn="bl" rotWithShape="0">
              <a:srgbClr val="000000">
                <a:alpha val="30000"/>
              </a:srgbClr>
            </a:outerShdw>
          </a:effectLst>
        </p:spPr>
      </p:sp>
      <p:sp>
        <p:nvSpPr>
          <p:cNvPr id="17" name="Shape 15"/>
          <p:cNvSpPr/>
          <p:nvPr/>
        </p:nvSpPr>
        <p:spPr>
          <a:xfrm>
            <a:off x="274320" y="3108960"/>
            <a:ext cx="64008" cy="841248"/>
          </a:xfrm>
          <a:prstGeom prst="rect">
            <a:avLst/>
          </a:prstGeom>
          <a:solidFill>
            <a:srgbClr val="22D3EE"/>
          </a:solidFill>
          <a:ln w="12700">
            <a:solidFill>
              <a:srgbClr val="22D3EE"/>
            </a:solidFill>
            <a:prstDash val="solid"/>
          </a:ln>
        </p:spPr>
      </p:sp>
      <p:sp>
        <p:nvSpPr>
          <p:cNvPr id="18" name="Text 16"/>
          <p:cNvSpPr/>
          <p:nvPr/>
        </p:nvSpPr>
        <p:spPr>
          <a:xfrm>
            <a:off x="411480" y="3200400"/>
            <a:ext cx="5029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19" name="Text 17"/>
          <p:cNvSpPr/>
          <p:nvPr/>
        </p:nvSpPr>
        <p:spPr>
          <a:xfrm>
            <a:off x="1005840" y="3200400"/>
            <a:ext cx="7680960" cy="274320"/>
          </a:xfrm>
          <a:prstGeom prst="rect">
            <a:avLst/>
          </a:prstGeom>
          <a:noFill/>
        </p:spPr>
        <p:txBody>
          <a:bodyPr wrap="square" lIns="0" tIns="0" rIns="0" bIns="0" rtlCol="0" anchor="ctr"/>
          <a:lstStyle/>
          <a:p>
            <a:pPr marL="0" indent="0">
              <a:buNone/>
            </a:pPr>
            <a:r>
              <a:rPr lang="en-US" sz="1300" b="1" dirty="0">
                <a:solidFill>
                  <a:srgbClr val="22D3EE"/>
                </a:solidFill>
              </a:rPr>
              <a:t>Evaluate Scarcity for Long-Term</a:t>
            </a:r>
            <a:endParaRPr lang="en-US" sz="1300" dirty="0"/>
          </a:p>
        </p:txBody>
      </p:sp>
      <p:sp>
        <p:nvSpPr>
          <p:cNvPr id="20" name="Text 18"/>
          <p:cNvSpPr/>
          <p:nvPr/>
        </p:nvSpPr>
        <p:spPr>
          <a:xfrm>
            <a:off x="1005840" y="3511296"/>
            <a:ext cx="7680960" cy="384048"/>
          </a:xfrm>
          <a:prstGeom prst="rect">
            <a:avLst/>
          </a:prstGeom>
          <a:noFill/>
        </p:spPr>
        <p:txBody>
          <a:bodyPr wrap="square" lIns="0" tIns="0" rIns="0" bIns="0" rtlCol="0" anchor="ctr"/>
          <a:lstStyle/>
          <a:p>
            <a:pPr marL="0" indent="0">
              <a:buNone/>
            </a:pPr>
            <a:r>
              <a:rPr lang="en-US" sz="1050" dirty="0">
                <a:solidFill>
                  <a:srgbClr val="D1D5DB"/>
                </a:solidFill>
              </a:rPr>
              <a:t>Only 21% of coins are 'High Scarcity'. Focus on coins with capped max supply and high circulating ratios for deflationary long-term investment thesis.</a:t>
            </a:r>
            <a:endParaRPr lang="en-US" sz="1050" dirty="0"/>
          </a:p>
        </p:txBody>
      </p:sp>
      <p:sp>
        <p:nvSpPr>
          <p:cNvPr id="21" name="Shape 19"/>
          <p:cNvSpPr/>
          <p:nvPr/>
        </p:nvSpPr>
        <p:spPr>
          <a:xfrm>
            <a:off x="274320" y="4069080"/>
            <a:ext cx="8595360" cy="841248"/>
          </a:xfrm>
          <a:prstGeom prst="rect">
            <a:avLst/>
          </a:prstGeom>
          <a:solidFill>
            <a:srgbClr val="111827"/>
          </a:solidFill>
          <a:ln w="12700">
            <a:solidFill>
              <a:srgbClr val="6366F1">
                <a:alpha val="40000"/>
              </a:srgbClr>
            </a:solidFill>
            <a:prstDash val="solid"/>
          </a:ln>
          <a:effectLst>
            <a:outerShdw blurRad="76200" dist="25400" dir="8100000" algn="bl" rotWithShape="0">
              <a:srgbClr val="000000">
                <a:alpha val="30000"/>
              </a:srgbClr>
            </a:outerShdw>
          </a:effectLst>
        </p:spPr>
      </p:sp>
      <p:sp>
        <p:nvSpPr>
          <p:cNvPr id="22" name="Shape 20"/>
          <p:cNvSpPr/>
          <p:nvPr/>
        </p:nvSpPr>
        <p:spPr>
          <a:xfrm>
            <a:off x="274320" y="4069080"/>
            <a:ext cx="64008" cy="841248"/>
          </a:xfrm>
          <a:prstGeom prst="rect">
            <a:avLst/>
          </a:prstGeom>
          <a:solidFill>
            <a:srgbClr val="6366F1"/>
          </a:solidFill>
          <a:ln w="12700">
            <a:solidFill>
              <a:srgbClr val="6366F1"/>
            </a:solidFill>
            <a:prstDash val="solid"/>
          </a:ln>
        </p:spPr>
      </p:sp>
      <p:sp>
        <p:nvSpPr>
          <p:cNvPr id="23" name="Text 21"/>
          <p:cNvSpPr/>
          <p:nvPr/>
        </p:nvSpPr>
        <p:spPr>
          <a:xfrm>
            <a:off x="411480" y="4160520"/>
            <a:ext cx="502920" cy="502920"/>
          </a:xfrm>
          <a:prstGeom prst="rect">
            <a:avLst/>
          </a:prstGeom>
          <a:noFill/>
        </p:spPr>
        <p:txBody>
          <a:bodyPr wrap="square"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1005840" y="4160520"/>
            <a:ext cx="7680960" cy="274320"/>
          </a:xfrm>
          <a:prstGeom prst="rect">
            <a:avLst/>
          </a:prstGeom>
          <a:noFill/>
        </p:spPr>
        <p:txBody>
          <a:bodyPr wrap="square" lIns="0" tIns="0" rIns="0" bIns="0" rtlCol="0" anchor="ctr"/>
          <a:lstStyle/>
          <a:p>
            <a:pPr marL="0" indent="0">
              <a:buNone/>
            </a:pPr>
            <a:r>
              <a:rPr lang="en-US" sz="1300" b="1" dirty="0">
                <a:solidFill>
                  <a:srgbClr val="6366F1"/>
                </a:solidFill>
              </a:rPr>
              <a:t>Track Performance Categories</a:t>
            </a:r>
            <a:endParaRPr lang="en-US" sz="1300" dirty="0"/>
          </a:p>
        </p:txBody>
      </p:sp>
      <p:sp>
        <p:nvSpPr>
          <p:cNvPr id="25" name="Text 23"/>
          <p:cNvSpPr/>
          <p:nvPr/>
        </p:nvSpPr>
        <p:spPr>
          <a:xfrm>
            <a:off x="1005840" y="4471416"/>
            <a:ext cx="7680960" cy="384048"/>
          </a:xfrm>
          <a:prstGeom prst="rect">
            <a:avLst/>
          </a:prstGeom>
          <a:noFill/>
        </p:spPr>
        <p:txBody>
          <a:bodyPr wrap="square" lIns="0" tIns="0" rIns="0" bIns="0" rtlCol="0" anchor="ctr"/>
          <a:lstStyle/>
          <a:p>
            <a:pPr marL="0" indent="0">
              <a:buNone/>
            </a:pPr>
            <a:r>
              <a:rPr lang="en-US" sz="1050" dirty="0">
                <a:solidFill>
                  <a:srgbClr val="D1D5DB"/>
                </a:solidFill>
              </a:rPr>
              <a:t>With 45 coins 'Declining' and only 15 in 'Strong Growth', wait for market recovery signals before broad allocation. Focus on the 7 'Recovery' category coins.</a:t>
            </a:r>
            <a:endParaRPr lang="en-US" sz="1050" dirty="0"/>
          </a:p>
        </p:txBody>
      </p:sp>
      <p:sp>
        <p:nvSpPr>
          <p:cNvPr id="26" name="Shape 24"/>
          <p:cNvSpPr/>
          <p:nvPr/>
        </p:nvSpPr>
        <p:spPr>
          <a:xfrm>
            <a:off x="0" y="5070348"/>
            <a:ext cx="9144000" cy="73152"/>
          </a:xfrm>
          <a:prstGeom prst="rect">
            <a:avLst/>
          </a:prstGeom>
          <a:solidFill>
            <a:srgbClr val="F59E0B"/>
          </a:solidFill>
          <a:ln w="12700">
            <a:solidFill>
              <a:srgbClr val="F59E0B"/>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366F1"/>
          </a:solidFill>
          <a:ln w="12700">
            <a:solidFill>
              <a:srgbClr val="6366F1"/>
            </a:solidFill>
            <a:prstDash val="solid"/>
          </a:ln>
        </p:spPr>
      </p:sp>
      <p:sp>
        <p:nvSpPr>
          <p:cNvPr id="3" name="Shape 1"/>
          <p:cNvSpPr/>
          <p:nvPr/>
        </p:nvSpPr>
        <p:spPr>
          <a:xfrm>
            <a:off x="0" y="0"/>
            <a:ext cx="54864" cy="5143500"/>
          </a:xfrm>
          <a:prstGeom prst="rect">
            <a:avLst/>
          </a:prstGeom>
          <a:solidFill>
            <a:srgbClr val="22D3EE"/>
          </a:solidFill>
          <a:ln w="12700">
            <a:solidFill>
              <a:srgbClr val="22D3EE"/>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300" dirty="0">
                <a:solidFill>
                  <a:srgbClr val="6366F1"/>
                </a:solidFill>
              </a:rPr>
              <a:t>TOOLS &amp; SKILLS DEMONSTRATED</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600" b="1" dirty="0">
                <a:solidFill>
                  <a:srgbClr val="FFFFFF"/>
                </a:solidFill>
              </a:rPr>
              <a:t>Technology Stack &amp; Competencies</a:t>
            </a:r>
            <a:endParaRPr lang="en-US" sz="2600" dirty="0"/>
          </a:p>
        </p:txBody>
      </p:sp>
      <p:sp>
        <p:nvSpPr>
          <p:cNvPr id="6" name="Shape 4"/>
          <p:cNvSpPr/>
          <p:nvPr/>
        </p:nvSpPr>
        <p:spPr>
          <a:xfrm>
            <a:off x="274320" y="1188720"/>
            <a:ext cx="4206240" cy="1554480"/>
          </a:xfrm>
          <a:prstGeom prst="rect">
            <a:avLst/>
          </a:prstGeom>
          <a:solidFill>
            <a:srgbClr val="111827"/>
          </a:solidFill>
          <a:ln w="12700">
            <a:solidFill>
              <a:srgbClr val="F59E0B">
                <a:alpha val="45000"/>
              </a:srgbClr>
            </a:solidFill>
            <a:prstDash val="solid"/>
          </a:ln>
          <a:effectLst>
            <a:outerShdw blurRad="101600" dist="25400" dir="8100000" algn="bl" rotWithShape="0">
              <a:srgbClr val="000000">
                <a:alpha val="40000"/>
              </a:srgbClr>
            </a:outerShdw>
          </a:effectLst>
        </p:spPr>
      </p:sp>
      <p:sp>
        <p:nvSpPr>
          <p:cNvPr id="7" name="Shape 5"/>
          <p:cNvSpPr/>
          <p:nvPr/>
        </p:nvSpPr>
        <p:spPr>
          <a:xfrm>
            <a:off x="274320" y="1188720"/>
            <a:ext cx="4206240" cy="54864"/>
          </a:xfrm>
          <a:prstGeom prst="rect">
            <a:avLst/>
          </a:prstGeom>
          <a:solidFill>
            <a:srgbClr val="F59E0B"/>
          </a:solidFill>
          <a:ln w="12700">
            <a:solidFill>
              <a:srgbClr val="F59E0B"/>
            </a:solidFill>
            <a:prstDash val="solid"/>
          </a:ln>
        </p:spPr>
      </p:sp>
      <p:sp>
        <p:nvSpPr>
          <p:cNvPr id="8" name="Shape 6"/>
          <p:cNvSpPr/>
          <p:nvPr/>
        </p:nvSpPr>
        <p:spPr>
          <a:xfrm>
            <a:off x="411480" y="1325880"/>
            <a:ext cx="685800" cy="256032"/>
          </a:xfrm>
          <a:prstGeom prst="rect">
            <a:avLst/>
          </a:prstGeom>
          <a:solidFill>
            <a:srgbClr val="F59E0B">
              <a:alpha val="80000"/>
            </a:srgbClr>
          </a:solidFill>
          <a:ln w="12700">
            <a:solidFill>
              <a:srgbClr val="F59E0B"/>
            </a:solidFill>
            <a:prstDash val="solid"/>
          </a:ln>
        </p:spPr>
      </p:sp>
      <p:sp>
        <p:nvSpPr>
          <p:cNvPr id="9" name="Text 7"/>
          <p:cNvSpPr/>
          <p:nvPr/>
        </p:nvSpPr>
        <p:spPr>
          <a:xfrm>
            <a:off x="411480" y="1325880"/>
            <a:ext cx="685800" cy="256032"/>
          </a:xfrm>
          <a:prstGeom prst="rect">
            <a:avLst/>
          </a:prstGeom>
          <a:noFill/>
        </p:spPr>
        <p:txBody>
          <a:bodyPr wrap="square" rtlCol="0" anchor="ctr"/>
          <a:lstStyle/>
          <a:p>
            <a:pPr marL="0" indent="0" algn="ctr">
              <a:buNone/>
            </a:pPr>
            <a:r>
              <a:rPr lang="en-US" sz="800" b="1" dirty="0">
                <a:solidFill>
                  <a:srgbClr val="FFFFFF"/>
                </a:solidFill>
              </a:rPr>
              <a:t>TOOL</a:t>
            </a:r>
            <a:endParaRPr lang="en-US" sz="800" dirty="0"/>
          </a:p>
        </p:txBody>
      </p:sp>
      <p:sp>
        <p:nvSpPr>
          <p:cNvPr id="10" name="Text 8"/>
          <p:cNvSpPr/>
          <p:nvPr/>
        </p:nvSpPr>
        <p:spPr>
          <a:xfrm>
            <a:off x="1188720" y="1298448"/>
            <a:ext cx="3154680" cy="347472"/>
          </a:xfrm>
          <a:prstGeom prst="rect">
            <a:avLst/>
          </a:prstGeom>
          <a:noFill/>
        </p:spPr>
        <p:txBody>
          <a:bodyPr wrap="square" lIns="0" tIns="0" rIns="0" bIns="0" rtlCol="0" anchor="ctr"/>
          <a:lstStyle/>
          <a:p>
            <a:pPr marL="0" indent="0">
              <a:buNone/>
            </a:pPr>
            <a:r>
              <a:rPr lang="en-US" sz="1600" b="1" dirty="0">
                <a:solidFill>
                  <a:srgbClr val="FFFFFF"/>
                </a:solidFill>
              </a:rPr>
              <a:t>Power BI Desktop</a:t>
            </a:r>
            <a:endParaRPr lang="en-US" sz="1600" dirty="0"/>
          </a:p>
        </p:txBody>
      </p:sp>
      <p:sp>
        <p:nvSpPr>
          <p:cNvPr id="11" name="Text 9"/>
          <p:cNvSpPr/>
          <p:nvPr/>
        </p:nvSpPr>
        <p:spPr>
          <a:xfrm>
            <a:off x="411480" y="1783080"/>
            <a:ext cx="3931920" cy="822960"/>
          </a:xfrm>
          <a:prstGeom prst="rect">
            <a:avLst/>
          </a:prstGeom>
          <a:noFill/>
        </p:spPr>
        <p:txBody>
          <a:bodyPr wrap="square" rtlCol="0" anchor="ctr"/>
          <a:lstStyle/>
          <a:p>
            <a:pPr marL="0" indent="0">
              <a:buNone/>
            </a:pPr>
            <a:r>
              <a:rPr lang="en-US" sz="1100" dirty="0">
                <a:solidFill>
                  <a:srgbClr val="D1D5DB"/>
                </a:solidFill>
              </a:rPr>
              <a:t>Built 6 interactive dashboard pages with slicers, filters, cards, charts, and treemaps.</a:t>
            </a:r>
            <a:endParaRPr lang="en-US" sz="1100" dirty="0"/>
          </a:p>
        </p:txBody>
      </p:sp>
      <p:sp>
        <p:nvSpPr>
          <p:cNvPr id="12" name="Shape 10"/>
          <p:cNvSpPr/>
          <p:nvPr/>
        </p:nvSpPr>
        <p:spPr>
          <a:xfrm>
            <a:off x="4709160" y="1188720"/>
            <a:ext cx="4206240" cy="1554480"/>
          </a:xfrm>
          <a:prstGeom prst="rect">
            <a:avLst/>
          </a:prstGeom>
          <a:solidFill>
            <a:srgbClr val="111827"/>
          </a:solidFill>
          <a:ln w="12700">
            <a:solidFill>
              <a:srgbClr val="22D3EE">
                <a:alpha val="45000"/>
              </a:srgbClr>
            </a:solidFill>
            <a:prstDash val="solid"/>
          </a:ln>
          <a:effectLst>
            <a:outerShdw blurRad="101600" dist="25400" dir="8100000" algn="bl" rotWithShape="0">
              <a:srgbClr val="000000">
                <a:alpha val="40000"/>
              </a:srgbClr>
            </a:outerShdw>
          </a:effectLst>
        </p:spPr>
      </p:sp>
      <p:sp>
        <p:nvSpPr>
          <p:cNvPr id="13" name="Shape 11"/>
          <p:cNvSpPr/>
          <p:nvPr/>
        </p:nvSpPr>
        <p:spPr>
          <a:xfrm>
            <a:off x="4709160" y="1188720"/>
            <a:ext cx="4206240" cy="54864"/>
          </a:xfrm>
          <a:prstGeom prst="rect">
            <a:avLst/>
          </a:prstGeom>
          <a:solidFill>
            <a:srgbClr val="22D3EE"/>
          </a:solidFill>
          <a:ln w="12700">
            <a:solidFill>
              <a:srgbClr val="22D3EE"/>
            </a:solidFill>
            <a:prstDash val="solid"/>
          </a:ln>
        </p:spPr>
      </p:sp>
      <p:sp>
        <p:nvSpPr>
          <p:cNvPr id="14" name="Shape 12"/>
          <p:cNvSpPr/>
          <p:nvPr/>
        </p:nvSpPr>
        <p:spPr>
          <a:xfrm>
            <a:off x="4846320" y="1325880"/>
            <a:ext cx="685800" cy="256032"/>
          </a:xfrm>
          <a:prstGeom prst="rect">
            <a:avLst/>
          </a:prstGeom>
          <a:solidFill>
            <a:srgbClr val="22D3EE">
              <a:alpha val="80000"/>
            </a:srgbClr>
          </a:solidFill>
          <a:ln w="12700">
            <a:solidFill>
              <a:srgbClr val="22D3EE"/>
            </a:solidFill>
            <a:prstDash val="solid"/>
          </a:ln>
        </p:spPr>
      </p:sp>
      <p:sp>
        <p:nvSpPr>
          <p:cNvPr id="15" name="Text 13"/>
          <p:cNvSpPr/>
          <p:nvPr/>
        </p:nvSpPr>
        <p:spPr>
          <a:xfrm>
            <a:off x="4846320" y="1325880"/>
            <a:ext cx="685800" cy="256032"/>
          </a:xfrm>
          <a:prstGeom prst="rect">
            <a:avLst/>
          </a:prstGeom>
          <a:noFill/>
        </p:spPr>
        <p:txBody>
          <a:bodyPr wrap="square" rtlCol="0" anchor="ctr"/>
          <a:lstStyle/>
          <a:p>
            <a:pPr marL="0" indent="0" algn="ctr">
              <a:buNone/>
            </a:pPr>
            <a:r>
              <a:rPr lang="en-US" sz="800" b="1" dirty="0">
                <a:solidFill>
                  <a:srgbClr val="FFFFFF"/>
                </a:solidFill>
              </a:rPr>
              <a:t>LANGUAGE</a:t>
            </a:r>
            <a:endParaRPr lang="en-US" sz="800" dirty="0"/>
          </a:p>
        </p:txBody>
      </p:sp>
      <p:sp>
        <p:nvSpPr>
          <p:cNvPr id="16" name="Text 14"/>
          <p:cNvSpPr/>
          <p:nvPr/>
        </p:nvSpPr>
        <p:spPr>
          <a:xfrm>
            <a:off x="5623560" y="1298448"/>
            <a:ext cx="3154680" cy="347472"/>
          </a:xfrm>
          <a:prstGeom prst="rect">
            <a:avLst/>
          </a:prstGeom>
          <a:noFill/>
        </p:spPr>
        <p:txBody>
          <a:bodyPr wrap="square" lIns="0" tIns="0" rIns="0" bIns="0" rtlCol="0" anchor="ctr"/>
          <a:lstStyle/>
          <a:p>
            <a:pPr marL="0" indent="0">
              <a:buNone/>
            </a:pPr>
            <a:r>
              <a:rPr lang="en-US" sz="1600" b="1" dirty="0">
                <a:solidFill>
                  <a:srgbClr val="FFFFFF"/>
                </a:solidFill>
              </a:rPr>
              <a:t>DAX</a:t>
            </a:r>
            <a:endParaRPr lang="en-US" sz="1600" dirty="0"/>
          </a:p>
        </p:txBody>
      </p:sp>
      <p:sp>
        <p:nvSpPr>
          <p:cNvPr id="17" name="Text 15"/>
          <p:cNvSpPr/>
          <p:nvPr/>
        </p:nvSpPr>
        <p:spPr>
          <a:xfrm>
            <a:off x="4846320" y="1783080"/>
            <a:ext cx="3931920" cy="822960"/>
          </a:xfrm>
          <a:prstGeom prst="rect">
            <a:avLst/>
          </a:prstGeom>
          <a:noFill/>
        </p:spPr>
        <p:txBody>
          <a:bodyPr wrap="square" rtlCol="0" anchor="ctr"/>
          <a:lstStyle/>
          <a:p>
            <a:pPr marL="0" indent="0">
              <a:buNone/>
            </a:pPr>
            <a:r>
              <a:rPr lang="en-US" sz="1100" dirty="0">
                <a:solidFill>
                  <a:srgbClr val="D1D5DB"/>
                </a:solidFill>
              </a:rPr>
              <a:t>Created 8+ calculated measures and columns for volatility, scarcity, and performance logic.</a:t>
            </a:r>
            <a:endParaRPr lang="en-US" sz="1100" dirty="0"/>
          </a:p>
        </p:txBody>
      </p:sp>
      <p:sp>
        <p:nvSpPr>
          <p:cNvPr id="18" name="Shape 16"/>
          <p:cNvSpPr/>
          <p:nvPr/>
        </p:nvSpPr>
        <p:spPr>
          <a:xfrm>
            <a:off x="274320" y="2971800"/>
            <a:ext cx="4206240" cy="1554480"/>
          </a:xfrm>
          <a:prstGeom prst="rect">
            <a:avLst/>
          </a:prstGeom>
          <a:solidFill>
            <a:srgbClr val="111827"/>
          </a:solidFill>
          <a:ln w="12700">
            <a:solidFill>
              <a:srgbClr val="10B981">
                <a:alpha val="45000"/>
              </a:srgbClr>
            </a:solidFill>
            <a:prstDash val="solid"/>
          </a:ln>
          <a:effectLst>
            <a:outerShdw blurRad="101600" dist="25400" dir="8100000" algn="bl" rotWithShape="0">
              <a:srgbClr val="000000">
                <a:alpha val="40000"/>
              </a:srgbClr>
            </a:outerShdw>
          </a:effectLst>
        </p:spPr>
      </p:sp>
      <p:sp>
        <p:nvSpPr>
          <p:cNvPr id="19" name="Shape 17"/>
          <p:cNvSpPr/>
          <p:nvPr/>
        </p:nvSpPr>
        <p:spPr>
          <a:xfrm>
            <a:off x="274320" y="2971800"/>
            <a:ext cx="4206240" cy="54864"/>
          </a:xfrm>
          <a:prstGeom prst="rect">
            <a:avLst/>
          </a:prstGeom>
          <a:solidFill>
            <a:srgbClr val="10B981"/>
          </a:solidFill>
          <a:ln w="12700">
            <a:solidFill>
              <a:srgbClr val="10B981"/>
            </a:solidFill>
            <a:prstDash val="solid"/>
          </a:ln>
        </p:spPr>
      </p:sp>
      <p:sp>
        <p:nvSpPr>
          <p:cNvPr id="20" name="Shape 18"/>
          <p:cNvSpPr/>
          <p:nvPr/>
        </p:nvSpPr>
        <p:spPr>
          <a:xfrm>
            <a:off x="411480" y="3108960"/>
            <a:ext cx="685800" cy="256032"/>
          </a:xfrm>
          <a:prstGeom prst="rect">
            <a:avLst/>
          </a:prstGeom>
          <a:solidFill>
            <a:srgbClr val="10B981">
              <a:alpha val="80000"/>
            </a:srgbClr>
          </a:solidFill>
          <a:ln w="12700">
            <a:solidFill>
              <a:srgbClr val="10B981"/>
            </a:solidFill>
            <a:prstDash val="solid"/>
          </a:ln>
        </p:spPr>
      </p:sp>
      <p:sp>
        <p:nvSpPr>
          <p:cNvPr id="21" name="Text 19"/>
          <p:cNvSpPr/>
          <p:nvPr/>
        </p:nvSpPr>
        <p:spPr>
          <a:xfrm>
            <a:off x="411480" y="3108960"/>
            <a:ext cx="685800" cy="256032"/>
          </a:xfrm>
          <a:prstGeom prst="rect">
            <a:avLst/>
          </a:prstGeom>
          <a:noFill/>
        </p:spPr>
        <p:txBody>
          <a:bodyPr wrap="square" rtlCol="0" anchor="ctr"/>
          <a:lstStyle/>
          <a:p>
            <a:pPr marL="0" indent="0" algn="ctr">
              <a:buNone/>
            </a:pPr>
            <a:r>
              <a:rPr lang="en-US" sz="800" b="1" dirty="0">
                <a:solidFill>
                  <a:srgbClr val="FFFFFF"/>
                </a:solidFill>
              </a:rPr>
              <a:t>ETL</a:t>
            </a:r>
            <a:endParaRPr lang="en-US" sz="800" dirty="0"/>
          </a:p>
        </p:txBody>
      </p:sp>
      <p:sp>
        <p:nvSpPr>
          <p:cNvPr id="22" name="Text 20"/>
          <p:cNvSpPr/>
          <p:nvPr/>
        </p:nvSpPr>
        <p:spPr>
          <a:xfrm>
            <a:off x="1188720" y="3081528"/>
            <a:ext cx="3154680" cy="347472"/>
          </a:xfrm>
          <a:prstGeom prst="rect">
            <a:avLst/>
          </a:prstGeom>
          <a:noFill/>
        </p:spPr>
        <p:txBody>
          <a:bodyPr wrap="square" lIns="0" tIns="0" rIns="0" bIns="0" rtlCol="0" anchor="ctr"/>
          <a:lstStyle/>
          <a:p>
            <a:pPr marL="0" indent="0">
              <a:buNone/>
            </a:pPr>
            <a:r>
              <a:rPr lang="en-US" sz="1600" b="1" dirty="0">
                <a:solidFill>
                  <a:srgbClr val="FFFFFF"/>
                </a:solidFill>
              </a:rPr>
              <a:t>Power Query (M)</a:t>
            </a:r>
            <a:endParaRPr lang="en-US" sz="1600" dirty="0"/>
          </a:p>
        </p:txBody>
      </p:sp>
      <p:sp>
        <p:nvSpPr>
          <p:cNvPr id="23" name="Text 21"/>
          <p:cNvSpPr/>
          <p:nvPr/>
        </p:nvSpPr>
        <p:spPr>
          <a:xfrm>
            <a:off x="411480" y="3566160"/>
            <a:ext cx="3931920" cy="822960"/>
          </a:xfrm>
          <a:prstGeom prst="rect">
            <a:avLst/>
          </a:prstGeom>
          <a:noFill/>
        </p:spPr>
        <p:txBody>
          <a:bodyPr wrap="square" rtlCol="0" anchor="ctr"/>
          <a:lstStyle/>
          <a:p>
            <a:pPr marL="0" indent="0">
              <a:buNone/>
            </a:pPr>
            <a:r>
              <a:rPr lang="en-US" sz="1100" dirty="0">
                <a:solidFill>
                  <a:srgbClr val="D1D5DB"/>
                </a:solidFill>
              </a:rPr>
              <a:t>Cleaned, shaped, and transformed raw JSON API data into analysis-ready structured tables.</a:t>
            </a:r>
            <a:endParaRPr lang="en-US" sz="1100" dirty="0"/>
          </a:p>
        </p:txBody>
      </p:sp>
      <p:sp>
        <p:nvSpPr>
          <p:cNvPr id="24" name="Shape 22"/>
          <p:cNvSpPr/>
          <p:nvPr/>
        </p:nvSpPr>
        <p:spPr>
          <a:xfrm>
            <a:off x="4709160" y="2971800"/>
            <a:ext cx="4206240" cy="1554480"/>
          </a:xfrm>
          <a:prstGeom prst="rect">
            <a:avLst/>
          </a:prstGeom>
          <a:solidFill>
            <a:srgbClr val="111827"/>
          </a:solidFill>
          <a:ln w="12700">
            <a:solidFill>
              <a:srgbClr val="6366F1">
                <a:alpha val="45000"/>
              </a:srgbClr>
            </a:solidFill>
            <a:prstDash val="solid"/>
          </a:ln>
          <a:effectLst>
            <a:outerShdw blurRad="101600" dist="25400" dir="8100000" algn="bl" rotWithShape="0">
              <a:srgbClr val="000000">
                <a:alpha val="40000"/>
              </a:srgbClr>
            </a:outerShdw>
          </a:effectLst>
        </p:spPr>
      </p:sp>
      <p:sp>
        <p:nvSpPr>
          <p:cNvPr id="25" name="Shape 23"/>
          <p:cNvSpPr/>
          <p:nvPr/>
        </p:nvSpPr>
        <p:spPr>
          <a:xfrm>
            <a:off x="4709160" y="2971800"/>
            <a:ext cx="4206240" cy="54864"/>
          </a:xfrm>
          <a:prstGeom prst="rect">
            <a:avLst/>
          </a:prstGeom>
          <a:solidFill>
            <a:srgbClr val="6366F1"/>
          </a:solidFill>
          <a:ln w="12700">
            <a:solidFill>
              <a:srgbClr val="6366F1"/>
            </a:solidFill>
            <a:prstDash val="solid"/>
          </a:ln>
        </p:spPr>
      </p:sp>
      <p:sp>
        <p:nvSpPr>
          <p:cNvPr id="26" name="Shape 24"/>
          <p:cNvSpPr/>
          <p:nvPr/>
        </p:nvSpPr>
        <p:spPr>
          <a:xfrm>
            <a:off x="4846320" y="3108960"/>
            <a:ext cx="685800" cy="256032"/>
          </a:xfrm>
          <a:prstGeom prst="rect">
            <a:avLst/>
          </a:prstGeom>
          <a:solidFill>
            <a:srgbClr val="6366F1">
              <a:alpha val="80000"/>
            </a:srgbClr>
          </a:solidFill>
          <a:ln w="12700">
            <a:solidFill>
              <a:srgbClr val="6366F1"/>
            </a:solidFill>
            <a:prstDash val="solid"/>
          </a:ln>
        </p:spPr>
      </p:sp>
      <p:sp>
        <p:nvSpPr>
          <p:cNvPr id="27" name="Text 25"/>
          <p:cNvSpPr/>
          <p:nvPr/>
        </p:nvSpPr>
        <p:spPr>
          <a:xfrm>
            <a:off x="4846320" y="3108960"/>
            <a:ext cx="685800" cy="256032"/>
          </a:xfrm>
          <a:prstGeom prst="rect">
            <a:avLst/>
          </a:prstGeom>
          <a:noFill/>
        </p:spPr>
        <p:txBody>
          <a:bodyPr wrap="square" rtlCol="0" anchor="ctr"/>
          <a:lstStyle/>
          <a:p>
            <a:pPr marL="0" indent="0" algn="ctr">
              <a:buNone/>
            </a:pPr>
            <a:r>
              <a:rPr lang="en-US" sz="800" b="1" dirty="0">
                <a:solidFill>
                  <a:srgbClr val="FFFFFF"/>
                </a:solidFill>
              </a:rPr>
              <a:t>DATA SOURCE</a:t>
            </a:r>
            <a:endParaRPr lang="en-US" sz="800" dirty="0"/>
          </a:p>
        </p:txBody>
      </p:sp>
      <p:sp>
        <p:nvSpPr>
          <p:cNvPr id="28" name="Text 26"/>
          <p:cNvSpPr/>
          <p:nvPr/>
        </p:nvSpPr>
        <p:spPr>
          <a:xfrm>
            <a:off x="5623560" y="3081528"/>
            <a:ext cx="3154680" cy="347472"/>
          </a:xfrm>
          <a:prstGeom prst="rect">
            <a:avLst/>
          </a:prstGeom>
          <a:noFill/>
        </p:spPr>
        <p:txBody>
          <a:bodyPr wrap="square" lIns="0" tIns="0" rIns="0" bIns="0" rtlCol="0" anchor="ctr"/>
          <a:lstStyle/>
          <a:p>
            <a:pPr marL="0" indent="0">
              <a:buNone/>
            </a:pPr>
            <a:r>
              <a:rPr lang="en-US" sz="1600" b="1" dirty="0">
                <a:solidFill>
                  <a:srgbClr val="FFFFFF"/>
                </a:solidFill>
              </a:rPr>
              <a:t>CoinGecko API</a:t>
            </a:r>
            <a:endParaRPr lang="en-US" sz="1600" dirty="0"/>
          </a:p>
        </p:txBody>
      </p:sp>
      <p:sp>
        <p:nvSpPr>
          <p:cNvPr id="29" name="Text 27"/>
          <p:cNvSpPr/>
          <p:nvPr/>
        </p:nvSpPr>
        <p:spPr>
          <a:xfrm>
            <a:off x="4846320" y="3566160"/>
            <a:ext cx="3931920" cy="822960"/>
          </a:xfrm>
          <a:prstGeom prst="rect">
            <a:avLst/>
          </a:prstGeom>
          <a:noFill/>
        </p:spPr>
        <p:txBody>
          <a:bodyPr wrap="square" rtlCol="0" anchor="ctr"/>
          <a:lstStyle/>
          <a:p>
            <a:pPr marL="0" indent="0">
              <a:buNone/>
            </a:pPr>
            <a:r>
              <a:rPr lang="en-US" sz="1100" dirty="0">
                <a:solidFill>
                  <a:srgbClr val="D1D5DB"/>
                </a:solidFill>
              </a:rPr>
              <a:t>Fetched live market data for 100 cryptocurrencies including price, supply, and volume metrics.</a:t>
            </a:r>
            <a:endParaRPr lang="en-US" sz="1100" dirty="0"/>
          </a:p>
        </p:txBody>
      </p:sp>
      <p:sp>
        <p:nvSpPr>
          <p:cNvPr id="30" name="Shape 28"/>
          <p:cNvSpPr/>
          <p:nvPr/>
        </p:nvSpPr>
        <p:spPr>
          <a:xfrm>
            <a:off x="274320" y="4709160"/>
            <a:ext cx="8595360" cy="320040"/>
          </a:xfrm>
          <a:prstGeom prst="rect">
            <a:avLst/>
          </a:prstGeom>
          <a:solidFill>
            <a:srgbClr val="1F2937"/>
          </a:solidFill>
          <a:ln w="12700">
            <a:solidFill>
              <a:srgbClr val="1F2937"/>
            </a:solidFill>
            <a:prstDash val="solid"/>
          </a:ln>
        </p:spPr>
      </p:sp>
      <p:sp>
        <p:nvSpPr>
          <p:cNvPr id="31" name="Shape 29"/>
          <p:cNvSpPr/>
          <p:nvPr/>
        </p:nvSpPr>
        <p:spPr>
          <a:xfrm>
            <a:off x="365760" y="4736592"/>
            <a:ext cx="1325880" cy="256032"/>
          </a:xfrm>
          <a:prstGeom prst="rect">
            <a:avLst/>
          </a:prstGeom>
          <a:solidFill>
            <a:srgbClr val="6366F1">
              <a:alpha val="25000"/>
            </a:srgbClr>
          </a:solidFill>
          <a:ln w="12700">
            <a:solidFill>
              <a:srgbClr val="6366F1">
                <a:alpha val="50000"/>
              </a:srgbClr>
            </a:solidFill>
            <a:prstDash val="solid"/>
          </a:ln>
        </p:spPr>
      </p:sp>
      <p:sp>
        <p:nvSpPr>
          <p:cNvPr id="32" name="Text 30"/>
          <p:cNvSpPr/>
          <p:nvPr/>
        </p:nvSpPr>
        <p:spPr>
          <a:xfrm>
            <a:off x="365760" y="4736592"/>
            <a:ext cx="1325880" cy="256032"/>
          </a:xfrm>
          <a:prstGeom prst="rect">
            <a:avLst/>
          </a:prstGeom>
          <a:noFill/>
        </p:spPr>
        <p:txBody>
          <a:bodyPr wrap="square" rtlCol="0" anchor="ctr"/>
          <a:lstStyle/>
          <a:p>
            <a:pPr marL="0" indent="0" algn="ctr">
              <a:buNone/>
            </a:pPr>
            <a:r>
              <a:rPr lang="en-US" sz="850" b="1" dirty="0">
                <a:solidFill>
                  <a:srgbClr val="FFFFFF"/>
                </a:solidFill>
              </a:rPr>
              <a:t>Data Analysis</a:t>
            </a:r>
            <a:endParaRPr lang="en-US" sz="850" dirty="0"/>
          </a:p>
        </p:txBody>
      </p:sp>
      <p:sp>
        <p:nvSpPr>
          <p:cNvPr id="33" name="Shape 31"/>
          <p:cNvSpPr/>
          <p:nvPr/>
        </p:nvSpPr>
        <p:spPr>
          <a:xfrm>
            <a:off x="1783080" y="4736592"/>
            <a:ext cx="1325880" cy="256032"/>
          </a:xfrm>
          <a:prstGeom prst="rect">
            <a:avLst/>
          </a:prstGeom>
          <a:solidFill>
            <a:srgbClr val="6366F1">
              <a:alpha val="25000"/>
            </a:srgbClr>
          </a:solidFill>
          <a:ln w="12700">
            <a:solidFill>
              <a:srgbClr val="6366F1">
                <a:alpha val="50000"/>
              </a:srgbClr>
            </a:solidFill>
            <a:prstDash val="solid"/>
          </a:ln>
        </p:spPr>
      </p:sp>
      <p:sp>
        <p:nvSpPr>
          <p:cNvPr id="34" name="Text 32"/>
          <p:cNvSpPr/>
          <p:nvPr/>
        </p:nvSpPr>
        <p:spPr>
          <a:xfrm>
            <a:off x="1783080" y="4736592"/>
            <a:ext cx="1325880" cy="256032"/>
          </a:xfrm>
          <a:prstGeom prst="rect">
            <a:avLst/>
          </a:prstGeom>
          <a:noFill/>
        </p:spPr>
        <p:txBody>
          <a:bodyPr wrap="square" rtlCol="0" anchor="ctr"/>
          <a:lstStyle/>
          <a:p>
            <a:pPr marL="0" indent="0" algn="ctr">
              <a:buNone/>
            </a:pPr>
            <a:r>
              <a:rPr lang="en-US" sz="850" b="1" dirty="0">
                <a:solidFill>
                  <a:srgbClr val="FFFFFF"/>
                </a:solidFill>
              </a:rPr>
              <a:t>Data Visualization</a:t>
            </a:r>
            <a:endParaRPr lang="en-US" sz="850" dirty="0"/>
          </a:p>
        </p:txBody>
      </p:sp>
      <p:sp>
        <p:nvSpPr>
          <p:cNvPr id="35" name="Shape 33"/>
          <p:cNvSpPr/>
          <p:nvPr/>
        </p:nvSpPr>
        <p:spPr>
          <a:xfrm>
            <a:off x="3200400" y="4736592"/>
            <a:ext cx="1325880" cy="256032"/>
          </a:xfrm>
          <a:prstGeom prst="rect">
            <a:avLst/>
          </a:prstGeom>
          <a:solidFill>
            <a:srgbClr val="6366F1">
              <a:alpha val="25000"/>
            </a:srgbClr>
          </a:solidFill>
          <a:ln w="12700">
            <a:solidFill>
              <a:srgbClr val="6366F1">
                <a:alpha val="50000"/>
              </a:srgbClr>
            </a:solidFill>
            <a:prstDash val="solid"/>
          </a:ln>
        </p:spPr>
      </p:sp>
      <p:sp>
        <p:nvSpPr>
          <p:cNvPr id="36" name="Text 34"/>
          <p:cNvSpPr/>
          <p:nvPr/>
        </p:nvSpPr>
        <p:spPr>
          <a:xfrm>
            <a:off x="3200400" y="4736592"/>
            <a:ext cx="1325880" cy="256032"/>
          </a:xfrm>
          <a:prstGeom prst="rect">
            <a:avLst/>
          </a:prstGeom>
          <a:noFill/>
        </p:spPr>
        <p:txBody>
          <a:bodyPr wrap="square" rtlCol="0" anchor="ctr"/>
          <a:lstStyle/>
          <a:p>
            <a:pPr marL="0" indent="0" algn="ctr">
              <a:buNone/>
            </a:pPr>
            <a:r>
              <a:rPr lang="en-US" sz="850" b="1" dirty="0">
                <a:solidFill>
                  <a:srgbClr val="FFFFFF"/>
                </a:solidFill>
              </a:rPr>
              <a:t>Data Modeling</a:t>
            </a:r>
            <a:endParaRPr lang="en-US" sz="850" dirty="0"/>
          </a:p>
        </p:txBody>
      </p:sp>
      <p:sp>
        <p:nvSpPr>
          <p:cNvPr id="37" name="Shape 35"/>
          <p:cNvSpPr/>
          <p:nvPr/>
        </p:nvSpPr>
        <p:spPr>
          <a:xfrm>
            <a:off x="4617720" y="4736592"/>
            <a:ext cx="1325880" cy="256032"/>
          </a:xfrm>
          <a:prstGeom prst="rect">
            <a:avLst/>
          </a:prstGeom>
          <a:solidFill>
            <a:srgbClr val="6366F1">
              <a:alpha val="25000"/>
            </a:srgbClr>
          </a:solidFill>
          <a:ln w="12700">
            <a:solidFill>
              <a:srgbClr val="6366F1">
                <a:alpha val="50000"/>
              </a:srgbClr>
            </a:solidFill>
            <a:prstDash val="solid"/>
          </a:ln>
        </p:spPr>
      </p:sp>
      <p:sp>
        <p:nvSpPr>
          <p:cNvPr id="38" name="Text 36"/>
          <p:cNvSpPr/>
          <p:nvPr/>
        </p:nvSpPr>
        <p:spPr>
          <a:xfrm>
            <a:off x="4617720" y="4736592"/>
            <a:ext cx="1325880" cy="256032"/>
          </a:xfrm>
          <a:prstGeom prst="rect">
            <a:avLst/>
          </a:prstGeom>
          <a:noFill/>
        </p:spPr>
        <p:txBody>
          <a:bodyPr wrap="square" rtlCol="0" anchor="ctr"/>
          <a:lstStyle/>
          <a:p>
            <a:pPr marL="0" indent="0" algn="ctr">
              <a:buNone/>
            </a:pPr>
            <a:r>
              <a:rPr lang="en-US" sz="850" b="1" dirty="0">
                <a:solidFill>
                  <a:srgbClr val="FFFFFF"/>
                </a:solidFill>
              </a:rPr>
              <a:t>ETL / Data Wrangling</a:t>
            </a:r>
            <a:endParaRPr lang="en-US" sz="850" dirty="0"/>
          </a:p>
        </p:txBody>
      </p:sp>
      <p:sp>
        <p:nvSpPr>
          <p:cNvPr id="39" name="Shape 37"/>
          <p:cNvSpPr/>
          <p:nvPr/>
        </p:nvSpPr>
        <p:spPr>
          <a:xfrm>
            <a:off x="6035040" y="4736592"/>
            <a:ext cx="1325880" cy="256032"/>
          </a:xfrm>
          <a:prstGeom prst="rect">
            <a:avLst/>
          </a:prstGeom>
          <a:solidFill>
            <a:srgbClr val="6366F1">
              <a:alpha val="25000"/>
            </a:srgbClr>
          </a:solidFill>
          <a:ln w="12700">
            <a:solidFill>
              <a:srgbClr val="6366F1">
                <a:alpha val="50000"/>
              </a:srgbClr>
            </a:solidFill>
            <a:prstDash val="solid"/>
          </a:ln>
        </p:spPr>
      </p:sp>
      <p:sp>
        <p:nvSpPr>
          <p:cNvPr id="40" name="Text 38"/>
          <p:cNvSpPr/>
          <p:nvPr/>
        </p:nvSpPr>
        <p:spPr>
          <a:xfrm>
            <a:off x="6035040" y="4736592"/>
            <a:ext cx="1325880" cy="256032"/>
          </a:xfrm>
          <a:prstGeom prst="rect">
            <a:avLst/>
          </a:prstGeom>
          <a:noFill/>
        </p:spPr>
        <p:txBody>
          <a:bodyPr wrap="square" rtlCol="0" anchor="ctr"/>
          <a:lstStyle/>
          <a:p>
            <a:pPr marL="0" indent="0" algn="ctr">
              <a:buNone/>
            </a:pPr>
            <a:r>
              <a:rPr lang="en-US" sz="850" b="1" dirty="0">
                <a:solidFill>
                  <a:srgbClr val="FFFFFF"/>
                </a:solidFill>
              </a:rPr>
              <a:t>Dashboard Design</a:t>
            </a:r>
            <a:endParaRPr lang="en-US" sz="850" dirty="0"/>
          </a:p>
        </p:txBody>
      </p:sp>
      <p:sp>
        <p:nvSpPr>
          <p:cNvPr id="41" name="Shape 39"/>
          <p:cNvSpPr/>
          <p:nvPr/>
        </p:nvSpPr>
        <p:spPr>
          <a:xfrm>
            <a:off x="7452360" y="4736592"/>
            <a:ext cx="1325880" cy="256032"/>
          </a:xfrm>
          <a:prstGeom prst="rect">
            <a:avLst/>
          </a:prstGeom>
          <a:solidFill>
            <a:srgbClr val="6366F1">
              <a:alpha val="25000"/>
            </a:srgbClr>
          </a:solidFill>
          <a:ln w="12700">
            <a:solidFill>
              <a:srgbClr val="6366F1">
                <a:alpha val="50000"/>
              </a:srgbClr>
            </a:solidFill>
            <a:prstDash val="solid"/>
          </a:ln>
        </p:spPr>
      </p:sp>
      <p:sp>
        <p:nvSpPr>
          <p:cNvPr id="42" name="Text 40"/>
          <p:cNvSpPr/>
          <p:nvPr/>
        </p:nvSpPr>
        <p:spPr>
          <a:xfrm>
            <a:off x="7452360" y="4736592"/>
            <a:ext cx="1325880" cy="256032"/>
          </a:xfrm>
          <a:prstGeom prst="rect">
            <a:avLst/>
          </a:prstGeom>
          <a:noFill/>
        </p:spPr>
        <p:txBody>
          <a:bodyPr wrap="square" rtlCol="0" anchor="ctr"/>
          <a:lstStyle/>
          <a:p>
            <a:pPr marL="0" indent="0" algn="ctr">
              <a:buNone/>
            </a:pPr>
            <a:r>
              <a:rPr lang="en-US" sz="850" b="1" dirty="0">
                <a:solidFill>
                  <a:srgbClr val="FFFFFF"/>
                </a:solidFill>
              </a:rPr>
              <a:t>API Integration</a:t>
            </a:r>
            <a:endParaRPr lang="en-US" sz="850" dirty="0"/>
          </a:p>
        </p:txBody>
      </p:sp>
      <p:sp>
        <p:nvSpPr>
          <p:cNvPr id="43" name="Shape 41"/>
          <p:cNvSpPr/>
          <p:nvPr/>
        </p:nvSpPr>
        <p:spPr>
          <a:xfrm>
            <a:off x="0" y="5070348"/>
            <a:ext cx="9144000" cy="73152"/>
          </a:xfrm>
          <a:prstGeom prst="rect">
            <a:avLst/>
          </a:prstGeom>
          <a:solidFill>
            <a:srgbClr val="6366F1"/>
          </a:solidFill>
          <a:ln w="12700">
            <a:solidFill>
              <a:srgbClr val="6366F1"/>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Shape 1"/>
          <p:cNvSpPr/>
          <p:nvPr/>
        </p:nvSpPr>
        <p:spPr>
          <a:xfrm>
            <a:off x="0" y="0"/>
            <a:ext cx="54864" cy="5143500"/>
          </a:xfrm>
          <a:prstGeom prst="rect">
            <a:avLst/>
          </a:prstGeom>
          <a:solidFill>
            <a:srgbClr val="EF4444"/>
          </a:solidFill>
          <a:ln w="12700">
            <a:solidFill>
              <a:srgbClr val="EF4444"/>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EF4444"/>
                </a:solidFill>
              </a:rPr>
              <a:t>CHALLENGES FACED</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Real Obstacles, Real Solutions</a:t>
            </a:r>
            <a:endParaRPr lang="en-US" sz="2800" dirty="0"/>
          </a:p>
        </p:txBody>
      </p:sp>
      <p:sp>
        <p:nvSpPr>
          <p:cNvPr id="6" name="Shape 4"/>
          <p:cNvSpPr/>
          <p:nvPr/>
        </p:nvSpPr>
        <p:spPr>
          <a:xfrm>
            <a:off x="274320" y="1170432"/>
            <a:ext cx="8595360" cy="685800"/>
          </a:xfrm>
          <a:prstGeom prst="rect">
            <a:avLst/>
          </a:prstGeom>
          <a:solidFill>
            <a:srgbClr val="111827"/>
          </a:solidFill>
          <a:ln w="12700">
            <a:solidFill>
              <a:srgbClr val="EF4444">
                <a:alpha val="35000"/>
              </a:srgbClr>
            </a:solidFill>
            <a:prstDash val="solid"/>
          </a:ln>
        </p:spPr>
      </p:sp>
      <p:sp>
        <p:nvSpPr>
          <p:cNvPr id="7" name="Shape 5"/>
          <p:cNvSpPr/>
          <p:nvPr/>
        </p:nvSpPr>
        <p:spPr>
          <a:xfrm>
            <a:off x="274320" y="1170432"/>
            <a:ext cx="64008" cy="685800"/>
          </a:xfrm>
          <a:prstGeom prst="rect">
            <a:avLst/>
          </a:prstGeom>
          <a:solidFill>
            <a:srgbClr val="EF4444"/>
          </a:solidFill>
          <a:ln w="12700">
            <a:solidFill>
              <a:srgbClr val="EF4444"/>
            </a:solidFill>
            <a:prstDash val="solid"/>
          </a:ln>
        </p:spPr>
      </p:sp>
      <p:sp>
        <p:nvSpPr>
          <p:cNvPr id="8" name="Shape 6"/>
          <p:cNvSpPr/>
          <p:nvPr/>
        </p:nvSpPr>
        <p:spPr>
          <a:xfrm>
            <a:off x="411480" y="1280160"/>
            <a:ext cx="1508760" cy="228600"/>
          </a:xfrm>
          <a:prstGeom prst="rect">
            <a:avLst/>
          </a:prstGeom>
          <a:solidFill>
            <a:srgbClr val="EF4444">
              <a:alpha val="75000"/>
            </a:srgbClr>
          </a:solidFill>
          <a:ln w="12700">
            <a:solidFill>
              <a:srgbClr val="EF4444"/>
            </a:solidFill>
            <a:prstDash val="solid"/>
          </a:ln>
        </p:spPr>
      </p:sp>
      <p:sp>
        <p:nvSpPr>
          <p:cNvPr id="9" name="Text 7"/>
          <p:cNvSpPr/>
          <p:nvPr/>
        </p:nvSpPr>
        <p:spPr>
          <a:xfrm>
            <a:off x="411480" y="1280160"/>
            <a:ext cx="1508760" cy="228600"/>
          </a:xfrm>
          <a:prstGeom prst="rect">
            <a:avLst/>
          </a:prstGeom>
          <a:noFill/>
        </p:spPr>
        <p:txBody>
          <a:bodyPr wrap="square" rtlCol="0" anchor="ctr"/>
          <a:lstStyle/>
          <a:p>
            <a:pPr marL="0" indent="0" algn="ctr">
              <a:buNone/>
            </a:pPr>
            <a:r>
              <a:rPr lang="en-US" sz="850" b="1" dirty="0">
                <a:solidFill>
                  <a:srgbClr val="FFFFFF"/>
                </a:solidFill>
              </a:rPr>
              <a:t>⚠  Null &amp; Missing Values</a:t>
            </a:r>
            <a:endParaRPr lang="en-US" sz="850" dirty="0"/>
          </a:p>
        </p:txBody>
      </p:sp>
      <p:sp>
        <p:nvSpPr>
          <p:cNvPr id="10" name="Text 8"/>
          <p:cNvSpPr/>
          <p:nvPr/>
        </p:nvSpPr>
        <p:spPr>
          <a:xfrm>
            <a:off x="2057400" y="1243584"/>
            <a:ext cx="6675120" cy="502920"/>
          </a:xfrm>
          <a:prstGeom prst="rect">
            <a:avLst/>
          </a:prstGeom>
          <a:noFill/>
        </p:spPr>
        <p:txBody>
          <a:bodyPr wrap="square" rtlCol="0" anchor="ctr"/>
          <a:lstStyle/>
          <a:p>
            <a:pPr marL="0" indent="0">
              <a:buNone/>
            </a:pPr>
            <a:r>
              <a:rPr lang="en-US" sz="1050" dirty="0">
                <a:solidFill>
                  <a:srgbClr val="D1D5DB"/>
                </a:solidFill>
              </a:rPr>
              <a:t>→  Used Power Query conditional replacements and filters to handle nulls in max_supply and FDV columns without data loss.</a:t>
            </a:r>
            <a:endParaRPr lang="en-US" sz="1050" dirty="0"/>
          </a:p>
        </p:txBody>
      </p:sp>
      <p:sp>
        <p:nvSpPr>
          <p:cNvPr id="11" name="Shape 9"/>
          <p:cNvSpPr/>
          <p:nvPr/>
        </p:nvSpPr>
        <p:spPr>
          <a:xfrm>
            <a:off x="274320" y="1938528"/>
            <a:ext cx="8595360" cy="685800"/>
          </a:xfrm>
          <a:prstGeom prst="rect">
            <a:avLst/>
          </a:prstGeom>
          <a:solidFill>
            <a:srgbClr val="111827"/>
          </a:solidFill>
          <a:ln w="12700">
            <a:solidFill>
              <a:srgbClr val="F59E0B">
                <a:alpha val="35000"/>
              </a:srgbClr>
            </a:solidFill>
            <a:prstDash val="solid"/>
          </a:ln>
        </p:spPr>
      </p:sp>
      <p:sp>
        <p:nvSpPr>
          <p:cNvPr id="12" name="Shape 10"/>
          <p:cNvSpPr/>
          <p:nvPr/>
        </p:nvSpPr>
        <p:spPr>
          <a:xfrm>
            <a:off x="274320" y="1938528"/>
            <a:ext cx="64008" cy="685800"/>
          </a:xfrm>
          <a:prstGeom prst="rect">
            <a:avLst/>
          </a:prstGeom>
          <a:solidFill>
            <a:srgbClr val="F59E0B"/>
          </a:solidFill>
          <a:ln w="12700">
            <a:solidFill>
              <a:srgbClr val="F59E0B"/>
            </a:solidFill>
            <a:prstDash val="solid"/>
          </a:ln>
        </p:spPr>
      </p:sp>
      <p:sp>
        <p:nvSpPr>
          <p:cNvPr id="13" name="Shape 11"/>
          <p:cNvSpPr/>
          <p:nvPr/>
        </p:nvSpPr>
        <p:spPr>
          <a:xfrm>
            <a:off x="411480" y="2048256"/>
            <a:ext cx="1508760" cy="228600"/>
          </a:xfrm>
          <a:prstGeom prst="rect">
            <a:avLst/>
          </a:prstGeom>
          <a:solidFill>
            <a:srgbClr val="F59E0B">
              <a:alpha val="75000"/>
            </a:srgbClr>
          </a:solidFill>
          <a:ln w="12700">
            <a:solidFill>
              <a:srgbClr val="F59E0B"/>
            </a:solidFill>
            <a:prstDash val="solid"/>
          </a:ln>
        </p:spPr>
      </p:sp>
      <p:sp>
        <p:nvSpPr>
          <p:cNvPr id="14" name="Text 12"/>
          <p:cNvSpPr/>
          <p:nvPr/>
        </p:nvSpPr>
        <p:spPr>
          <a:xfrm>
            <a:off x="411480" y="2048256"/>
            <a:ext cx="1508760" cy="228600"/>
          </a:xfrm>
          <a:prstGeom prst="rect">
            <a:avLst/>
          </a:prstGeom>
          <a:noFill/>
        </p:spPr>
        <p:txBody>
          <a:bodyPr wrap="square" rtlCol="0" anchor="ctr"/>
          <a:lstStyle/>
          <a:p>
            <a:pPr marL="0" indent="0" algn="ctr">
              <a:buNone/>
            </a:pPr>
            <a:r>
              <a:rPr lang="en-US" sz="850" b="1" dirty="0">
                <a:solidFill>
                  <a:srgbClr val="FFFFFF"/>
                </a:solidFill>
              </a:rPr>
              <a:t>⚠  Extreme Outliers in Price</a:t>
            </a:r>
            <a:endParaRPr lang="en-US" sz="850" dirty="0"/>
          </a:p>
        </p:txBody>
      </p:sp>
      <p:sp>
        <p:nvSpPr>
          <p:cNvPr id="15" name="Text 13"/>
          <p:cNvSpPr/>
          <p:nvPr/>
        </p:nvSpPr>
        <p:spPr>
          <a:xfrm>
            <a:off x="2057400" y="2011680"/>
            <a:ext cx="6675120" cy="502920"/>
          </a:xfrm>
          <a:prstGeom prst="rect">
            <a:avLst/>
          </a:prstGeom>
          <a:noFill/>
        </p:spPr>
        <p:txBody>
          <a:bodyPr wrap="square" rtlCol="0" anchor="ctr"/>
          <a:lstStyle/>
          <a:p>
            <a:pPr marL="0" indent="0">
              <a:buNone/>
            </a:pPr>
            <a:r>
              <a:rPr lang="en-US" sz="1050" dirty="0">
                <a:solidFill>
                  <a:srgbClr val="D1D5DB"/>
                </a:solidFill>
              </a:rPr>
              <a:t>→  Coins ranged from $69K (BTC) to ~$0.0000017. Applied log-scale logic in DAX and separate 'Price Distribution' segmentation.</a:t>
            </a:r>
            <a:endParaRPr lang="en-US" sz="1050" dirty="0"/>
          </a:p>
        </p:txBody>
      </p:sp>
      <p:sp>
        <p:nvSpPr>
          <p:cNvPr id="16" name="Shape 14"/>
          <p:cNvSpPr/>
          <p:nvPr/>
        </p:nvSpPr>
        <p:spPr>
          <a:xfrm>
            <a:off x="274320" y="2706624"/>
            <a:ext cx="8595360" cy="685800"/>
          </a:xfrm>
          <a:prstGeom prst="rect">
            <a:avLst/>
          </a:prstGeom>
          <a:solidFill>
            <a:srgbClr val="111827"/>
          </a:solidFill>
          <a:ln w="12700">
            <a:solidFill>
              <a:srgbClr val="6366F1">
                <a:alpha val="35000"/>
              </a:srgbClr>
            </a:solidFill>
            <a:prstDash val="solid"/>
          </a:ln>
        </p:spPr>
      </p:sp>
      <p:sp>
        <p:nvSpPr>
          <p:cNvPr id="17" name="Shape 15"/>
          <p:cNvSpPr/>
          <p:nvPr/>
        </p:nvSpPr>
        <p:spPr>
          <a:xfrm>
            <a:off x="274320" y="2706624"/>
            <a:ext cx="64008" cy="685800"/>
          </a:xfrm>
          <a:prstGeom prst="rect">
            <a:avLst/>
          </a:prstGeom>
          <a:solidFill>
            <a:srgbClr val="6366F1"/>
          </a:solidFill>
          <a:ln w="12700">
            <a:solidFill>
              <a:srgbClr val="6366F1"/>
            </a:solidFill>
            <a:prstDash val="solid"/>
          </a:ln>
        </p:spPr>
      </p:sp>
      <p:sp>
        <p:nvSpPr>
          <p:cNvPr id="18" name="Shape 16"/>
          <p:cNvSpPr/>
          <p:nvPr/>
        </p:nvSpPr>
        <p:spPr>
          <a:xfrm>
            <a:off x="411480" y="2816352"/>
            <a:ext cx="1508760" cy="228600"/>
          </a:xfrm>
          <a:prstGeom prst="rect">
            <a:avLst/>
          </a:prstGeom>
          <a:solidFill>
            <a:srgbClr val="6366F1">
              <a:alpha val="75000"/>
            </a:srgbClr>
          </a:solidFill>
          <a:ln w="12700">
            <a:solidFill>
              <a:srgbClr val="6366F1"/>
            </a:solidFill>
            <a:prstDash val="solid"/>
          </a:ln>
        </p:spPr>
      </p:sp>
      <p:sp>
        <p:nvSpPr>
          <p:cNvPr id="19" name="Text 17"/>
          <p:cNvSpPr/>
          <p:nvPr/>
        </p:nvSpPr>
        <p:spPr>
          <a:xfrm>
            <a:off x="411480" y="2816352"/>
            <a:ext cx="1508760" cy="228600"/>
          </a:xfrm>
          <a:prstGeom prst="rect">
            <a:avLst/>
          </a:prstGeom>
          <a:noFill/>
        </p:spPr>
        <p:txBody>
          <a:bodyPr wrap="square" rtlCol="0" anchor="ctr"/>
          <a:lstStyle/>
          <a:p>
            <a:pPr marL="0" indent="0" algn="ctr">
              <a:buNone/>
            </a:pPr>
            <a:r>
              <a:rPr lang="en-US" sz="850" b="1" dirty="0">
                <a:solidFill>
                  <a:srgbClr val="FFFFFF"/>
                </a:solidFill>
              </a:rPr>
              <a:t>⚠  Scientific Notation in API Data</a:t>
            </a:r>
            <a:endParaRPr lang="en-US" sz="850" dirty="0"/>
          </a:p>
        </p:txBody>
      </p:sp>
      <p:sp>
        <p:nvSpPr>
          <p:cNvPr id="20" name="Text 18"/>
          <p:cNvSpPr/>
          <p:nvPr/>
        </p:nvSpPr>
        <p:spPr>
          <a:xfrm>
            <a:off x="2057400" y="2779776"/>
            <a:ext cx="6675120" cy="502920"/>
          </a:xfrm>
          <a:prstGeom prst="rect">
            <a:avLst/>
          </a:prstGeom>
          <a:noFill/>
        </p:spPr>
        <p:txBody>
          <a:bodyPr wrap="square" rtlCol="0" anchor="ctr"/>
          <a:lstStyle/>
          <a:p>
            <a:pPr marL="0" indent="0">
              <a:buNone/>
            </a:pPr>
            <a:r>
              <a:rPr lang="en-US" sz="1050" dirty="0">
                <a:solidFill>
                  <a:srgbClr val="D1D5DB"/>
                </a:solidFill>
              </a:rPr>
              <a:t>→  Raw API returns values like '1.67E-6'. Power Query custom column transformations normalized these to decimal numbers.</a:t>
            </a:r>
            <a:endParaRPr lang="en-US" sz="1050" dirty="0"/>
          </a:p>
        </p:txBody>
      </p:sp>
      <p:sp>
        <p:nvSpPr>
          <p:cNvPr id="21" name="Shape 19"/>
          <p:cNvSpPr/>
          <p:nvPr/>
        </p:nvSpPr>
        <p:spPr>
          <a:xfrm>
            <a:off x="274320" y="3474720"/>
            <a:ext cx="8595360" cy="685800"/>
          </a:xfrm>
          <a:prstGeom prst="rect">
            <a:avLst/>
          </a:prstGeom>
          <a:solidFill>
            <a:srgbClr val="111827"/>
          </a:solidFill>
          <a:ln w="12700">
            <a:solidFill>
              <a:srgbClr val="22D3EE">
                <a:alpha val="35000"/>
              </a:srgbClr>
            </a:solidFill>
            <a:prstDash val="solid"/>
          </a:ln>
        </p:spPr>
      </p:sp>
      <p:sp>
        <p:nvSpPr>
          <p:cNvPr id="22" name="Shape 20"/>
          <p:cNvSpPr/>
          <p:nvPr/>
        </p:nvSpPr>
        <p:spPr>
          <a:xfrm>
            <a:off x="274320" y="3474720"/>
            <a:ext cx="64008" cy="685800"/>
          </a:xfrm>
          <a:prstGeom prst="rect">
            <a:avLst/>
          </a:prstGeom>
          <a:solidFill>
            <a:srgbClr val="22D3EE"/>
          </a:solidFill>
          <a:ln w="12700">
            <a:solidFill>
              <a:srgbClr val="22D3EE"/>
            </a:solidFill>
            <a:prstDash val="solid"/>
          </a:ln>
        </p:spPr>
      </p:sp>
      <p:sp>
        <p:nvSpPr>
          <p:cNvPr id="23" name="Shape 21"/>
          <p:cNvSpPr/>
          <p:nvPr/>
        </p:nvSpPr>
        <p:spPr>
          <a:xfrm>
            <a:off x="411480" y="3584448"/>
            <a:ext cx="1508760" cy="228600"/>
          </a:xfrm>
          <a:prstGeom prst="rect">
            <a:avLst/>
          </a:prstGeom>
          <a:solidFill>
            <a:srgbClr val="22D3EE">
              <a:alpha val="75000"/>
            </a:srgbClr>
          </a:solidFill>
          <a:ln w="12700">
            <a:solidFill>
              <a:srgbClr val="22D3EE"/>
            </a:solidFill>
            <a:prstDash val="solid"/>
          </a:ln>
        </p:spPr>
      </p:sp>
      <p:sp>
        <p:nvSpPr>
          <p:cNvPr id="24" name="Text 22"/>
          <p:cNvSpPr/>
          <p:nvPr/>
        </p:nvSpPr>
        <p:spPr>
          <a:xfrm>
            <a:off x="411480" y="3584448"/>
            <a:ext cx="1508760" cy="228600"/>
          </a:xfrm>
          <a:prstGeom prst="rect">
            <a:avLst/>
          </a:prstGeom>
          <a:noFill/>
        </p:spPr>
        <p:txBody>
          <a:bodyPr wrap="square" rtlCol="0" anchor="ctr"/>
          <a:lstStyle/>
          <a:p>
            <a:pPr marL="0" indent="0" algn="ctr">
              <a:buNone/>
            </a:pPr>
            <a:r>
              <a:rPr lang="en-US" sz="850" b="1" dirty="0">
                <a:solidFill>
                  <a:srgbClr val="FFFFFF"/>
                </a:solidFill>
              </a:rPr>
              <a:t>⚠  Defining Volatility Metrics</a:t>
            </a:r>
            <a:endParaRPr lang="en-US" sz="850" dirty="0"/>
          </a:p>
        </p:txBody>
      </p:sp>
      <p:sp>
        <p:nvSpPr>
          <p:cNvPr id="25" name="Text 23"/>
          <p:cNvSpPr/>
          <p:nvPr/>
        </p:nvSpPr>
        <p:spPr>
          <a:xfrm>
            <a:off x="2057400" y="3547872"/>
            <a:ext cx="6675120" cy="502920"/>
          </a:xfrm>
          <a:prstGeom prst="rect">
            <a:avLst/>
          </a:prstGeom>
          <a:noFill/>
        </p:spPr>
        <p:txBody>
          <a:bodyPr wrap="square" rtlCol="0" anchor="ctr"/>
          <a:lstStyle/>
          <a:p>
            <a:pPr marL="0" indent="0">
              <a:buNone/>
            </a:pPr>
            <a:r>
              <a:rPr lang="en-US" sz="1050" dirty="0">
                <a:solidFill>
                  <a:srgbClr val="D1D5DB"/>
                </a:solidFill>
              </a:rPr>
              <a:t>→  No standard volatility formula in the dataset — designed custom DAX measures combining 24h%, 7d%, and price deviation scoring.</a:t>
            </a:r>
            <a:endParaRPr lang="en-US" sz="1050" dirty="0"/>
          </a:p>
        </p:txBody>
      </p:sp>
      <p:sp>
        <p:nvSpPr>
          <p:cNvPr id="26" name="Shape 24"/>
          <p:cNvSpPr/>
          <p:nvPr/>
        </p:nvSpPr>
        <p:spPr>
          <a:xfrm>
            <a:off x="274320" y="4242816"/>
            <a:ext cx="8595360" cy="685800"/>
          </a:xfrm>
          <a:prstGeom prst="rect">
            <a:avLst/>
          </a:prstGeom>
          <a:solidFill>
            <a:srgbClr val="111827"/>
          </a:solidFill>
          <a:ln w="12700">
            <a:solidFill>
              <a:srgbClr val="10B981">
                <a:alpha val="35000"/>
              </a:srgbClr>
            </a:solidFill>
            <a:prstDash val="solid"/>
          </a:ln>
        </p:spPr>
      </p:sp>
      <p:sp>
        <p:nvSpPr>
          <p:cNvPr id="27" name="Shape 25"/>
          <p:cNvSpPr/>
          <p:nvPr/>
        </p:nvSpPr>
        <p:spPr>
          <a:xfrm>
            <a:off x="274320" y="4242816"/>
            <a:ext cx="64008" cy="685800"/>
          </a:xfrm>
          <a:prstGeom prst="rect">
            <a:avLst/>
          </a:prstGeom>
          <a:solidFill>
            <a:srgbClr val="10B981"/>
          </a:solidFill>
          <a:ln w="12700">
            <a:solidFill>
              <a:srgbClr val="10B981"/>
            </a:solidFill>
            <a:prstDash val="solid"/>
          </a:ln>
        </p:spPr>
      </p:sp>
      <p:sp>
        <p:nvSpPr>
          <p:cNvPr id="28" name="Shape 26"/>
          <p:cNvSpPr/>
          <p:nvPr/>
        </p:nvSpPr>
        <p:spPr>
          <a:xfrm>
            <a:off x="411480" y="4352544"/>
            <a:ext cx="1508760" cy="228600"/>
          </a:xfrm>
          <a:prstGeom prst="rect">
            <a:avLst/>
          </a:prstGeom>
          <a:solidFill>
            <a:srgbClr val="10B981">
              <a:alpha val="75000"/>
            </a:srgbClr>
          </a:solidFill>
          <a:ln w="12700">
            <a:solidFill>
              <a:srgbClr val="10B981"/>
            </a:solidFill>
            <a:prstDash val="solid"/>
          </a:ln>
        </p:spPr>
      </p:sp>
      <p:sp>
        <p:nvSpPr>
          <p:cNvPr id="29" name="Text 27"/>
          <p:cNvSpPr/>
          <p:nvPr/>
        </p:nvSpPr>
        <p:spPr>
          <a:xfrm>
            <a:off x="411480" y="4352544"/>
            <a:ext cx="1508760" cy="228600"/>
          </a:xfrm>
          <a:prstGeom prst="rect">
            <a:avLst/>
          </a:prstGeom>
          <a:noFill/>
        </p:spPr>
        <p:txBody>
          <a:bodyPr wrap="square" rtlCol="0" anchor="ctr"/>
          <a:lstStyle/>
          <a:p>
            <a:pPr marL="0" indent="0" algn="ctr">
              <a:buNone/>
            </a:pPr>
            <a:r>
              <a:rPr lang="en-US" sz="850" b="1" dirty="0">
                <a:solidFill>
                  <a:srgbClr val="FFFFFF"/>
                </a:solidFill>
              </a:rPr>
              <a:t>⚠  Scarcity &amp; Supply Classification</a:t>
            </a:r>
            <a:endParaRPr lang="en-US" sz="850" dirty="0"/>
          </a:p>
        </p:txBody>
      </p:sp>
      <p:sp>
        <p:nvSpPr>
          <p:cNvPr id="30" name="Text 28"/>
          <p:cNvSpPr/>
          <p:nvPr/>
        </p:nvSpPr>
        <p:spPr>
          <a:xfrm>
            <a:off x="2057400" y="4315968"/>
            <a:ext cx="6675120" cy="502920"/>
          </a:xfrm>
          <a:prstGeom prst="rect">
            <a:avLst/>
          </a:prstGeom>
          <a:noFill/>
        </p:spPr>
        <p:txBody>
          <a:bodyPr wrap="square" rtlCol="0" anchor="ctr"/>
          <a:lstStyle/>
          <a:p>
            <a:pPr marL="0" indent="0">
              <a:buNone/>
            </a:pPr>
            <a:r>
              <a:rPr lang="en-US" sz="1050" dirty="0">
                <a:solidFill>
                  <a:srgbClr val="D1D5DB"/>
                </a:solidFill>
              </a:rPr>
              <a:t>→  Built DAX IF/SWITCH logic to classify coins into High/Medium/Low scarcity buckets based on circulating ratio thresholds.</a:t>
            </a:r>
            <a:endParaRPr lang="en-US" sz="1050" dirty="0"/>
          </a:p>
        </p:txBody>
      </p:sp>
      <p:sp>
        <p:nvSpPr>
          <p:cNvPr id="31" name="Shape 29"/>
          <p:cNvSpPr/>
          <p:nvPr/>
        </p:nvSpPr>
        <p:spPr>
          <a:xfrm>
            <a:off x="0" y="5070348"/>
            <a:ext cx="9144000" cy="73152"/>
          </a:xfrm>
          <a:prstGeom prst="rect">
            <a:avLst/>
          </a:prstGeom>
          <a:solidFill>
            <a:srgbClr val="EF4444"/>
          </a:solidFill>
          <a:ln w="12700">
            <a:solidFill>
              <a:srgbClr val="EF4444"/>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w="12700">
            <a:solidFill>
              <a:srgbClr val="22D3EE"/>
            </a:solidFill>
            <a:prstDash val="solid"/>
          </a:ln>
        </p:spPr>
      </p:sp>
      <p:sp>
        <p:nvSpPr>
          <p:cNvPr id="3" name="Shape 1"/>
          <p:cNvSpPr/>
          <p:nvPr/>
        </p:nvSpPr>
        <p:spPr>
          <a:xfrm>
            <a:off x="0" y="0"/>
            <a:ext cx="54864" cy="5143500"/>
          </a:xfrm>
          <a:prstGeom prst="rect">
            <a:avLst/>
          </a:prstGeom>
          <a:solidFill>
            <a:srgbClr val="10B981"/>
          </a:solidFill>
          <a:ln w="12700">
            <a:solidFill>
              <a:srgbClr val="10B981"/>
            </a:solidFill>
            <a:prstDash val="solid"/>
          </a:ln>
        </p:spPr>
      </p:sp>
      <p:sp>
        <p:nvSpPr>
          <p:cNvPr id="4" name="Text 2"/>
          <p:cNvSpPr/>
          <p:nvPr/>
        </p:nvSpPr>
        <p:spPr>
          <a:xfrm>
            <a:off x="274320" y="182880"/>
            <a:ext cx="8595360" cy="365760"/>
          </a:xfrm>
          <a:prstGeom prst="rect">
            <a:avLst/>
          </a:prstGeom>
          <a:noFill/>
        </p:spPr>
        <p:txBody>
          <a:bodyPr wrap="square" rtlCol="0" anchor="ctr"/>
          <a:lstStyle/>
          <a:p>
            <a:pPr marL="0" indent="0">
              <a:buNone/>
            </a:pPr>
            <a:r>
              <a:rPr lang="en-US" sz="1100" b="1" kern="0" spc="400" dirty="0">
                <a:solidFill>
                  <a:srgbClr val="22D3EE"/>
                </a:solidFill>
              </a:rPr>
              <a:t>FUTURE SCOPE</a:t>
            </a:r>
            <a:endParaRPr lang="en-US" sz="1100" dirty="0"/>
          </a:p>
        </p:txBody>
      </p:sp>
      <p:sp>
        <p:nvSpPr>
          <p:cNvPr id="5" name="Text 3"/>
          <p:cNvSpPr/>
          <p:nvPr/>
        </p:nvSpPr>
        <p:spPr>
          <a:xfrm>
            <a:off x="274320" y="502920"/>
            <a:ext cx="8595360" cy="548640"/>
          </a:xfrm>
          <a:prstGeom prst="rect">
            <a:avLst/>
          </a:prstGeom>
          <a:noFill/>
        </p:spPr>
        <p:txBody>
          <a:bodyPr wrap="square" rtlCol="0" anchor="ctr"/>
          <a:lstStyle/>
          <a:p>
            <a:pPr marL="0" indent="0">
              <a:buNone/>
            </a:pPr>
            <a:r>
              <a:rPr lang="en-US" sz="2800" b="1" dirty="0">
                <a:solidFill>
                  <a:srgbClr val="FFFFFF"/>
                </a:solidFill>
              </a:rPr>
              <a:t>What Comes Next</a:t>
            </a:r>
            <a:endParaRPr lang="en-US" sz="2800" dirty="0"/>
          </a:p>
        </p:txBody>
      </p:sp>
      <p:sp>
        <p:nvSpPr>
          <p:cNvPr id="6" name="Shape 4"/>
          <p:cNvSpPr/>
          <p:nvPr/>
        </p:nvSpPr>
        <p:spPr>
          <a:xfrm>
            <a:off x="6400800" y="457200"/>
            <a:ext cx="3200400" cy="3200400"/>
          </a:xfrm>
          <a:prstGeom prst="ellipse">
            <a:avLst/>
          </a:prstGeom>
          <a:solidFill>
            <a:srgbClr val="22D3EE">
              <a:alpha val="10000"/>
            </a:srgbClr>
          </a:solidFill>
          <a:ln w="12700">
            <a:solidFill>
              <a:srgbClr val="22D3EE">
                <a:alpha val="10000"/>
              </a:srgbClr>
            </a:solidFill>
            <a:prstDash val="solid"/>
          </a:ln>
        </p:spPr>
      </p:sp>
      <p:sp>
        <p:nvSpPr>
          <p:cNvPr id="7" name="Shape 5"/>
          <p:cNvSpPr/>
          <p:nvPr/>
        </p:nvSpPr>
        <p:spPr>
          <a:xfrm>
            <a:off x="274320" y="1234440"/>
            <a:ext cx="2697480" cy="1600200"/>
          </a:xfrm>
          <a:prstGeom prst="rect">
            <a:avLst/>
          </a:prstGeom>
          <a:solidFill>
            <a:srgbClr val="111827"/>
          </a:solidFill>
          <a:ln w="12700">
            <a:solidFill>
              <a:srgbClr val="22D3EE">
                <a:alpha val="45000"/>
              </a:srgbClr>
            </a:solidFill>
            <a:prstDash val="solid"/>
          </a:ln>
          <a:effectLst>
            <a:outerShdw blurRad="101600" dist="25400" dir="8100000" algn="bl" rotWithShape="0">
              <a:srgbClr val="000000">
                <a:alpha val="40000"/>
              </a:srgbClr>
            </a:outerShdw>
          </a:effectLst>
        </p:spPr>
      </p:sp>
      <p:sp>
        <p:nvSpPr>
          <p:cNvPr id="8" name="Shape 6"/>
          <p:cNvSpPr/>
          <p:nvPr/>
        </p:nvSpPr>
        <p:spPr>
          <a:xfrm>
            <a:off x="274320" y="1234440"/>
            <a:ext cx="2697480" cy="54864"/>
          </a:xfrm>
          <a:prstGeom prst="rect">
            <a:avLst/>
          </a:prstGeom>
          <a:solidFill>
            <a:srgbClr val="22D3EE"/>
          </a:solidFill>
          <a:ln w="12700">
            <a:solidFill>
              <a:srgbClr val="22D3EE"/>
            </a:solidFill>
            <a:prstDash val="solid"/>
          </a:ln>
        </p:spPr>
      </p:sp>
      <p:sp>
        <p:nvSpPr>
          <p:cNvPr id="9" name="Text 7"/>
          <p:cNvSpPr/>
          <p:nvPr/>
        </p:nvSpPr>
        <p:spPr>
          <a:xfrm>
            <a:off x="384048" y="1344168"/>
            <a:ext cx="411480" cy="320040"/>
          </a:xfrm>
          <a:prstGeom prst="rect">
            <a:avLst/>
          </a:prstGeom>
          <a:noFill/>
        </p:spPr>
        <p:txBody>
          <a:bodyPr wrap="square" lIns="0" tIns="0" rIns="0" bIns="0" rtlCol="0" anchor="ctr"/>
          <a:lstStyle/>
          <a:p>
            <a:pPr marL="0" indent="0">
              <a:buNone/>
            </a:pPr>
            <a:r>
              <a:rPr lang="en-US" sz="1100" b="1" dirty="0">
                <a:solidFill>
                  <a:srgbClr val="22D3EE"/>
                </a:solidFill>
              </a:rPr>
              <a:t>01</a:t>
            </a:r>
            <a:endParaRPr lang="en-US" sz="1100" dirty="0"/>
          </a:p>
        </p:txBody>
      </p:sp>
      <p:sp>
        <p:nvSpPr>
          <p:cNvPr id="10" name="Text 8"/>
          <p:cNvSpPr/>
          <p:nvPr/>
        </p:nvSpPr>
        <p:spPr>
          <a:xfrm>
            <a:off x="384048" y="1645920"/>
            <a:ext cx="2478024" cy="347472"/>
          </a:xfrm>
          <a:prstGeom prst="rect">
            <a:avLst/>
          </a:prstGeom>
          <a:noFill/>
        </p:spPr>
        <p:txBody>
          <a:bodyPr wrap="square" lIns="0" tIns="0" rIns="0" bIns="0" rtlCol="0" anchor="ctr"/>
          <a:lstStyle/>
          <a:p>
            <a:pPr marL="0" indent="0">
              <a:buNone/>
            </a:pPr>
            <a:r>
              <a:rPr lang="en-US" sz="1200" b="1" dirty="0">
                <a:solidFill>
                  <a:srgbClr val="FFFFFF"/>
                </a:solidFill>
              </a:rPr>
              <a:t>Real-Time Auto Refresh</a:t>
            </a:r>
            <a:endParaRPr lang="en-US" sz="1200" dirty="0"/>
          </a:p>
        </p:txBody>
      </p:sp>
      <p:sp>
        <p:nvSpPr>
          <p:cNvPr id="11" name="Text 9"/>
          <p:cNvSpPr/>
          <p:nvPr/>
        </p:nvSpPr>
        <p:spPr>
          <a:xfrm>
            <a:off x="384048" y="2039112"/>
            <a:ext cx="2478024" cy="731520"/>
          </a:xfrm>
          <a:prstGeom prst="rect">
            <a:avLst/>
          </a:prstGeom>
          <a:noFill/>
        </p:spPr>
        <p:txBody>
          <a:bodyPr wrap="square" rtlCol="0" anchor="ctr"/>
          <a:lstStyle/>
          <a:p>
            <a:pPr marL="0" indent="0">
              <a:buNone/>
            </a:pPr>
            <a:r>
              <a:rPr lang="en-US" sz="950" dirty="0">
                <a:solidFill>
                  <a:srgbClr val="D1D5DB"/>
                </a:solidFill>
              </a:rPr>
              <a:t>Implement Power BI scheduled refresh with live CoinGecko API calls every 15 minutes for up-to-date dashboards.</a:t>
            </a:r>
            <a:endParaRPr lang="en-US" sz="950" dirty="0"/>
          </a:p>
        </p:txBody>
      </p:sp>
      <p:sp>
        <p:nvSpPr>
          <p:cNvPr id="12" name="Shape 10"/>
          <p:cNvSpPr/>
          <p:nvPr/>
        </p:nvSpPr>
        <p:spPr>
          <a:xfrm>
            <a:off x="3154680" y="1234440"/>
            <a:ext cx="2697480" cy="1600200"/>
          </a:xfrm>
          <a:prstGeom prst="rect">
            <a:avLst/>
          </a:prstGeom>
          <a:solidFill>
            <a:srgbClr val="111827"/>
          </a:solidFill>
          <a:ln w="12700">
            <a:solidFill>
              <a:srgbClr val="10B981">
                <a:alpha val="45000"/>
              </a:srgbClr>
            </a:solidFill>
            <a:prstDash val="solid"/>
          </a:ln>
          <a:effectLst>
            <a:outerShdw blurRad="101600" dist="25400" dir="8100000" algn="bl" rotWithShape="0">
              <a:srgbClr val="000000">
                <a:alpha val="40000"/>
              </a:srgbClr>
            </a:outerShdw>
          </a:effectLst>
        </p:spPr>
      </p:sp>
      <p:sp>
        <p:nvSpPr>
          <p:cNvPr id="13" name="Shape 11"/>
          <p:cNvSpPr/>
          <p:nvPr/>
        </p:nvSpPr>
        <p:spPr>
          <a:xfrm>
            <a:off x="3154680" y="1234440"/>
            <a:ext cx="2697480" cy="54864"/>
          </a:xfrm>
          <a:prstGeom prst="rect">
            <a:avLst/>
          </a:prstGeom>
          <a:solidFill>
            <a:srgbClr val="10B981"/>
          </a:solidFill>
          <a:ln w="12700">
            <a:solidFill>
              <a:srgbClr val="10B981"/>
            </a:solidFill>
            <a:prstDash val="solid"/>
          </a:ln>
        </p:spPr>
      </p:sp>
      <p:sp>
        <p:nvSpPr>
          <p:cNvPr id="14" name="Text 12"/>
          <p:cNvSpPr/>
          <p:nvPr/>
        </p:nvSpPr>
        <p:spPr>
          <a:xfrm>
            <a:off x="3264408" y="1344168"/>
            <a:ext cx="411480" cy="320040"/>
          </a:xfrm>
          <a:prstGeom prst="rect">
            <a:avLst/>
          </a:prstGeom>
          <a:noFill/>
        </p:spPr>
        <p:txBody>
          <a:bodyPr wrap="square" lIns="0" tIns="0" rIns="0" bIns="0" rtlCol="0" anchor="ctr"/>
          <a:lstStyle/>
          <a:p>
            <a:pPr marL="0" indent="0">
              <a:buNone/>
            </a:pPr>
            <a:r>
              <a:rPr lang="en-US" sz="1100" b="1" dirty="0">
                <a:solidFill>
                  <a:srgbClr val="10B981"/>
                </a:solidFill>
              </a:rPr>
              <a:t>02</a:t>
            </a:r>
            <a:endParaRPr lang="en-US" sz="1100" dirty="0"/>
          </a:p>
        </p:txBody>
      </p:sp>
      <p:sp>
        <p:nvSpPr>
          <p:cNvPr id="15" name="Text 13"/>
          <p:cNvSpPr/>
          <p:nvPr/>
        </p:nvSpPr>
        <p:spPr>
          <a:xfrm>
            <a:off x="3264408" y="1645920"/>
            <a:ext cx="2478024" cy="347472"/>
          </a:xfrm>
          <a:prstGeom prst="rect">
            <a:avLst/>
          </a:prstGeom>
          <a:noFill/>
        </p:spPr>
        <p:txBody>
          <a:bodyPr wrap="square" lIns="0" tIns="0" rIns="0" bIns="0" rtlCol="0" anchor="ctr"/>
          <a:lstStyle/>
          <a:p>
            <a:pPr marL="0" indent="0">
              <a:buNone/>
            </a:pPr>
            <a:r>
              <a:rPr lang="en-US" sz="1200" b="1" dirty="0">
                <a:solidFill>
                  <a:srgbClr val="FFFFFF"/>
                </a:solidFill>
              </a:rPr>
              <a:t>Predictive Analytics</a:t>
            </a:r>
            <a:endParaRPr lang="en-US" sz="1200" dirty="0"/>
          </a:p>
        </p:txBody>
      </p:sp>
      <p:sp>
        <p:nvSpPr>
          <p:cNvPr id="16" name="Text 14"/>
          <p:cNvSpPr/>
          <p:nvPr/>
        </p:nvSpPr>
        <p:spPr>
          <a:xfrm>
            <a:off x="3264408" y="2039112"/>
            <a:ext cx="2478024" cy="731520"/>
          </a:xfrm>
          <a:prstGeom prst="rect">
            <a:avLst/>
          </a:prstGeom>
          <a:noFill/>
        </p:spPr>
        <p:txBody>
          <a:bodyPr wrap="square" rtlCol="0" anchor="ctr"/>
          <a:lstStyle/>
          <a:p>
            <a:pPr marL="0" indent="0">
              <a:buNone/>
            </a:pPr>
            <a:r>
              <a:rPr lang="en-US" sz="950" dirty="0">
                <a:solidFill>
                  <a:srgbClr val="D1D5DB"/>
                </a:solidFill>
              </a:rPr>
              <a:t>Integrate Python/R ML models to forecast 24h price direction using historical volatility, volume, and momentum signals.</a:t>
            </a:r>
            <a:endParaRPr lang="en-US" sz="950" dirty="0"/>
          </a:p>
        </p:txBody>
      </p:sp>
      <p:sp>
        <p:nvSpPr>
          <p:cNvPr id="17" name="Shape 15"/>
          <p:cNvSpPr/>
          <p:nvPr/>
        </p:nvSpPr>
        <p:spPr>
          <a:xfrm>
            <a:off x="6035040" y="1234440"/>
            <a:ext cx="2697480" cy="1600200"/>
          </a:xfrm>
          <a:prstGeom prst="rect">
            <a:avLst/>
          </a:prstGeom>
          <a:solidFill>
            <a:srgbClr val="111827"/>
          </a:solidFill>
          <a:ln w="12700">
            <a:solidFill>
              <a:srgbClr val="6366F1">
                <a:alpha val="45000"/>
              </a:srgbClr>
            </a:solidFill>
            <a:prstDash val="solid"/>
          </a:ln>
          <a:effectLst>
            <a:outerShdw blurRad="101600" dist="25400" dir="8100000" algn="bl" rotWithShape="0">
              <a:srgbClr val="000000">
                <a:alpha val="40000"/>
              </a:srgbClr>
            </a:outerShdw>
          </a:effectLst>
        </p:spPr>
      </p:sp>
      <p:sp>
        <p:nvSpPr>
          <p:cNvPr id="18" name="Shape 16"/>
          <p:cNvSpPr/>
          <p:nvPr/>
        </p:nvSpPr>
        <p:spPr>
          <a:xfrm>
            <a:off x="6035040" y="1234440"/>
            <a:ext cx="2697480" cy="54864"/>
          </a:xfrm>
          <a:prstGeom prst="rect">
            <a:avLst/>
          </a:prstGeom>
          <a:solidFill>
            <a:srgbClr val="6366F1"/>
          </a:solidFill>
          <a:ln w="12700">
            <a:solidFill>
              <a:srgbClr val="6366F1"/>
            </a:solidFill>
            <a:prstDash val="solid"/>
          </a:ln>
        </p:spPr>
      </p:sp>
      <p:sp>
        <p:nvSpPr>
          <p:cNvPr id="19" name="Text 17"/>
          <p:cNvSpPr/>
          <p:nvPr/>
        </p:nvSpPr>
        <p:spPr>
          <a:xfrm>
            <a:off x="6144768" y="1344168"/>
            <a:ext cx="411480" cy="320040"/>
          </a:xfrm>
          <a:prstGeom prst="rect">
            <a:avLst/>
          </a:prstGeom>
          <a:noFill/>
        </p:spPr>
        <p:txBody>
          <a:bodyPr wrap="square" lIns="0" tIns="0" rIns="0" bIns="0" rtlCol="0" anchor="ctr"/>
          <a:lstStyle/>
          <a:p>
            <a:pPr marL="0" indent="0">
              <a:buNone/>
            </a:pPr>
            <a:r>
              <a:rPr lang="en-US" sz="1100" b="1" dirty="0">
                <a:solidFill>
                  <a:srgbClr val="6366F1"/>
                </a:solidFill>
              </a:rPr>
              <a:t>03</a:t>
            </a:r>
            <a:endParaRPr lang="en-US" sz="1100" dirty="0"/>
          </a:p>
        </p:txBody>
      </p:sp>
      <p:sp>
        <p:nvSpPr>
          <p:cNvPr id="20" name="Text 18"/>
          <p:cNvSpPr/>
          <p:nvPr/>
        </p:nvSpPr>
        <p:spPr>
          <a:xfrm>
            <a:off x="6144768" y="1645920"/>
            <a:ext cx="2478024" cy="347472"/>
          </a:xfrm>
          <a:prstGeom prst="rect">
            <a:avLst/>
          </a:prstGeom>
          <a:noFill/>
        </p:spPr>
        <p:txBody>
          <a:bodyPr wrap="square" lIns="0" tIns="0" rIns="0" bIns="0" rtlCol="0" anchor="ctr"/>
          <a:lstStyle/>
          <a:p>
            <a:pPr marL="0" indent="0">
              <a:buNone/>
            </a:pPr>
            <a:r>
              <a:rPr lang="en-US" sz="1200" b="1" dirty="0">
                <a:solidFill>
                  <a:srgbClr val="FFFFFF"/>
                </a:solidFill>
              </a:rPr>
              <a:t>Historical Trend Analysis</a:t>
            </a:r>
            <a:endParaRPr lang="en-US" sz="1200" dirty="0"/>
          </a:p>
        </p:txBody>
      </p:sp>
      <p:sp>
        <p:nvSpPr>
          <p:cNvPr id="21" name="Text 19"/>
          <p:cNvSpPr/>
          <p:nvPr/>
        </p:nvSpPr>
        <p:spPr>
          <a:xfrm>
            <a:off x="6144768" y="2039112"/>
            <a:ext cx="2478024" cy="731520"/>
          </a:xfrm>
          <a:prstGeom prst="rect">
            <a:avLst/>
          </a:prstGeom>
          <a:noFill/>
        </p:spPr>
        <p:txBody>
          <a:bodyPr wrap="square" rtlCol="0" anchor="ctr"/>
          <a:lstStyle/>
          <a:p>
            <a:pPr marL="0" indent="0">
              <a:buNone/>
            </a:pPr>
            <a:r>
              <a:rPr lang="en-US" sz="950" dirty="0">
                <a:solidFill>
                  <a:srgbClr val="D1D5DB"/>
                </a:solidFill>
              </a:rPr>
              <a:t>Extend dataset to include 30/90/365-day historical data for trend analysis, drawdown metrics, and cycle identification.</a:t>
            </a:r>
            <a:endParaRPr lang="en-US" sz="950" dirty="0"/>
          </a:p>
        </p:txBody>
      </p:sp>
      <p:sp>
        <p:nvSpPr>
          <p:cNvPr id="22" name="Shape 20"/>
          <p:cNvSpPr/>
          <p:nvPr/>
        </p:nvSpPr>
        <p:spPr>
          <a:xfrm>
            <a:off x="274320" y="3063240"/>
            <a:ext cx="4114800" cy="1600200"/>
          </a:xfrm>
          <a:prstGeom prst="rect">
            <a:avLst/>
          </a:prstGeom>
          <a:solidFill>
            <a:srgbClr val="111827"/>
          </a:solidFill>
          <a:ln w="12700">
            <a:solidFill>
              <a:srgbClr val="F59E0B">
                <a:alpha val="45000"/>
              </a:srgbClr>
            </a:solidFill>
            <a:prstDash val="solid"/>
          </a:ln>
          <a:effectLst>
            <a:outerShdw blurRad="101600" dist="25400" dir="8100000" algn="bl" rotWithShape="0">
              <a:srgbClr val="000000">
                <a:alpha val="40000"/>
              </a:srgbClr>
            </a:outerShdw>
          </a:effectLst>
        </p:spPr>
      </p:sp>
      <p:sp>
        <p:nvSpPr>
          <p:cNvPr id="23" name="Shape 21"/>
          <p:cNvSpPr/>
          <p:nvPr/>
        </p:nvSpPr>
        <p:spPr>
          <a:xfrm>
            <a:off x="274320" y="3063240"/>
            <a:ext cx="4114800" cy="54864"/>
          </a:xfrm>
          <a:prstGeom prst="rect">
            <a:avLst/>
          </a:prstGeom>
          <a:solidFill>
            <a:srgbClr val="F59E0B"/>
          </a:solidFill>
          <a:ln w="12700">
            <a:solidFill>
              <a:srgbClr val="F59E0B"/>
            </a:solidFill>
            <a:prstDash val="solid"/>
          </a:ln>
        </p:spPr>
      </p:sp>
      <p:sp>
        <p:nvSpPr>
          <p:cNvPr id="24" name="Text 22"/>
          <p:cNvSpPr/>
          <p:nvPr/>
        </p:nvSpPr>
        <p:spPr>
          <a:xfrm>
            <a:off x="384048" y="3172968"/>
            <a:ext cx="411480" cy="320040"/>
          </a:xfrm>
          <a:prstGeom prst="rect">
            <a:avLst/>
          </a:prstGeom>
          <a:noFill/>
        </p:spPr>
        <p:txBody>
          <a:bodyPr wrap="square" lIns="0" tIns="0" rIns="0" bIns="0" rtlCol="0" anchor="ctr"/>
          <a:lstStyle/>
          <a:p>
            <a:pPr marL="0" indent="0">
              <a:buNone/>
            </a:pPr>
            <a:r>
              <a:rPr lang="en-US" sz="1100" b="1" dirty="0">
                <a:solidFill>
                  <a:srgbClr val="F59E0B"/>
                </a:solidFill>
              </a:rPr>
              <a:t>04</a:t>
            </a:r>
            <a:endParaRPr lang="en-US" sz="1100" dirty="0"/>
          </a:p>
        </p:txBody>
      </p:sp>
      <p:sp>
        <p:nvSpPr>
          <p:cNvPr id="25" name="Text 23"/>
          <p:cNvSpPr/>
          <p:nvPr/>
        </p:nvSpPr>
        <p:spPr>
          <a:xfrm>
            <a:off x="384048" y="3474720"/>
            <a:ext cx="3895344" cy="347472"/>
          </a:xfrm>
          <a:prstGeom prst="rect">
            <a:avLst/>
          </a:prstGeom>
          <a:noFill/>
        </p:spPr>
        <p:txBody>
          <a:bodyPr wrap="square" lIns="0" tIns="0" rIns="0" bIns="0" rtlCol="0" anchor="ctr"/>
          <a:lstStyle/>
          <a:p>
            <a:pPr marL="0" indent="0">
              <a:buNone/>
            </a:pPr>
            <a:r>
              <a:rPr lang="en-US" sz="1200" b="1" dirty="0">
                <a:solidFill>
                  <a:srgbClr val="FFFFFF"/>
                </a:solidFill>
              </a:rPr>
              <a:t>Portfolio Simulator</a:t>
            </a:r>
            <a:endParaRPr lang="en-US" sz="1200" dirty="0"/>
          </a:p>
        </p:txBody>
      </p:sp>
      <p:sp>
        <p:nvSpPr>
          <p:cNvPr id="26" name="Text 24"/>
          <p:cNvSpPr/>
          <p:nvPr/>
        </p:nvSpPr>
        <p:spPr>
          <a:xfrm>
            <a:off x="384048" y="3867912"/>
            <a:ext cx="3895344" cy="731520"/>
          </a:xfrm>
          <a:prstGeom prst="rect">
            <a:avLst/>
          </a:prstGeom>
          <a:noFill/>
        </p:spPr>
        <p:txBody>
          <a:bodyPr wrap="square" rtlCol="0" anchor="ctr"/>
          <a:lstStyle/>
          <a:p>
            <a:pPr marL="0" indent="0">
              <a:buNone/>
            </a:pPr>
            <a:r>
              <a:rPr lang="en-US" sz="950" dirty="0">
                <a:solidFill>
                  <a:srgbClr val="D1D5DB"/>
                </a:solidFill>
              </a:rPr>
              <a:t>Add an interactive portfolio builder within Power BI to simulate returns based on user-defined crypto allocations.</a:t>
            </a:r>
            <a:endParaRPr lang="en-US" sz="950" dirty="0"/>
          </a:p>
        </p:txBody>
      </p:sp>
      <p:sp>
        <p:nvSpPr>
          <p:cNvPr id="27" name="Shape 25"/>
          <p:cNvSpPr/>
          <p:nvPr/>
        </p:nvSpPr>
        <p:spPr>
          <a:xfrm>
            <a:off x="4663440" y="3063240"/>
            <a:ext cx="4114800" cy="1600200"/>
          </a:xfrm>
          <a:prstGeom prst="rect">
            <a:avLst/>
          </a:prstGeom>
          <a:solidFill>
            <a:srgbClr val="111827"/>
          </a:solidFill>
          <a:ln w="12700">
            <a:solidFill>
              <a:srgbClr val="EF4444">
                <a:alpha val="45000"/>
              </a:srgbClr>
            </a:solidFill>
            <a:prstDash val="solid"/>
          </a:ln>
          <a:effectLst>
            <a:outerShdw blurRad="101600" dist="25400" dir="8100000" algn="bl" rotWithShape="0">
              <a:srgbClr val="000000">
                <a:alpha val="40000"/>
              </a:srgbClr>
            </a:outerShdw>
          </a:effectLst>
        </p:spPr>
      </p:sp>
      <p:sp>
        <p:nvSpPr>
          <p:cNvPr id="28" name="Shape 26"/>
          <p:cNvSpPr/>
          <p:nvPr/>
        </p:nvSpPr>
        <p:spPr>
          <a:xfrm>
            <a:off x="4663440" y="3063240"/>
            <a:ext cx="4114800" cy="54864"/>
          </a:xfrm>
          <a:prstGeom prst="rect">
            <a:avLst/>
          </a:prstGeom>
          <a:solidFill>
            <a:srgbClr val="EF4444"/>
          </a:solidFill>
          <a:ln w="12700">
            <a:solidFill>
              <a:srgbClr val="EF4444"/>
            </a:solidFill>
            <a:prstDash val="solid"/>
          </a:ln>
        </p:spPr>
      </p:sp>
      <p:sp>
        <p:nvSpPr>
          <p:cNvPr id="29" name="Text 27"/>
          <p:cNvSpPr/>
          <p:nvPr/>
        </p:nvSpPr>
        <p:spPr>
          <a:xfrm>
            <a:off x="4773168" y="3172968"/>
            <a:ext cx="411480" cy="320040"/>
          </a:xfrm>
          <a:prstGeom prst="rect">
            <a:avLst/>
          </a:prstGeom>
          <a:noFill/>
        </p:spPr>
        <p:txBody>
          <a:bodyPr wrap="square" lIns="0" tIns="0" rIns="0" bIns="0" rtlCol="0" anchor="ctr"/>
          <a:lstStyle/>
          <a:p>
            <a:pPr marL="0" indent="0">
              <a:buNone/>
            </a:pPr>
            <a:r>
              <a:rPr lang="en-US" sz="1100" b="1" dirty="0">
                <a:solidFill>
                  <a:srgbClr val="EF4444"/>
                </a:solidFill>
              </a:rPr>
              <a:t>05</a:t>
            </a:r>
            <a:endParaRPr lang="en-US" sz="1100" dirty="0"/>
          </a:p>
        </p:txBody>
      </p:sp>
      <p:sp>
        <p:nvSpPr>
          <p:cNvPr id="30" name="Text 28"/>
          <p:cNvSpPr/>
          <p:nvPr/>
        </p:nvSpPr>
        <p:spPr>
          <a:xfrm>
            <a:off x="4773168" y="3474720"/>
            <a:ext cx="3895344" cy="347472"/>
          </a:xfrm>
          <a:prstGeom prst="rect">
            <a:avLst/>
          </a:prstGeom>
          <a:noFill/>
        </p:spPr>
        <p:txBody>
          <a:bodyPr wrap="square" lIns="0" tIns="0" rIns="0" bIns="0" rtlCol="0" anchor="ctr"/>
          <a:lstStyle/>
          <a:p>
            <a:pPr marL="0" indent="0">
              <a:buNone/>
            </a:pPr>
            <a:r>
              <a:rPr lang="en-US" sz="1200" b="1" dirty="0">
                <a:solidFill>
                  <a:srgbClr val="FFFFFF"/>
                </a:solidFill>
              </a:rPr>
              <a:t>Sentiment Integration</a:t>
            </a:r>
            <a:endParaRPr lang="en-US" sz="1200" dirty="0"/>
          </a:p>
        </p:txBody>
      </p:sp>
      <p:sp>
        <p:nvSpPr>
          <p:cNvPr id="31" name="Text 29"/>
          <p:cNvSpPr/>
          <p:nvPr/>
        </p:nvSpPr>
        <p:spPr>
          <a:xfrm>
            <a:off x="4773168" y="3867912"/>
            <a:ext cx="3895344" cy="731520"/>
          </a:xfrm>
          <a:prstGeom prst="rect">
            <a:avLst/>
          </a:prstGeom>
          <a:noFill/>
        </p:spPr>
        <p:txBody>
          <a:bodyPr wrap="square" rtlCol="0" anchor="ctr"/>
          <a:lstStyle/>
          <a:p>
            <a:pPr marL="0" indent="0">
              <a:buNone/>
            </a:pPr>
            <a:r>
              <a:rPr lang="en-US" sz="950" dirty="0">
                <a:solidFill>
                  <a:srgbClr val="D1D5DB"/>
                </a:solidFill>
              </a:rPr>
              <a:t>Incorporate social sentiment scores (Twitter, Reddit) via APIs to correlate market behavior with community emotion.</a:t>
            </a:r>
            <a:endParaRPr lang="en-US" sz="950" dirty="0"/>
          </a:p>
        </p:txBody>
      </p:sp>
      <p:sp>
        <p:nvSpPr>
          <p:cNvPr id="32" name="Shape 30"/>
          <p:cNvSpPr/>
          <p:nvPr/>
        </p:nvSpPr>
        <p:spPr>
          <a:xfrm>
            <a:off x="0" y="5070348"/>
            <a:ext cx="9144000" cy="73152"/>
          </a:xfrm>
          <a:prstGeom prst="rect">
            <a:avLst/>
          </a:prstGeom>
          <a:solidFill>
            <a:srgbClr val="22D3EE"/>
          </a:solidFill>
          <a:ln w="12700">
            <a:solidFill>
              <a:srgbClr val="22D3EE"/>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6366F1">
              <a:alpha val="12000"/>
            </a:srgbClr>
          </a:solidFill>
          <a:ln w="12700">
            <a:solidFill>
              <a:srgbClr val="6366F1">
                <a:alpha val="12000"/>
              </a:srgbClr>
            </a:solidFill>
            <a:prstDash val="solid"/>
          </a:ln>
        </p:spPr>
      </p:sp>
      <p:sp>
        <p:nvSpPr>
          <p:cNvPr id="3" name="Shape 1"/>
          <p:cNvSpPr/>
          <p:nvPr/>
        </p:nvSpPr>
        <p:spPr>
          <a:xfrm>
            <a:off x="6400800" y="1828800"/>
            <a:ext cx="3657600" cy="3657600"/>
          </a:xfrm>
          <a:prstGeom prst="ellipse">
            <a:avLst/>
          </a:prstGeom>
          <a:solidFill>
            <a:srgbClr val="10B981">
              <a:alpha val="12000"/>
            </a:srgbClr>
          </a:solidFill>
          <a:ln w="12700">
            <a:solidFill>
              <a:srgbClr val="10B981">
                <a:alpha val="12000"/>
              </a:srgbClr>
            </a:solidFill>
            <a:prstDash val="solid"/>
          </a:ln>
        </p:spPr>
      </p:sp>
      <p:sp>
        <p:nvSpPr>
          <p:cNvPr id="4" name="Shape 2"/>
          <p:cNvSpPr/>
          <p:nvPr/>
        </p:nvSpPr>
        <p:spPr>
          <a:xfrm>
            <a:off x="0" y="0"/>
            <a:ext cx="9144000" cy="73152"/>
          </a:xfrm>
          <a:prstGeom prst="rect">
            <a:avLst/>
          </a:prstGeom>
          <a:solidFill>
            <a:srgbClr val="10B981"/>
          </a:solidFill>
          <a:ln w="12700">
            <a:solidFill>
              <a:srgbClr val="10B981"/>
            </a:solidFill>
            <a:prstDash val="solid"/>
          </a:ln>
        </p:spPr>
      </p:sp>
      <p:sp>
        <p:nvSpPr>
          <p:cNvPr id="5" name="Shape 3"/>
          <p:cNvSpPr/>
          <p:nvPr/>
        </p:nvSpPr>
        <p:spPr>
          <a:xfrm>
            <a:off x="0" y="0"/>
            <a:ext cx="54864" cy="5143500"/>
          </a:xfrm>
          <a:prstGeom prst="rect">
            <a:avLst/>
          </a:prstGeom>
          <a:solidFill>
            <a:srgbClr val="10B981"/>
          </a:solidFill>
          <a:ln w="12700">
            <a:solidFill>
              <a:srgbClr val="10B981"/>
            </a:solidFill>
            <a:prstDash val="solid"/>
          </a:ln>
        </p:spPr>
      </p:sp>
      <p:sp>
        <p:nvSpPr>
          <p:cNvPr id="6" name="Text 4"/>
          <p:cNvSpPr/>
          <p:nvPr/>
        </p:nvSpPr>
        <p:spPr>
          <a:xfrm>
            <a:off x="274320" y="228600"/>
            <a:ext cx="8595360" cy="365760"/>
          </a:xfrm>
          <a:prstGeom prst="rect">
            <a:avLst/>
          </a:prstGeom>
          <a:noFill/>
        </p:spPr>
        <p:txBody>
          <a:bodyPr wrap="square" rtlCol="0" anchor="ctr"/>
          <a:lstStyle/>
          <a:p>
            <a:pPr marL="0" indent="0">
              <a:buNone/>
            </a:pPr>
            <a:r>
              <a:rPr lang="en-US" sz="1100" b="1" kern="0" spc="400" dirty="0">
                <a:solidFill>
                  <a:srgbClr val="10B981"/>
                </a:solidFill>
              </a:rPr>
              <a:t>CONCLUSION</a:t>
            </a:r>
            <a:endParaRPr lang="en-US" sz="1100" dirty="0"/>
          </a:p>
        </p:txBody>
      </p:sp>
      <p:sp>
        <p:nvSpPr>
          <p:cNvPr id="7" name="Text 5"/>
          <p:cNvSpPr/>
          <p:nvPr/>
        </p:nvSpPr>
        <p:spPr>
          <a:xfrm>
            <a:off x="274320" y="548640"/>
            <a:ext cx="8595360" cy="548640"/>
          </a:xfrm>
          <a:prstGeom prst="rect">
            <a:avLst/>
          </a:prstGeom>
          <a:noFill/>
        </p:spPr>
        <p:txBody>
          <a:bodyPr wrap="square" rtlCol="0" anchor="ctr"/>
          <a:lstStyle/>
          <a:p>
            <a:pPr marL="0" indent="0">
              <a:buNone/>
            </a:pPr>
            <a:r>
              <a:rPr lang="en-US" sz="2800" b="1" dirty="0">
                <a:solidFill>
                  <a:srgbClr val="FFFFFF"/>
                </a:solidFill>
              </a:rPr>
              <a:t>Project Impact &amp; Learning</a:t>
            </a:r>
            <a:endParaRPr lang="en-US" sz="2800" dirty="0"/>
          </a:p>
        </p:txBody>
      </p:sp>
      <p:sp>
        <p:nvSpPr>
          <p:cNvPr id="8" name="Shape 6"/>
          <p:cNvSpPr/>
          <p:nvPr/>
        </p:nvSpPr>
        <p:spPr>
          <a:xfrm>
            <a:off x="274320" y="1234440"/>
            <a:ext cx="8595360" cy="1280160"/>
          </a:xfrm>
          <a:prstGeom prst="rect">
            <a:avLst/>
          </a:prstGeom>
          <a:solidFill>
            <a:srgbClr val="111827"/>
          </a:solidFill>
          <a:ln w="12700">
            <a:solidFill>
              <a:srgbClr val="10B981">
                <a:alpha val="50000"/>
              </a:srgbClr>
            </a:solidFill>
            <a:prstDash val="solid"/>
          </a:ln>
          <a:effectLst>
            <a:outerShdw blurRad="127000" dist="38100" dir="8100000" algn="bl" rotWithShape="0">
              <a:srgbClr val="000000">
                <a:alpha val="40000"/>
              </a:srgbClr>
            </a:outerShdw>
          </a:effectLst>
        </p:spPr>
      </p:sp>
      <p:sp>
        <p:nvSpPr>
          <p:cNvPr id="9" name="Shape 7"/>
          <p:cNvSpPr/>
          <p:nvPr/>
        </p:nvSpPr>
        <p:spPr>
          <a:xfrm>
            <a:off x="274320" y="1234440"/>
            <a:ext cx="64008" cy="1280160"/>
          </a:xfrm>
          <a:prstGeom prst="rect">
            <a:avLst/>
          </a:prstGeom>
          <a:solidFill>
            <a:srgbClr val="10B981"/>
          </a:solidFill>
          <a:ln w="12700">
            <a:solidFill>
              <a:srgbClr val="10B981"/>
            </a:solidFill>
            <a:prstDash val="solid"/>
          </a:ln>
        </p:spPr>
      </p:sp>
      <p:sp>
        <p:nvSpPr>
          <p:cNvPr id="10" name="Text 8"/>
          <p:cNvSpPr/>
          <p:nvPr/>
        </p:nvSpPr>
        <p:spPr>
          <a:xfrm>
            <a:off x="502920" y="1325880"/>
            <a:ext cx="8138160" cy="1097280"/>
          </a:xfrm>
          <a:prstGeom prst="rect">
            <a:avLst/>
          </a:prstGeom>
          <a:noFill/>
        </p:spPr>
        <p:txBody>
          <a:bodyPr wrap="square" rtlCol="0" anchor="ctr"/>
          <a:lstStyle/>
          <a:p>
            <a:pPr marL="0" indent="0">
              <a:buNone/>
            </a:pPr>
            <a:r>
              <a:rPr lang="en-US" sz="1200" dirty="0">
                <a:solidFill>
                  <a:srgbClr val="D1D5DB"/>
                </a:solidFill>
              </a:rPr>
              <a:t>This project successfully demonstrates the full power of Power BI in transforming raw API data into structured, visually compelling, and analytically rich dashboards. By applying DAX modeling, Power Query transformations, and thoughtful design, the report delivers a 360° view of the cryptocurrency market — from macro trends to micro-level coin analysis.</a:t>
            </a:r>
            <a:endParaRPr lang="en-US" sz="1200" dirty="0"/>
          </a:p>
        </p:txBody>
      </p:sp>
      <p:sp>
        <p:nvSpPr>
          <p:cNvPr id="11" name="Shape 9"/>
          <p:cNvSpPr/>
          <p:nvPr/>
        </p:nvSpPr>
        <p:spPr>
          <a:xfrm>
            <a:off x="274320" y="2743200"/>
            <a:ext cx="4206240" cy="914400"/>
          </a:xfrm>
          <a:prstGeom prst="rect">
            <a:avLst/>
          </a:prstGeom>
          <a:solidFill>
            <a:srgbClr val="111827"/>
          </a:solidFill>
          <a:ln w="12700">
            <a:solidFill>
              <a:srgbClr val="6366F1">
                <a:alpha val="40000"/>
              </a:srgbClr>
            </a:solidFill>
            <a:prstDash val="solid"/>
          </a:ln>
        </p:spPr>
      </p:sp>
      <p:sp>
        <p:nvSpPr>
          <p:cNvPr id="12" name="Shape 10"/>
          <p:cNvSpPr/>
          <p:nvPr/>
        </p:nvSpPr>
        <p:spPr>
          <a:xfrm>
            <a:off x="274320" y="2743200"/>
            <a:ext cx="4206240" cy="54864"/>
          </a:xfrm>
          <a:prstGeom prst="rect">
            <a:avLst/>
          </a:prstGeom>
          <a:solidFill>
            <a:srgbClr val="6366F1"/>
          </a:solidFill>
          <a:ln w="12700">
            <a:solidFill>
              <a:srgbClr val="6366F1"/>
            </a:solidFill>
            <a:prstDash val="solid"/>
          </a:ln>
        </p:spPr>
      </p:sp>
      <p:sp>
        <p:nvSpPr>
          <p:cNvPr id="13" name="Text 11"/>
          <p:cNvSpPr/>
          <p:nvPr/>
        </p:nvSpPr>
        <p:spPr>
          <a:xfrm>
            <a:off x="457200" y="2834640"/>
            <a:ext cx="3840480" cy="274320"/>
          </a:xfrm>
          <a:prstGeom prst="rect">
            <a:avLst/>
          </a:prstGeom>
          <a:noFill/>
        </p:spPr>
        <p:txBody>
          <a:bodyPr wrap="square" lIns="0" tIns="0" rIns="0" bIns="0" rtlCol="0" anchor="ctr"/>
          <a:lstStyle/>
          <a:p>
            <a:pPr marL="0" indent="0">
              <a:buNone/>
            </a:pPr>
            <a:r>
              <a:rPr lang="en-US" sz="1000" b="1" dirty="0">
                <a:solidFill>
                  <a:srgbClr val="6366F1"/>
                </a:solidFill>
              </a:rPr>
              <a:t>Technical Skill</a:t>
            </a:r>
            <a:endParaRPr lang="en-US" sz="1000" dirty="0"/>
          </a:p>
        </p:txBody>
      </p:sp>
      <p:sp>
        <p:nvSpPr>
          <p:cNvPr id="14" name="Text 12"/>
          <p:cNvSpPr/>
          <p:nvPr/>
        </p:nvSpPr>
        <p:spPr>
          <a:xfrm>
            <a:off x="457200" y="3182112"/>
            <a:ext cx="3840480" cy="347472"/>
          </a:xfrm>
          <a:prstGeom prst="rect">
            <a:avLst/>
          </a:prstGeom>
          <a:noFill/>
        </p:spPr>
        <p:txBody>
          <a:bodyPr wrap="square" lIns="0" tIns="0" rIns="0" bIns="0" rtlCol="0" anchor="ctr"/>
          <a:lstStyle/>
          <a:p>
            <a:pPr marL="0" indent="0">
              <a:buNone/>
            </a:pPr>
            <a:r>
              <a:rPr lang="en-US" sz="1300" b="1" dirty="0">
                <a:solidFill>
                  <a:srgbClr val="FFFFFF"/>
                </a:solidFill>
              </a:rPr>
              <a:t>Power BI + DAX + API</a:t>
            </a:r>
            <a:endParaRPr lang="en-US" sz="1300" dirty="0"/>
          </a:p>
        </p:txBody>
      </p:sp>
      <p:sp>
        <p:nvSpPr>
          <p:cNvPr id="15" name="Shape 13"/>
          <p:cNvSpPr/>
          <p:nvPr/>
        </p:nvSpPr>
        <p:spPr>
          <a:xfrm>
            <a:off x="4709160" y="2743200"/>
            <a:ext cx="4206240" cy="914400"/>
          </a:xfrm>
          <a:prstGeom prst="rect">
            <a:avLst/>
          </a:prstGeom>
          <a:solidFill>
            <a:srgbClr val="111827"/>
          </a:solidFill>
          <a:ln w="12700">
            <a:solidFill>
              <a:srgbClr val="22D3EE">
                <a:alpha val="40000"/>
              </a:srgbClr>
            </a:solidFill>
            <a:prstDash val="solid"/>
          </a:ln>
        </p:spPr>
      </p:sp>
      <p:sp>
        <p:nvSpPr>
          <p:cNvPr id="16" name="Shape 14"/>
          <p:cNvSpPr/>
          <p:nvPr/>
        </p:nvSpPr>
        <p:spPr>
          <a:xfrm>
            <a:off x="4709160" y="2743200"/>
            <a:ext cx="4206240" cy="54864"/>
          </a:xfrm>
          <a:prstGeom prst="rect">
            <a:avLst/>
          </a:prstGeom>
          <a:solidFill>
            <a:srgbClr val="22D3EE"/>
          </a:solidFill>
          <a:ln w="12700">
            <a:solidFill>
              <a:srgbClr val="22D3EE"/>
            </a:solidFill>
            <a:prstDash val="solid"/>
          </a:ln>
        </p:spPr>
      </p:sp>
      <p:sp>
        <p:nvSpPr>
          <p:cNvPr id="17" name="Text 15"/>
          <p:cNvSpPr/>
          <p:nvPr/>
        </p:nvSpPr>
        <p:spPr>
          <a:xfrm>
            <a:off x="4892040" y="2834640"/>
            <a:ext cx="3840480" cy="274320"/>
          </a:xfrm>
          <a:prstGeom prst="rect">
            <a:avLst/>
          </a:prstGeom>
          <a:noFill/>
        </p:spPr>
        <p:txBody>
          <a:bodyPr wrap="square" lIns="0" tIns="0" rIns="0" bIns="0" rtlCol="0" anchor="ctr"/>
          <a:lstStyle/>
          <a:p>
            <a:pPr marL="0" indent="0">
              <a:buNone/>
            </a:pPr>
            <a:r>
              <a:rPr lang="en-US" sz="1000" b="1" dirty="0">
                <a:solidFill>
                  <a:srgbClr val="22D3EE"/>
                </a:solidFill>
              </a:rPr>
              <a:t>Analytical Depth</a:t>
            </a:r>
            <a:endParaRPr lang="en-US" sz="1000" dirty="0"/>
          </a:p>
        </p:txBody>
      </p:sp>
      <p:sp>
        <p:nvSpPr>
          <p:cNvPr id="18" name="Text 16"/>
          <p:cNvSpPr/>
          <p:nvPr/>
        </p:nvSpPr>
        <p:spPr>
          <a:xfrm>
            <a:off x="4892040" y="3182112"/>
            <a:ext cx="3840480" cy="347472"/>
          </a:xfrm>
          <a:prstGeom prst="rect">
            <a:avLst/>
          </a:prstGeom>
          <a:noFill/>
        </p:spPr>
        <p:txBody>
          <a:bodyPr wrap="square" lIns="0" tIns="0" rIns="0" bIns="0" rtlCol="0" anchor="ctr"/>
          <a:lstStyle/>
          <a:p>
            <a:pPr marL="0" indent="0">
              <a:buNone/>
            </a:pPr>
            <a:r>
              <a:rPr lang="en-US" sz="1300" b="1" dirty="0">
                <a:solidFill>
                  <a:srgbClr val="FFFFFF"/>
                </a:solidFill>
              </a:rPr>
              <a:t>6-Page Insights Report</a:t>
            </a:r>
            <a:endParaRPr lang="en-US" sz="1300" dirty="0"/>
          </a:p>
        </p:txBody>
      </p:sp>
      <p:sp>
        <p:nvSpPr>
          <p:cNvPr id="19" name="Shape 17"/>
          <p:cNvSpPr/>
          <p:nvPr/>
        </p:nvSpPr>
        <p:spPr>
          <a:xfrm>
            <a:off x="274320" y="3840480"/>
            <a:ext cx="4206240" cy="914400"/>
          </a:xfrm>
          <a:prstGeom prst="rect">
            <a:avLst/>
          </a:prstGeom>
          <a:solidFill>
            <a:srgbClr val="111827"/>
          </a:solidFill>
          <a:ln w="12700">
            <a:solidFill>
              <a:srgbClr val="10B981">
                <a:alpha val="40000"/>
              </a:srgbClr>
            </a:solidFill>
            <a:prstDash val="solid"/>
          </a:ln>
        </p:spPr>
      </p:sp>
      <p:sp>
        <p:nvSpPr>
          <p:cNvPr id="20" name="Shape 18"/>
          <p:cNvSpPr/>
          <p:nvPr/>
        </p:nvSpPr>
        <p:spPr>
          <a:xfrm>
            <a:off x="274320" y="3840480"/>
            <a:ext cx="4206240" cy="54864"/>
          </a:xfrm>
          <a:prstGeom prst="rect">
            <a:avLst/>
          </a:prstGeom>
          <a:solidFill>
            <a:srgbClr val="10B981"/>
          </a:solidFill>
          <a:ln w="12700">
            <a:solidFill>
              <a:srgbClr val="10B981"/>
            </a:solidFill>
            <a:prstDash val="solid"/>
          </a:ln>
        </p:spPr>
      </p:sp>
      <p:sp>
        <p:nvSpPr>
          <p:cNvPr id="21" name="Text 19"/>
          <p:cNvSpPr/>
          <p:nvPr/>
        </p:nvSpPr>
        <p:spPr>
          <a:xfrm>
            <a:off x="457200" y="3931920"/>
            <a:ext cx="3840480" cy="274320"/>
          </a:xfrm>
          <a:prstGeom prst="rect">
            <a:avLst/>
          </a:prstGeom>
          <a:noFill/>
        </p:spPr>
        <p:txBody>
          <a:bodyPr wrap="square" lIns="0" tIns="0" rIns="0" bIns="0" rtlCol="0" anchor="ctr"/>
          <a:lstStyle/>
          <a:p>
            <a:pPr marL="0" indent="0">
              <a:buNone/>
            </a:pPr>
            <a:r>
              <a:rPr lang="en-US" sz="1000" b="1" dirty="0">
                <a:solidFill>
                  <a:srgbClr val="10B981"/>
                </a:solidFill>
              </a:rPr>
              <a:t>Business Value</a:t>
            </a:r>
            <a:endParaRPr lang="en-US" sz="1000" dirty="0"/>
          </a:p>
        </p:txBody>
      </p:sp>
      <p:sp>
        <p:nvSpPr>
          <p:cNvPr id="22" name="Text 20"/>
          <p:cNvSpPr/>
          <p:nvPr/>
        </p:nvSpPr>
        <p:spPr>
          <a:xfrm>
            <a:off x="457200" y="4279392"/>
            <a:ext cx="3840480" cy="347472"/>
          </a:xfrm>
          <a:prstGeom prst="rect">
            <a:avLst/>
          </a:prstGeom>
          <a:noFill/>
        </p:spPr>
        <p:txBody>
          <a:bodyPr wrap="square" lIns="0" tIns="0" rIns="0" bIns="0" rtlCol="0" anchor="ctr"/>
          <a:lstStyle/>
          <a:p>
            <a:pPr marL="0" indent="0">
              <a:buNone/>
            </a:pPr>
            <a:r>
              <a:rPr lang="en-US" sz="1300" b="1" dirty="0">
                <a:solidFill>
                  <a:srgbClr val="FFFFFF"/>
                </a:solidFill>
              </a:rPr>
              <a:t>Actionable Market Intelligence</a:t>
            </a:r>
            <a:endParaRPr lang="en-US" sz="1300" dirty="0"/>
          </a:p>
        </p:txBody>
      </p:sp>
      <p:sp>
        <p:nvSpPr>
          <p:cNvPr id="23" name="Shape 21"/>
          <p:cNvSpPr/>
          <p:nvPr/>
        </p:nvSpPr>
        <p:spPr>
          <a:xfrm>
            <a:off x="4709160" y="3840480"/>
            <a:ext cx="4206240" cy="914400"/>
          </a:xfrm>
          <a:prstGeom prst="rect">
            <a:avLst/>
          </a:prstGeom>
          <a:solidFill>
            <a:srgbClr val="111827"/>
          </a:solidFill>
          <a:ln w="12700">
            <a:solidFill>
              <a:srgbClr val="F59E0B">
                <a:alpha val="40000"/>
              </a:srgbClr>
            </a:solidFill>
            <a:prstDash val="solid"/>
          </a:ln>
        </p:spPr>
      </p:sp>
      <p:sp>
        <p:nvSpPr>
          <p:cNvPr id="24" name="Shape 22"/>
          <p:cNvSpPr/>
          <p:nvPr/>
        </p:nvSpPr>
        <p:spPr>
          <a:xfrm>
            <a:off x="4709160" y="3840480"/>
            <a:ext cx="4206240" cy="54864"/>
          </a:xfrm>
          <a:prstGeom prst="rect">
            <a:avLst/>
          </a:prstGeom>
          <a:solidFill>
            <a:srgbClr val="F59E0B"/>
          </a:solidFill>
          <a:ln w="12700">
            <a:solidFill>
              <a:srgbClr val="F59E0B"/>
            </a:solidFill>
            <a:prstDash val="solid"/>
          </a:ln>
        </p:spPr>
      </p:sp>
      <p:sp>
        <p:nvSpPr>
          <p:cNvPr id="25" name="Text 23"/>
          <p:cNvSpPr/>
          <p:nvPr/>
        </p:nvSpPr>
        <p:spPr>
          <a:xfrm>
            <a:off x="4892040" y="3931920"/>
            <a:ext cx="3840480" cy="274320"/>
          </a:xfrm>
          <a:prstGeom prst="rect">
            <a:avLst/>
          </a:prstGeom>
          <a:noFill/>
        </p:spPr>
        <p:txBody>
          <a:bodyPr wrap="square" lIns="0" tIns="0" rIns="0" bIns="0" rtlCol="0" anchor="ctr"/>
          <a:lstStyle/>
          <a:p>
            <a:pPr marL="0" indent="0">
              <a:buNone/>
            </a:pPr>
            <a:r>
              <a:rPr lang="en-US" sz="1000" b="1" dirty="0">
                <a:solidFill>
                  <a:srgbClr val="F59E0B"/>
                </a:solidFill>
              </a:rPr>
              <a:t>Scalability</a:t>
            </a:r>
            <a:endParaRPr lang="en-US" sz="1000" dirty="0"/>
          </a:p>
        </p:txBody>
      </p:sp>
      <p:sp>
        <p:nvSpPr>
          <p:cNvPr id="26" name="Text 24"/>
          <p:cNvSpPr/>
          <p:nvPr/>
        </p:nvSpPr>
        <p:spPr>
          <a:xfrm>
            <a:off x="4892040" y="4279392"/>
            <a:ext cx="3840480" cy="347472"/>
          </a:xfrm>
          <a:prstGeom prst="rect">
            <a:avLst/>
          </a:prstGeom>
          <a:noFill/>
        </p:spPr>
        <p:txBody>
          <a:bodyPr wrap="square" lIns="0" tIns="0" rIns="0" bIns="0" rtlCol="0" anchor="ctr"/>
          <a:lstStyle/>
          <a:p>
            <a:pPr marL="0" indent="0">
              <a:buNone/>
            </a:pPr>
            <a:r>
              <a:rPr lang="en-US" sz="1300" b="1" dirty="0">
                <a:solidFill>
                  <a:srgbClr val="FFFFFF"/>
                </a:solidFill>
              </a:rPr>
              <a:t>Ready for Real-Time Expansion</a:t>
            </a:r>
            <a:endParaRPr lang="en-US" sz="1300" dirty="0"/>
          </a:p>
        </p:txBody>
      </p:sp>
      <p:sp>
        <p:nvSpPr>
          <p:cNvPr id="27" name="Shape 25"/>
          <p:cNvSpPr/>
          <p:nvPr/>
        </p:nvSpPr>
        <p:spPr>
          <a:xfrm>
            <a:off x="0" y="5070348"/>
            <a:ext cx="9144000" cy="73152"/>
          </a:xfrm>
          <a:prstGeom prst="rect">
            <a:avLst/>
          </a:prstGeom>
          <a:solidFill>
            <a:srgbClr val="10B981"/>
          </a:solidFill>
          <a:ln w="12700">
            <a:solidFill>
              <a:srgbClr val="10B981"/>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10827</Words>
  <Application>WPS Presentation</Application>
  <PresentationFormat>On-screen Show (16:9)</PresentationFormat>
  <Paragraphs>567</Paragraphs>
  <Slides>19</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Parth Sharma</cp:lastModifiedBy>
  <cp:revision>3</cp:revision>
  <dcterms:created xsi:type="dcterms:W3CDTF">2026-04-17T03:42:00Z</dcterms:created>
  <dcterms:modified xsi:type="dcterms:W3CDTF">2026-04-17T04:00:59Z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E3C54080F16A46A09E06B7EDD0E4D2CE_12</vt:lpwstr>
  </property>
</Properties>
</file>